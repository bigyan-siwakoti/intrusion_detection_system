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533"/>
                </a:solidFill>
                <a:latin typeface="Calibri"/>
              </a:defRPr>
            </a:pPr>
            <a:r>
              <a:rPr sz="1400" b="0" i="0" u="none" strike="noStrike">
                <a:solidFill>
                  <a:srgbClr val="0F2533"/>
                </a:solidFill>
                <a:latin typeface="Calibri"/>
              </a:rPr>
              <a:t>Precision: share of label-matched alerts on attack flows</a:t>
            </a:r>
          </a:p>
        </c:rich>
      </c:tx>
      <c:layout/>
      <c:overlay val="0"/>
    </c:title>
    <c:autoTitleDeleted val="0"/>
    <c:plotArea>
      <c:layout/>
      <c:barChart>
        <c:barDir val="col"/>
        <c:grouping val="clustered"/>
        <c:varyColors val="0"/>
        <c:ser>
          <c:idx val="0"/>
          <c:order val="0"/>
          <c:tx>
            <c:strRef>
              <c:f>Sheet1!$B$1</c:f>
              <c:strCache>
                <c:ptCount val="1"/>
                <c:pt idx="0">
                  <c:v>Stock ET Open</c:v>
                </c:pt>
              </c:strCache>
            </c:strRef>
          </c:tx>
          <c:spPr>
            <a:solidFill>
              <a:srgbClr val="9AA3AD"/>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Wed + Fri (noisy raw)</c:v>
                  </c:pt>
                  <c:pt idx="1">
                    <c:v>All four days</c:v>
                  </c:pt>
                  <c:pt idx="2">
                    <c:v>All days, excl. one bad rule</c:v>
                  </c:pt>
                </c:lvl>
              </c:multiLvlStrCache>
            </c:multiLvlStrRef>
          </c:cat>
          <c:val>
            <c:numRef>
              <c:f>Sheet1!$B$2:$B$4</c:f>
              <c:numCache>
                <c:formatCode>General</c:formatCode>
                <c:ptCount val="3"/>
                <c:pt idx="0">
                  <c:v>6.1</c:v>
                </c:pt>
                <c:pt idx="1">
                  <c:v>81.2</c:v>
                </c:pt>
                <c:pt idx="2">
                  <c:v>81.2</c:v>
                </c:pt>
              </c:numCache>
            </c:numRef>
          </c:val>
        </c:ser>
        <c:ser>
          <c:idx val="1"/>
          <c:order val="1"/>
          <c:tx>
            <c:strRef>
              <c:f>Sheet1!$C$1</c:f>
              <c:strCache>
                <c:ptCount val="1"/>
                <c:pt idx="0">
                  <c:v>AI-authored rules</c:v>
                </c:pt>
              </c:strCache>
            </c:strRef>
          </c:tx>
          <c:spPr>
            <a:solidFill>
              <a:srgbClr val="1F4E79"/>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Wed + Fri (noisy raw)</c:v>
                  </c:pt>
                  <c:pt idx="1">
                    <c:v>All four days</c:v>
                  </c:pt>
                  <c:pt idx="2">
                    <c:v>All days, excl. one bad rule</c:v>
                  </c:pt>
                </c:lvl>
              </c:multiLvlStrCache>
            </c:multiLvlStrRef>
          </c:cat>
          <c:val>
            <c:numRef>
              <c:f>Sheet1!$C$2:$C$4</c:f>
              <c:numCache>
                <c:formatCode>General</c:formatCode>
                <c:ptCount val="3"/>
                <c:pt idx="0">
                  <c:v>99.4</c:v>
                </c:pt>
                <c:pt idx="1">
                  <c:v>78</c:v>
                </c:pt>
                <c:pt idx="2">
                  <c:v>99.6</c:v>
                </c:pt>
              </c:numCache>
            </c:numRef>
          </c:val>
        </c:ser>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majorGridlines>
          <c:spPr>
            <a:ln w="9525"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533"/>
                </a:solidFill>
                <a:latin typeface="Calibri"/>
              </a:defRPr>
            </a:pPr>
            <a:r>
              <a:rPr sz="1400" b="0" i="0" u="none" strike="noStrike">
                <a:solidFill>
                  <a:srgbClr val="0F2533"/>
                </a:solidFill>
                <a:latin typeface="Calibri"/>
              </a:rPr>
              <a:t>TCP/UDP attack events detected, by category</a:t>
            </a:r>
          </a:p>
        </c:rich>
      </c:tx>
      <c:layout/>
      <c:overlay val="0"/>
    </c:title>
    <c:autoTitleDeleted val="0"/>
    <c:plotArea>
      <c:layout/>
      <c:barChart>
        <c:barDir val="bar"/>
        <c:grouping val="clustered"/>
        <c:varyColors val="0"/>
        <c:ser>
          <c:idx val="0"/>
          <c:order val="0"/>
          <c:tx>
            <c:strRef>
              <c:f>Sheet1!$B$1</c:f>
              <c:strCache>
                <c:ptCount val="1"/>
                <c:pt idx="0">
                  <c:v>Stock ET Open</c:v>
                </c:pt>
              </c:strCache>
            </c:strRef>
          </c:tx>
          <c:spPr>
            <a:solidFill>
              <a:srgbClr val="9AA3AD"/>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Analysis</c:v>
                  </c:pt>
                  <c:pt idx="1">
                    <c:v>Shellcode</c:v>
                  </c:pt>
                  <c:pt idx="2">
                    <c:v>Generic</c:v>
                  </c:pt>
                  <c:pt idx="3">
                    <c:v>Fuzzers</c:v>
                  </c:pt>
                  <c:pt idx="4">
                    <c:v>DoS</c:v>
                  </c:pt>
                  <c:pt idx="5">
                    <c:v>Worms</c:v>
                  </c:pt>
                  <c:pt idx="6">
                    <c:v>Exploits</c:v>
                  </c:pt>
                  <c:pt idx="7">
                    <c:v>Backdoor</c:v>
                  </c:pt>
                  <c:pt idx="8">
                    <c:v>Reconnaissance</c:v>
                  </c:pt>
                </c:lvl>
              </c:multiLvlStrCache>
            </c:multiLvlStrRef>
          </c:cat>
          <c:val>
            <c:numRef>
              <c:f>Sheet1!$B$2:$B$10</c:f>
              <c:numCache>
                <c:formatCode>General</c:formatCode>
                <c:ptCount val="9"/>
                <c:pt idx="0">
                  <c:v>0</c:v>
                </c:pt>
                <c:pt idx="1">
                  <c:v>1.4</c:v>
                </c:pt>
                <c:pt idx="2">
                  <c:v>2.8</c:v>
                </c:pt>
                <c:pt idx="3">
                  <c:v>7.6</c:v>
                </c:pt>
                <c:pt idx="4">
                  <c:v>10.9</c:v>
                </c:pt>
                <c:pt idx="5">
                  <c:v>15.6</c:v>
                </c:pt>
                <c:pt idx="6">
                  <c:v>9.9</c:v>
                </c:pt>
                <c:pt idx="7">
                  <c:v>16.2</c:v>
                </c:pt>
                <c:pt idx="8">
                  <c:v>18.7</c:v>
                </c:pt>
              </c:numCache>
            </c:numRef>
          </c:val>
        </c:ser>
        <c:ser>
          <c:idx val="1"/>
          <c:order val="1"/>
          <c:tx>
            <c:strRef>
              <c:f>Sheet1!$C$1</c:f>
              <c:strCache>
                <c:ptCount val="1"/>
                <c:pt idx="0">
                  <c:v>Stock + AI-authored rules</c:v>
                </c:pt>
              </c:strCache>
            </c:strRef>
          </c:tx>
          <c:spPr>
            <a:solidFill>
              <a:srgbClr val="1F4E79"/>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Analysis</c:v>
                  </c:pt>
                  <c:pt idx="1">
                    <c:v>Shellcode</c:v>
                  </c:pt>
                  <c:pt idx="2">
                    <c:v>Generic</c:v>
                  </c:pt>
                  <c:pt idx="3">
                    <c:v>Fuzzers</c:v>
                  </c:pt>
                  <c:pt idx="4">
                    <c:v>DoS</c:v>
                  </c:pt>
                  <c:pt idx="5">
                    <c:v>Worms</c:v>
                  </c:pt>
                  <c:pt idx="6">
                    <c:v>Exploits</c:v>
                  </c:pt>
                  <c:pt idx="7">
                    <c:v>Backdoor</c:v>
                  </c:pt>
                  <c:pt idx="8">
                    <c:v>Reconnaissance</c:v>
                  </c:pt>
                </c:lvl>
              </c:multiLvlStrCache>
            </c:multiLvlStrRef>
          </c:cat>
          <c:val>
            <c:numRef>
              <c:f>Sheet1!$C$2:$C$10</c:f>
              <c:numCache>
                <c:formatCode>General</c:formatCode>
                <c:ptCount val="9"/>
                <c:pt idx="0">
                  <c:v>0</c:v>
                </c:pt>
                <c:pt idx="1">
                  <c:v>1.4</c:v>
                </c:pt>
                <c:pt idx="2">
                  <c:v>4.4</c:v>
                </c:pt>
                <c:pt idx="3">
                  <c:v>9.1</c:v>
                </c:pt>
                <c:pt idx="4">
                  <c:v>11.5</c:v>
                </c:pt>
                <c:pt idx="5">
                  <c:v>15.6</c:v>
                </c:pt>
                <c:pt idx="6">
                  <c:v>19.1</c:v>
                </c:pt>
                <c:pt idx="7">
                  <c:v>20.3</c:v>
                </c:pt>
                <c:pt idx="8">
                  <c:v>36.2</c:v>
                </c:pt>
              </c:numCache>
            </c:numRef>
          </c:val>
        </c:ser>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45"/>
          <c:min val="0"/>
        </c:scaling>
        <c:delete val="1"/>
        <c:axPos val="b"/>
        <c:majorGridlines>
          <c:spPr>
            <a:ln w="9525"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533"/>
                </a:solidFill>
                <a:latin typeface="Calibri"/>
              </a:defRPr>
            </a:pPr>
            <a:r>
              <a:rPr sz="1300" b="0" i="0" u="none" strike="noStrike">
                <a:solidFill>
                  <a:srgbClr val="0F2533"/>
                </a:solidFill>
                <a:latin typeface="Calibri"/>
              </a:rPr>
              <a:t>GT events covered by findings</a:t>
            </a:r>
          </a:p>
        </c:rich>
      </c:tx>
      <c:layout/>
      <c:overlay val="0"/>
    </c:title>
    <c:autoTitleDeleted val="0"/>
    <c:plotArea>
      <c:layout/>
      <c:barChart>
        <c:barDir val="col"/>
        <c:grouping val="clustered"/>
        <c:varyColors val="0"/>
        <c:ser>
          <c:idx val="0"/>
          <c:order val="0"/>
          <c:tx>
            <c:strRef>
              <c:f>Sheet1!$B$1</c:f>
              <c:strCache>
                <c:ptCount val="1"/>
                <c:pt idx="0">
                  <c:v>Full context</c:v>
                </c:pt>
              </c:strCache>
            </c:strRef>
          </c:tx>
          <c:spPr>
            <a:solidFill>
              <a:srgbClr val="1F4E79"/>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Sheet1!$B$2:$B$2</c:f>
              <c:numCache>
                <c:formatCode>General</c:formatCode>
                <c:ptCount val="1"/>
                <c:pt idx="0">
                  <c:v>16.5</c:v>
                </c:pt>
              </c:numCache>
            </c:numRef>
          </c:val>
        </c:ser>
        <c:ser>
          <c:idx val="1"/>
          <c:order val="1"/>
          <c:tx>
            <c:strRef>
              <c:f>Sheet1!$C$1</c:f>
              <c:strCache>
                <c:ptCount val="1"/>
                <c:pt idx="0">
                  <c:v>Alerts only</c:v>
                </c:pt>
              </c:strCache>
            </c:strRef>
          </c:tx>
          <c:spPr>
            <a:solidFill>
              <a:srgbClr val="D9822B"/>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Sheet1!$C$2:$C$2</c:f>
              <c:numCache>
                <c:formatCode>General</c:formatCode>
                <c:ptCount val="1"/>
                <c:pt idx="0">
                  <c:v>28</c:v>
                </c:pt>
              </c:numCache>
            </c:numRef>
          </c:val>
        </c:ser>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36"/>
          <c:min val="0"/>
        </c:scaling>
        <c:delete val="1"/>
        <c:axPos val="l"/>
        <c:majorGridlines>
          <c:spPr>
            <a:ln w="9525"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533"/>
                </a:solidFill>
                <a:latin typeface="Calibri"/>
              </a:defRPr>
            </a:pPr>
            <a:r>
              <a:rPr sz="1300" b="0" i="0" u="none" strike="noStrike">
                <a:solidFill>
                  <a:srgbClr val="0F2533"/>
                </a:solidFill>
                <a:latin typeface="Calibri"/>
              </a:rPr>
              <a:t>Detection with own rules</a:t>
            </a:r>
          </a:p>
        </c:rich>
      </c:tx>
      <c:layout/>
      <c:overlay val="0"/>
    </c:title>
    <c:autoTitleDeleted val="0"/>
    <c:plotArea>
      <c:layout/>
      <c:barChart>
        <c:barDir val="col"/>
        <c:grouping val="clustered"/>
        <c:varyColors val="0"/>
        <c:ser>
          <c:idx val="0"/>
          <c:order val="0"/>
          <c:tx>
            <c:strRef>
              <c:f>Sheet1!$B$1</c:f>
              <c:strCache>
                <c:ptCount val="1"/>
                <c:pt idx="0">
                  <c:v>Full context</c:v>
                </c:pt>
              </c:strCache>
            </c:strRef>
          </c:tx>
          <c:spPr>
            <a:solidFill>
              <a:srgbClr val="1F4E79"/>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Sheet1!$B$2:$B$2</c:f>
              <c:numCache>
                <c:formatCode>General</c:formatCode>
                <c:ptCount val="1"/>
                <c:pt idx="0">
                  <c:v>8.9</c:v>
                </c:pt>
              </c:numCache>
            </c:numRef>
          </c:val>
        </c:ser>
        <c:ser>
          <c:idx val="1"/>
          <c:order val="1"/>
          <c:tx>
            <c:strRef>
              <c:f>Sheet1!$C$1</c:f>
              <c:strCache>
                <c:ptCount val="1"/>
                <c:pt idx="0">
                  <c:v>Alerts only</c:v>
                </c:pt>
              </c:strCache>
            </c:strRef>
          </c:tx>
          <c:spPr>
            <a:solidFill>
              <a:srgbClr val="D9822B"/>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Sheet1!$C$2:$C$2</c:f>
              <c:numCache>
                <c:formatCode>General</c:formatCode>
                <c:ptCount val="1"/>
                <c:pt idx="0">
                  <c:v>12.2</c:v>
                </c:pt>
              </c:numCache>
            </c:numRef>
          </c:val>
        </c:ser>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16"/>
          <c:min val="0"/>
        </c:scaling>
        <c:delete val="1"/>
        <c:axPos val="l"/>
        <c:majorGridlines>
          <c:spPr>
            <a:ln w="9525"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533"/>
                </a:solidFill>
                <a:latin typeface="Calibri"/>
              </a:defRPr>
            </a:pPr>
            <a:r>
              <a:rPr sz="1300" b="0" i="0" u="none" strike="noStrike">
                <a:solidFill>
                  <a:srgbClr val="0F2533"/>
                </a:solidFill>
                <a:latin typeface="Calibri"/>
              </a:rPr>
              <a:t>Evidence-backed outcome statements</a:t>
            </a:r>
          </a:p>
        </c:rich>
      </c:tx>
      <c:layout/>
      <c:overlay val="0"/>
    </c:title>
    <c:autoTitleDeleted val="0"/>
    <c:plotArea>
      <c:layout/>
      <c:barChart>
        <c:barDir val="col"/>
        <c:grouping val="clustered"/>
        <c:varyColors val="0"/>
        <c:ser>
          <c:idx val="0"/>
          <c:order val="0"/>
          <c:tx>
            <c:strRef>
              <c:f>Sheet1!$B$1</c:f>
              <c:strCache>
                <c:ptCount val="1"/>
                <c:pt idx="0">
                  <c:v>Full context</c:v>
                </c:pt>
              </c:strCache>
            </c:strRef>
          </c:tx>
          <c:spPr>
            <a:solidFill>
              <a:srgbClr val="1F4E79"/>
            </a:solidFill>
            <a:effectLst/>
          </c:spPr>
          <c:invertIfNegative val="0"/>
          <c:dLbls>
            <c:numFmt formatCode="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Sheet1!$B$2:$B$2</c:f>
              <c:numCache>
                <c:formatCode>General</c:formatCode>
                <c:ptCount val="1"/>
                <c:pt idx="0">
                  <c:v>52</c:v>
                </c:pt>
              </c:numCache>
            </c:numRef>
          </c:val>
        </c:ser>
        <c:ser>
          <c:idx val="1"/>
          <c:order val="1"/>
          <c:tx>
            <c:strRef>
              <c:f>Sheet1!$C$1</c:f>
              <c:strCache>
                <c:ptCount val="1"/>
                <c:pt idx="0">
                  <c:v>Alerts only</c:v>
                </c:pt>
              </c:strCache>
            </c:strRef>
          </c:tx>
          <c:spPr>
            <a:solidFill>
              <a:srgbClr val="D9822B"/>
            </a:solidFill>
            <a:effectLst/>
          </c:spPr>
          <c:invertIfNegative val="0"/>
          <c:dLbls>
            <c:numFmt formatCode="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Sheet1!$C$2:$C$2</c:f>
              <c:numCache>
                <c:formatCode>General</c:formatCode>
                <c:ptCount val="1"/>
                <c:pt idx="0">
                  <c:v>9</c:v>
                </c:pt>
              </c:numCache>
            </c:numRef>
          </c:val>
        </c:ser>
        <c:dLbls>
          <c:numFmt formatCode="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65"/>
          <c:min val="0"/>
        </c:scaling>
        <c:delete val="1"/>
        <c:axPos val="l"/>
        <c:majorGridlines>
          <c:spPr>
            <a:ln w="9525"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533"/>
                </a:solidFill>
                <a:latin typeface="Calibri"/>
              </a:defRPr>
            </a:pPr>
            <a:r>
              <a:rPr sz="1400" b="0" i="0" u="none" strike="noStrike">
                <a:solidFill>
                  <a:srgbClr val="0F2533"/>
                </a:solidFill>
                <a:latin typeface="Calibri"/>
              </a:rPr>
              <a:t>Audit of AI-authored rules, CIC + UNSW v1 (50)</a:t>
            </a:r>
          </a:p>
        </c:rich>
      </c:tx>
      <c:layout/>
      <c:overlay val="0"/>
    </c:title>
    <c:autoTitleDeleted val="0"/>
    <c:plotArea>
      <c:layout/>
      <c:barChart>
        <c:barDir val="bar"/>
        <c:grouping val="stacked"/>
        <c:varyColors val="0"/>
        <c:ser>
          <c:idx val="0"/>
          <c:order val="0"/>
          <c:tx>
            <c:strRef>
              <c:f>Sheet1!$B$1</c:f>
              <c:strCache>
                <c:ptCount val="1"/>
                <c:pt idx="0">
                  <c:v>Fired on replay</c:v>
                </c:pt>
              </c:strCache>
            </c:strRef>
          </c:tx>
          <c:spPr>
            <a:solidFill>
              <a:srgbClr val="1F4E79"/>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Sheet1!$B$2:$B$3</c:f>
              <c:numCache>
                <c:formatCode>General</c:formatCode>
                <c:ptCount val="2"/>
                <c:pt idx="0">
                  <c:v>16</c:v>
                </c:pt>
                <c:pt idx="1">
                  <c:v>18</c:v>
                </c:pt>
              </c:numCache>
            </c:numRef>
          </c:val>
        </c:ser>
        <c:ser>
          <c:idx val="1"/>
          <c:order val="1"/>
          <c:tx>
            <c:strRef>
              <c:f>Sheet1!$C$1</c:f>
              <c:strCache>
                <c:ptCount val="1"/>
                <c:pt idx="0">
                  <c:v>Replayed, never fired</c:v>
                </c:pt>
              </c:strCache>
            </c:strRef>
          </c:tx>
          <c:spPr>
            <a:solidFill>
              <a:srgbClr val="7FA7C9"/>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Sheet1!$C$2:$C$3</c:f>
              <c:numCache>
                <c:formatCode>General</c:formatCode>
                <c:ptCount val="2"/>
                <c:pt idx="0">
                  <c:v>4</c:v>
                </c:pt>
                <c:pt idx="1">
                  <c:v>0</c:v>
                </c:pt>
              </c:numCache>
            </c:numRef>
          </c:val>
        </c:ser>
        <c:ser>
          <c:idx val="2"/>
          <c:order val="2"/>
          <c:tx>
            <c:strRef>
              <c:f>Sheet1!$D$1</c:f>
              <c:strCache>
                <c:ptCount val="1"/>
                <c:pt idx="0">
                  <c:v>Never replayed</c:v>
                </c:pt>
              </c:strCache>
            </c:strRef>
          </c:tx>
          <c:spPr>
            <a:solidFill>
              <a:srgbClr val="CFD6DD"/>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Sheet1!$D$2:$D$3</c:f>
              <c:numCache>
                <c:formatCode>General</c:formatCode>
                <c:ptCount val="2"/>
                <c:pt idx="0">
                  <c:v>6</c:v>
                </c:pt>
                <c:pt idx="1">
                  <c:v>0</c:v>
                </c:pt>
              </c:numCache>
            </c:numRef>
          </c:val>
        </c:ser>
        <c:ser>
          <c:idx val="3"/>
          <c:order val="3"/>
          <c:tx>
            <c:strRef>
              <c:f>Sheet1!$E$1</c:f>
              <c:strCache>
                <c:ptCount val="1"/>
                <c:pt idx="0">
                  <c:v>Cannot fire / fails to load</c:v>
                </c:pt>
              </c:strCache>
            </c:strRef>
          </c:tx>
          <c:spPr>
            <a:solidFill>
              <a:srgbClr val="B03A2E"/>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Sheet1!$E$2:$E$3</c:f>
              <c:numCache>
                <c:formatCode>General</c:formatCode>
                <c:ptCount val="2"/>
                <c:pt idx="0">
                  <c:v>4</c:v>
                </c:pt>
                <c:pt idx="1">
                  <c:v>0</c:v>
                </c:pt>
              </c:numCache>
            </c:numRef>
          </c:val>
        </c:ser>
        <c:ser>
          <c:idx val="4"/>
          <c:order val="4"/>
          <c:tx>
            <c:strRef>
              <c:f>Sheet1!$F$1</c:f>
              <c:strCache>
                <c:ptCount val="1"/>
                <c:pt idx="0">
                  <c:v>Deleted by model</c:v>
                </c:pt>
              </c:strCache>
            </c:strRef>
          </c:tx>
          <c:spPr>
            <a:solidFill>
              <a:srgbClr val="555555"/>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Sheet1!$F$2:$F$3</c:f>
              <c:numCache>
                <c:formatCode>General</c:formatCode>
                <c:ptCount val="2"/>
                <c:pt idx="0">
                  <c:v>2</c:v>
                </c:pt>
                <c:pt idx="1">
                  <c:v>0</c:v>
                </c:pt>
              </c:numCache>
            </c:numRef>
          </c:val>
        </c:ser>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(≈0:30). Introduce the team and the question in one sentence: we tested whether a large language model can do the job of the analyst who sits between an intrusion detection system and its rules — investigating alerts and writing new detection rules — without replacing the rule-based engine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(≈0:50). The bottleneck is not the detection engine, it is the human loop around it. Emphasise that we keep detection rule-based and inspectable on purpose — the supervisor's constraint was no machine-learning detector. The AI's job is to do the analyst's work: investigate and author rules the engine then evaluates.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(≈0:45). Read the question, then the three aims. Stress the second half of the question — 'what context does it need' — because Experiment 1 answers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(≈0:50). Walk left to right. Detection: stock community rules plus a baseline built on the benign Monday capture, like a real SOC would tune a sensor. Triage: the model does the analyst's investigation. Output: two exits — detection rules deploy automatically, suppressions need a human (explained shortly). Hand over to Binay for how the system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(≈1:00). Follow the arrows: pcap → Suricata → eve.json → triage engine. The provider adapter lets Claude and DeepSeek run the identical loop with identical tools, so models can be swapped. Rules the model writes go to rules/generated and are loaded into the next Suricata replay (dashed line) — that is how the model validates its own rules. The web UI streams every tool call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(≈1:05). A hosted model can only produce text. The loop turns it into an agent: each turn it can request one of eight tools; our engine checks the request (paths are allowlisted, writes only into rules/generated) and returns the result. The model decides what to investigate and in what order. Key lesson: V3 kept failing on jq aggregation over NDJSON; one purpose-built aggregation tool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(≈1:00). Left: the asymmetry — the one design choice that protected us. Tell the Cisco exploit story briefly. Right: be upfront that we audited our own evaluation, found that some early runs could see answer-revealing file names and one run read our notes, and locked the tools down. This is why the Tuesday model comparison is reported as compromised. Hand over to Irab for data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(≈0:40). CIC-IDS2017 is the development dataset: labelled flows for every attack. The supervisor asked us to try a second dataset in Week 9 — UNSW-NB15 — which the system had never seen. Every number that follows is measured against these labels, not taken from the model's own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(≈1:05). Three headline numbers. 13 of 14 attack types identified. Rules: stock ET caught 8 categories, adding the AI's rules takes it to 12. Precision: on the noisy captures almost every stock alert fell on normal traffic, almost every AI-rule alert on a real attack. Be honest about the middle bars — over all four days it is 81 vs 78 because of one bad AI rule; remove it and the AI rules are 99.6%.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(≈1:00). Four short stories. FAKEVERB shows reasoning about the engine itself. Hulk: an attack class the 52,000-rule set had no dedicated rule for. ARES: listed as undetected in our interim report — found later by the model and confirmed by labels. SSH: a precise fingerprint rule that took detection from 1% to 28% with no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(≈1:05). Same engine, unchanged, on a dataset it never saw. Detection rises from 9.2% to 15.5%; recon and exploits roughly double. IF ASKED WHY RECALL IS LOW: it is low for the professional stock rules too — UNSW fires thousands of one-off exploit attempts, many with no signature anywhere — so the claim is the improvement over human-written rules, achieved with zero alerts on benign hosts. Rules also transferred between captures. Hand over to Shashwat.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(≈1:15). This answers the second half of the research question, and the result surprised us. Without context the model was just as good — even slightly better — at spotting attacks. What context buys is depth: whether the attack actually worked, which decides the analyst's response. Caveats: one run per condition, and alert records still carry some flow counters.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(≈1:00). Be candid — this is a strength of the evaluation, not a weakness of the talk. The errors are confident: the model reported success each time. The rule audit on the right covers all 50 AI-authored rules: 16 of the 32 CIC rules were proven by replay, all 18 UNSW rules. The pattern: on CIC many rules were never really tested because the configuration did not load their files; on UNSW, where it did, every rule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(≈0:20). Everything so far measured the AI against stock ET Open. In weeks 10-11 we asked the harder question: what happens when the human baseline is as strong as we can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(≈0:50). A real SOC engineer's first move is not AI, it is tuning the rules they have. Adding more rulesets did almost nothing; re-enabling the rule families that ship disabled, picked by which services are under attack, nearly tripled detection. Enabling everything gets 31% but floods non-attacker hosts with 46x the alerts — that is why we chose by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(≈0:40). This chart explains every result that follows. Even the best categories are only a quarter to a third detected, and Generic — almost 2,700 events — is at 7%. The traffic generator varies each attempt, so a rule for one instance rarely matches the next. Keep this in mind when we look at what the AI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(≈1:00). We caught ourselves here. The plain condition seemed to add 11 points. Classifying every rule by its text showed most of it was topology — 'an outsider sent mail' — which is only an attack because of how UNSW is built. We also found our scoring compared a fresh replay with an old one; Suricata's thresholds are not deterministic, so we now credit only events that the AI rules alone caught. Honest numbers: plain and research add well under half a point; only the two hunt conditions clearly add detection —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(≈1:00). This is the supervisor's suggestion made concrete. We researched how detection engineers work — Palantir's ADS framework, SpecterOps, threat-hunting practice — and turned it into the agent's procedure. The key differences from the earlier rounds: it starts from traffic nothing alerted on instead of from alerts, it never sees the attacker range, and it cannot save a rule without passing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(≈0:50). The test is simple and checkable. The MAIL FROM rule looks perfect when written from outside — 173 hits. Remove the address constraint and it matches 1,668 normal internal emails: the rule's precision came from the IP address, not the behaviour. A directory-traversal rule passes: same hits either way. Be upfront about where the test is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(≈1:00). This is the real-engineering story. The supervisor asked us to replicate what detection engineers do; when the agent behaved oddly we debugged it like engineers — checked each layer until the raw API showed the reasoning was arriving in a field we ignored. One fix, and the next run finished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(≈1:00). Read the chart by group. Capture 3's rules (before the fix) each match one exploit attempt and never fire again. Captures 1 and 10, after the fix, wrote technique and behaviour rules — traversal, XSS, format strings, SMB fuzzing — and most fire on captures they were never written on. Be honest: the improvement coincides with the bug fix, so we cannot separate 'better workflow' from 'reasoning carried'. Both were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(≈0:50). This is the number that matters most. We froze every rule file, then ran the untouched day once. The hunt rules' gain held — slightly larger than on the development captures — and no AI rule fired on the two captures with only normal traffic. The human baseline also generalised. Caveat: still small against the ~70% of events every ruleset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(≈0:50). We predicted the keyword tool would help. It did fix what it targeted — no rule failed to load — but detection went slightly down, because this run hunted different attack families. The two runs share only 82 events. So the bottleneck is not knowing Suricata's syntax; it is which attacks the agent decides to chase. Running several times and keeping the union is the obvious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(≈0:45). A fair question: maybe most attacks are undetectable by signatures. They are not — three-quarters carried data, and the baseline still misses three-quarters of those. Against what anything we ran could catch, the human baseline is already at 74-93%, and the hunt adds about 4-5 points of that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(≈0:40). Four causes. The tooling gap we fixed with hunt2. The rule-language limit — DNS entropy needs Lua. Our own design: no IP pivots and a gate that cannot test POP3 or SIP mean rate rules were off the table, by choice. And some omissions were simply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(≈1:00). Give the split answer, then the four lessons. Mention that model-agnosticism is a design property here, not a proven result — the Tuesday comparison was compromised by the label leakage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(≈0:30), then all four for questions. Likely questions: (1) Why is recall low? — low for the human-written stock rules too; we measure improvement. (2) Why DeepSeek for most runs? — cost; the adapter makes the model swappable. (3) Could the model have seen the answers? — we found and fixed that; UNSW runs had zero label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6" Type="http://schemas.openxmlformats.org/officeDocument/2006/relationships/chart" Target="/ppt/charts/chart6.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052560" y="1280160"/>
            <a:ext cx="2377440" cy="2377440"/>
          </a:xfrm>
          <a:prstGeom prst="rect">
            <a:avLst/>
          </a:prstGeom>
        </p:spPr>
      </p:pic>
      <p:sp>
        <p:nvSpPr>
          <p:cNvPr id="3" name="Text 0"/>
          <p:cNvSpPr txBox="1"/>
          <p:nvPr/>
        </p:nvSpPr>
        <p:spPr>
          <a:xfrm>
            <a:off x="548640" y="1234440"/>
            <a:ext cx="813816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Can an LLM replace the IDS analyst?</a:t>
            </a:r>
            <a:endParaRPr lang="en-US" sz="4400" dirty="0"/>
          </a:p>
        </p:txBody>
      </p:sp>
      <p:sp>
        <p:nvSpPr>
          <p:cNvPr id="4" name="Text 1"/>
          <p:cNvSpPr txBox="1"/>
          <p:nvPr/>
        </p:nvSpPr>
        <p:spPr>
          <a:xfrm>
            <a:off x="548640" y="2880360"/>
            <a:ext cx="7863840" cy="822960"/>
          </a:xfrm>
          <a:prstGeom prst="rect">
            <a:avLst/>
          </a:prstGeom>
          <a:noFill/>
          <a:ln/>
        </p:spPr>
        <p:txBody>
          <a:bodyPr wrap="square" lIns="0" tIns="0" rIns="0" bIns="0" rtlCol="0" anchor="t"/>
          <a:lstStyle/>
          <a:p>
            <a:pPr indent="0" marL="0">
              <a:buNone/>
            </a:pPr>
            <a:r>
              <a:rPr lang="en-US" sz="2000" dirty="0">
                <a:solidFill>
                  <a:srgbClr val="D9822B"/>
                </a:solidFill>
                <a:latin typeface="Calibri" pitchFamily="34" charset="0"/>
                <a:ea typeface="Calibri" pitchFamily="34" charset="-122"/>
                <a:cs typeface="Calibri" pitchFamily="34" charset="-120"/>
              </a:rPr>
              <a:t>Automated generation of intrusion detection rules using generative AI in a rule-based IDS deployment</a:t>
            </a:r>
            <a:endParaRPr lang="en-US" sz="2000" dirty="0"/>
          </a:p>
        </p:txBody>
      </p:sp>
      <p:sp>
        <p:nvSpPr>
          <p:cNvPr id="5" name="Text 2"/>
          <p:cNvSpPr txBox="1"/>
          <p:nvPr/>
        </p:nvSpPr>
        <p:spPr>
          <a:xfrm>
            <a:off x="548640" y="5120640"/>
            <a:ext cx="11094415" cy="731520"/>
          </a:xfrm>
          <a:prstGeom prst="rect">
            <a:avLst/>
          </a:prstGeom>
          <a:noFill/>
          <a:ln/>
        </p:spPr>
        <p:txBody>
          <a:bodyPr wrap="square" lIns="0" tIns="0" rIns="0" bIns="0" rtlCol="0" anchor="ctr"/>
          <a:lstStyle/>
          <a:p>
            <a:pPr indent="0" marL="0">
              <a:spcAft>
                <a:spcPts val="600"/>
              </a:spcAft>
              <a:buNone/>
            </a:pPr>
            <a:r>
              <a:rPr lang="en-US" sz="1500" dirty="0">
                <a:solidFill>
                  <a:srgbClr val="CADCFC"/>
                </a:solidFill>
                <a:latin typeface="Calibri" pitchFamily="34" charset="0"/>
                <a:ea typeface="Calibri" pitchFamily="34" charset="-122"/>
                <a:cs typeface="Calibri" pitchFamily="34" charset="-120"/>
              </a:rPr>
              <a:t>Group 13  ·  Bigyan Siwakoti  ·  Binay Siwakoti  ·  Irab Baral  ·  Shashwat Acharya</a:t>
            </a:r>
            <a:endParaRPr lang="en-US" sz="1500" dirty="0"/>
          </a:p>
          <a:p>
            <a:pPr indent="0" marL="0">
              <a:spcAft>
                <a:spcPts val="600"/>
              </a:spcAft>
              <a:buNone/>
            </a:pPr>
            <a:r>
              <a:rPr lang="en-US" sz="1500" dirty="0">
                <a:solidFill>
                  <a:srgbClr val="CADCFC"/>
                </a:solidFill>
                <a:latin typeface="Calibri" pitchFamily="34" charset="0"/>
                <a:ea typeface="Calibri" pitchFamily="34" charset="-122"/>
                <a:cs typeface="Calibri" pitchFamily="34" charset="-120"/>
              </a:rPr>
              <a:t>Supervisor: Prof. Bharanidharan Shanmugam  ·  Charles Darwin University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Detection is only as good as its rules</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Signature-based IDS: deterministic and inspectable, but blind to anything without a rule</a:t>
            </a:r>
            <a:endParaRPr lang="en-US" sz="1600" dirty="0"/>
          </a:p>
        </p:txBody>
      </p:sp>
      <p:sp>
        <p:nvSpPr>
          <p:cNvPr id="4" name="Text 2"/>
          <p:cNvSpPr txBox="1"/>
          <p:nvPr/>
        </p:nvSpPr>
        <p:spPr>
          <a:xfrm>
            <a:off x="548640" y="1737360"/>
            <a:ext cx="5120640" cy="29260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F2533"/>
                </a:solidFill>
                <a:latin typeface="Calibri" pitchFamily="34" charset="0"/>
                <a:ea typeface="Calibri" pitchFamily="34" charset="-122"/>
                <a:cs typeface="Calibri" pitchFamily="34" charset="-120"/>
              </a:rPr>
              <a:t>No rule, no detection — however capable the engine</a:t>
            </a:r>
            <a:endParaRPr lang="en-US" sz="1500" dirty="0"/>
          </a:p>
          <a:p>
            <a:pPr marL="203200" indent="-203200">
              <a:spcAft>
                <a:spcPts val="800"/>
              </a:spcAft>
              <a:buSzPct val="100000"/>
              <a:buChar char="•"/>
            </a:pPr>
            <a:r>
              <a:rPr lang="en-US" sz="1500" dirty="0">
                <a:solidFill>
                  <a:srgbClr val="0F2533"/>
                </a:solidFill>
                <a:latin typeface="Calibri" pitchFamily="34" charset="0"/>
                <a:ea typeface="Calibri" pitchFamily="34" charset="-122"/>
                <a:cs typeface="Calibri" pitchFamily="34" charset="-120"/>
              </a:rPr>
              <a:t>Turning an observed attack into a tested rule is manual work: investigate, identify invariants, write, validate, deploy</a:t>
            </a:r>
            <a:endParaRPr lang="en-US" sz="1500" dirty="0"/>
          </a:p>
          <a:p>
            <a:pPr marL="203200" indent="-203200">
              <a:spcAft>
                <a:spcPts val="800"/>
              </a:spcAft>
              <a:buSzPct val="100000"/>
              <a:buChar char="•"/>
            </a:pPr>
            <a:r>
              <a:rPr lang="en-US" sz="1500" dirty="0">
                <a:solidFill>
                  <a:srgbClr val="0F2533"/>
                </a:solidFill>
                <a:latin typeface="Calibri" pitchFamily="34" charset="0"/>
                <a:ea typeface="Calibri" pitchFamily="34" charset="-122"/>
                <a:cs typeface="Calibri" pitchFamily="34" charset="-120"/>
              </a:rPr>
              <a:t>Scarfone &amp; Mell (NIST SP 800-94) describe this cycle as taking hours to days of scarce expertise</a:t>
            </a:r>
            <a:endParaRPr lang="en-US" sz="1500" dirty="0"/>
          </a:p>
        </p:txBody>
      </p:sp>
      <p:sp>
        <p:nvSpPr>
          <p:cNvPr id="5" name="Shape 3"/>
          <p:cNvSpPr/>
          <p:nvPr/>
        </p:nvSpPr>
        <p:spPr>
          <a:xfrm>
            <a:off x="6080760" y="1965960"/>
            <a:ext cx="987552" cy="914400"/>
          </a:xfrm>
          <a:prstGeom prst="roundRect">
            <a:avLst>
              <a:gd name="adj" fmla="val 8000"/>
            </a:avLst>
          </a:prstGeom>
          <a:solidFill>
            <a:srgbClr val="EEF3F8"/>
          </a:solidFill>
          <a:ln w="12700">
            <a:solidFill>
              <a:srgbClr val="EEF3F8"/>
            </a:solidFill>
            <a:prstDash val="solid"/>
          </a:ln>
        </p:spPr>
      </p:sp>
      <p:sp>
        <p:nvSpPr>
          <p:cNvPr id="6" name="Text 4"/>
          <p:cNvSpPr txBox="1"/>
          <p:nvPr/>
        </p:nvSpPr>
        <p:spPr>
          <a:xfrm>
            <a:off x="6080760" y="1965960"/>
            <a:ext cx="987552" cy="914400"/>
          </a:xfrm>
          <a:prstGeom prst="rect">
            <a:avLst/>
          </a:prstGeom>
          <a:noFill/>
          <a:ln/>
        </p:spPr>
        <p:txBody>
          <a:bodyPr wrap="square" lIns="0" tIns="0" rIns="0" bIns="0" rtlCol="0" anchor="ctr"/>
          <a:lstStyle/>
          <a:p>
            <a:pPr algn="ctr" indent="0" marL="0">
              <a:buNone/>
            </a:pPr>
            <a:r>
              <a:rPr lang="en-US" sz="1150" b="1" dirty="0">
                <a:solidFill>
                  <a:srgbClr val="0F2533"/>
                </a:solidFill>
                <a:latin typeface="Calibri" pitchFamily="34" charset="0"/>
                <a:ea typeface="Calibri" pitchFamily="34" charset="-122"/>
                <a:cs typeface="Calibri" pitchFamily="34" charset="-120"/>
              </a:rPr>
              <a:t>Investigate</a:t>
            </a:r>
            <a:endParaRPr lang="en-US" sz="1150" dirty="0"/>
          </a:p>
        </p:txBody>
      </p:sp>
      <p:sp>
        <p:nvSpPr>
          <p:cNvPr id="7" name="Shape 5"/>
          <p:cNvSpPr/>
          <p:nvPr/>
        </p:nvSpPr>
        <p:spPr>
          <a:xfrm>
            <a:off x="7068312" y="2423160"/>
            <a:ext cx="146304" cy="0"/>
          </a:xfrm>
          <a:prstGeom prst="line">
            <a:avLst/>
          </a:prstGeom>
          <a:noFill/>
          <a:ln w="25400">
            <a:solidFill>
              <a:srgbClr val="5B6B7A"/>
            </a:solidFill>
            <a:prstDash val="solid"/>
            <a:tailEnd type="triangle"/>
          </a:ln>
        </p:spPr>
      </p:sp>
      <p:sp>
        <p:nvSpPr>
          <p:cNvPr id="8" name="Shape 6"/>
          <p:cNvSpPr/>
          <p:nvPr/>
        </p:nvSpPr>
        <p:spPr>
          <a:xfrm>
            <a:off x="7214616" y="1965960"/>
            <a:ext cx="987552" cy="914400"/>
          </a:xfrm>
          <a:prstGeom prst="roundRect">
            <a:avLst>
              <a:gd name="adj" fmla="val 8000"/>
            </a:avLst>
          </a:prstGeom>
          <a:solidFill>
            <a:srgbClr val="EEF3F8"/>
          </a:solidFill>
          <a:ln w="12700">
            <a:solidFill>
              <a:srgbClr val="EEF3F8"/>
            </a:solidFill>
            <a:prstDash val="solid"/>
          </a:ln>
        </p:spPr>
      </p:sp>
      <p:sp>
        <p:nvSpPr>
          <p:cNvPr id="9" name="Text 7"/>
          <p:cNvSpPr txBox="1"/>
          <p:nvPr/>
        </p:nvSpPr>
        <p:spPr>
          <a:xfrm>
            <a:off x="7214616" y="1965960"/>
            <a:ext cx="987552" cy="914400"/>
          </a:xfrm>
          <a:prstGeom prst="rect">
            <a:avLst/>
          </a:prstGeom>
          <a:noFill/>
          <a:ln/>
        </p:spPr>
        <p:txBody>
          <a:bodyPr wrap="square" lIns="0" tIns="0" rIns="0" bIns="0" rtlCol="0" anchor="ctr"/>
          <a:lstStyle/>
          <a:p>
            <a:pPr algn="ctr" indent="0" marL="0">
              <a:buNone/>
            </a:pPr>
            <a:r>
              <a:rPr lang="en-US" sz="1150" b="1" dirty="0">
                <a:solidFill>
                  <a:srgbClr val="0F2533"/>
                </a:solidFill>
                <a:latin typeface="Calibri" pitchFamily="34" charset="0"/>
                <a:ea typeface="Calibri" pitchFamily="34" charset="-122"/>
                <a:cs typeface="Calibri" pitchFamily="34" charset="-120"/>
              </a:rPr>
              <a:t>Identify</a:t>
            </a:r>
            <a:endParaRPr lang="en-US" sz="1150" dirty="0"/>
          </a:p>
        </p:txBody>
      </p:sp>
      <p:sp>
        <p:nvSpPr>
          <p:cNvPr id="10" name="Shape 8"/>
          <p:cNvSpPr/>
          <p:nvPr/>
        </p:nvSpPr>
        <p:spPr>
          <a:xfrm>
            <a:off x="8202168" y="2423160"/>
            <a:ext cx="146304" cy="0"/>
          </a:xfrm>
          <a:prstGeom prst="line">
            <a:avLst/>
          </a:prstGeom>
          <a:noFill/>
          <a:ln w="25400">
            <a:solidFill>
              <a:srgbClr val="5B6B7A"/>
            </a:solidFill>
            <a:prstDash val="solid"/>
            <a:tailEnd type="triangle"/>
          </a:ln>
        </p:spPr>
      </p:sp>
      <p:sp>
        <p:nvSpPr>
          <p:cNvPr id="11" name="Shape 9"/>
          <p:cNvSpPr/>
          <p:nvPr/>
        </p:nvSpPr>
        <p:spPr>
          <a:xfrm>
            <a:off x="8348472" y="1965960"/>
            <a:ext cx="987552" cy="914400"/>
          </a:xfrm>
          <a:prstGeom prst="roundRect">
            <a:avLst>
              <a:gd name="adj" fmla="val 8000"/>
            </a:avLst>
          </a:prstGeom>
          <a:solidFill>
            <a:srgbClr val="1F4E79"/>
          </a:solidFill>
          <a:ln w="12700">
            <a:solidFill>
              <a:srgbClr val="1F4E79"/>
            </a:solidFill>
            <a:prstDash val="solid"/>
          </a:ln>
        </p:spPr>
      </p:sp>
      <p:sp>
        <p:nvSpPr>
          <p:cNvPr id="12" name="Text 10"/>
          <p:cNvSpPr txBox="1"/>
          <p:nvPr/>
        </p:nvSpPr>
        <p:spPr>
          <a:xfrm>
            <a:off x="8348472" y="1965960"/>
            <a:ext cx="987552"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Write rule</a:t>
            </a:r>
            <a:endParaRPr lang="en-US" sz="1150" dirty="0"/>
          </a:p>
        </p:txBody>
      </p:sp>
      <p:sp>
        <p:nvSpPr>
          <p:cNvPr id="13" name="Shape 11"/>
          <p:cNvSpPr/>
          <p:nvPr/>
        </p:nvSpPr>
        <p:spPr>
          <a:xfrm>
            <a:off x="9336024" y="2423160"/>
            <a:ext cx="146304" cy="0"/>
          </a:xfrm>
          <a:prstGeom prst="line">
            <a:avLst/>
          </a:prstGeom>
          <a:noFill/>
          <a:ln w="25400">
            <a:solidFill>
              <a:srgbClr val="5B6B7A"/>
            </a:solidFill>
            <a:prstDash val="solid"/>
            <a:tailEnd type="triangle"/>
          </a:ln>
        </p:spPr>
      </p:sp>
      <p:sp>
        <p:nvSpPr>
          <p:cNvPr id="14" name="Shape 12"/>
          <p:cNvSpPr/>
          <p:nvPr/>
        </p:nvSpPr>
        <p:spPr>
          <a:xfrm>
            <a:off x="9482328" y="1965960"/>
            <a:ext cx="987552" cy="914400"/>
          </a:xfrm>
          <a:prstGeom prst="roundRect">
            <a:avLst>
              <a:gd name="adj" fmla="val 8000"/>
            </a:avLst>
          </a:prstGeom>
          <a:solidFill>
            <a:srgbClr val="EEF3F8"/>
          </a:solidFill>
          <a:ln w="12700">
            <a:solidFill>
              <a:srgbClr val="EEF3F8"/>
            </a:solidFill>
            <a:prstDash val="solid"/>
          </a:ln>
        </p:spPr>
      </p:sp>
      <p:sp>
        <p:nvSpPr>
          <p:cNvPr id="15" name="Text 13"/>
          <p:cNvSpPr txBox="1"/>
          <p:nvPr/>
        </p:nvSpPr>
        <p:spPr>
          <a:xfrm>
            <a:off x="9482328" y="1965960"/>
            <a:ext cx="987552" cy="914400"/>
          </a:xfrm>
          <a:prstGeom prst="rect">
            <a:avLst/>
          </a:prstGeom>
          <a:noFill/>
          <a:ln/>
        </p:spPr>
        <p:txBody>
          <a:bodyPr wrap="square" lIns="0" tIns="0" rIns="0" bIns="0" rtlCol="0" anchor="ctr"/>
          <a:lstStyle/>
          <a:p>
            <a:pPr algn="ctr" indent="0" marL="0">
              <a:buNone/>
            </a:pPr>
            <a:r>
              <a:rPr lang="en-US" sz="1150" b="1" dirty="0">
                <a:solidFill>
                  <a:srgbClr val="0F2533"/>
                </a:solidFill>
                <a:latin typeface="Calibri" pitchFamily="34" charset="0"/>
                <a:ea typeface="Calibri" pitchFamily="34" charset="-122"/>
                <a:cs typeface="Calibri" pitchFamily="34" charset="-120"/>
              </a:rPr>
              <a:t>Validate</a:t>
            </a:r>
            <a:endParaRPr lang="en-US" sz="1150" dirty="0"/>
          </a:p>
        </p:txBody>
      </p:sp>
      <p:sp>
        <p:nvSpPr>
          <p:cNvPr id="16" name="Shape 14"/>
          <p:cNvSpPr/>
          <p:nvPr/>
        </p:nvSpPr>
        <p:spPr>
          <a:xfrm>
            <a:off x="10469880" y="2423160"/>
            <a:ext cx="146304" cy="0"/>
          </a:xfrm>
          <a:prstGeom prst="line">
            <a:avLst/>
          </a:prstGeom>
          <a:noFill/>
          <a:ln w="25400">
            <a:solidFill>
              <a:srgbClr val="5B6B7A"/>
            </a:solidFill>
            <a:prstDash val="solid"/>
            <a:tailEnd type="triangle"/>
          </a:ln>
        </p:spPr>
      </p:sp>
      <p:sp>
        <p:nvSpPr>
          <p:cNvPr id="17" name="Shape 15"/>
          <p:cNvSpPr/>
          <p:nvPr/>
        </p:nvSpPr>
        <p:spPr>
          <a:xfrm>
            <a:off x="10616184" y="1965960"/>
            <a:ext cx="987552" cy="914400"/>
          </a:xfrm>
          <a:prstGeom prst="roundRect">
            <a:avLst>
              <a:gd name="adj" fmla="val 8000"/>
            </a:avLst>
          </a:prstGeom>
          <a:solidFill>
            <a:srgbClr val="EEF3F8"/>
          </a:solidFill>
          <a:ln w="12700">
            <a:solidFill>
              <a:srgbClr val="EEF3F8"/>
            </a:solidFill>
            <a:prstDash val="solid"/>
          </a:ln>
        </p:spPr>
      </p:sp>
      <p:sp>
        <p:nvSpPr>
          <p:cNvPr id="18" name="Text 16"/>
          <p:cNvSpPr txBox="1"/>
          <p:nvPr/>
        </p:nvSpPr>
        <p:spPr>
          <a:xfrm>
            <a:off x="10616184" y="1965960"/>
            <a:ext cx="987552" cy="914400"/>
          </a:xfrm>
          <a:prstGeom prst="rect">
            <a:avLst/>
          </a:prstGeom>
          <a:noFill/>
          <a:ln/>
        </p:spPr>
        <p:txBody>
          <a:bodyPr wrap="square" lIns="0" tIns="0" rIns="0" bIns="0" rtlCol="0" anchor="ctr"/>
          <a:lstStyle/>
          <a:p>
            <a:pPr algn="ctr" indent="0" marL="0">
              <a:buNone/>
            </a:pPr>
            <a:r>
              <a:rPr lang="en-US" sz="1150" b="1" dirty="0">
                <a:solidFill>
                  <a:srgbClr val="0F2533"/>
                </a:solidFill>
                <a:latin typeface="Calibri" pitchFamily="34" charset="0"/>
                <a:ea typeface="Calibri" pitchFamily="34" charset="-122"/>
                <a:cs typeface="Calibri" pitchFamily="34" charset="-120"/>
              </a:rPr>
              <a:t>Deploy</a:t>
            </a:r>
            <a:endParaRPr lang="en-US" sz="1150" dirty="0"/>
          </a:p>
        </p:txBody>
      </p:sp>
      <p:sp>
        <p:nvSpPr>
          <p:cNvPr id="19" name="Shape 17"/>
          <p:cNvSpPr/>
          <p:nvPr/>
        </p:nvSpPr>
        <p:spPr>
          <a:xfrm>
            <a:off x="6080760" y="3246120"/>
            <a:ext cx="566928" cy="566928"/>
          </a:xfrm>
          <a:prstGeom prst="ellipse">
            <a:avLst/>
          </a:prstGeom>
          <a:solidFill>
            <a:srgbClr val="D9822B"/>
          </a:solidFill>
          <a:ln w="12700">
            <a:solidFill>
              <a:srgbClr val="D9822B"/>
            </a:solidFill>
            <a:prstDash val="solid"/>
          </a:ln>
        </p:spPr>
      </p:sp>
      <p:pic>
        <p:nvPicPr>
          <p:cNvPr id="20" name="Image 0" descr="preencoded.png">    </p:cNvPr>
          <p:cNvPicPr>
            <a:picLocks noChangeAspect="1"/>
          </p:cNvPicPr>
          <p:nvPr/>
        </p:nvPicPr>
        <p:blipFill>
          <a:blip r:embed="rId1"/>
          <a:stretch>
            <a:fillRect/>
          </a:stretch>
        </p:blipFill>
        <p:spPr>
          <a:xfrm>
            <a:off x="6216823" y="3382183"/>
            <a:ext cx="294803" cy="294803"/>
          </a:xfrm>
          <a:prstGeom prst="rect">
            <a:avLst/>
          </a:prstGeom>
        </p:spPr>
      </p:pic>
      <p:sp>
        <p:nvSpPr>
          <p:cNvPr id="21" name="Text 18"/>
          <p:cNvSpPr txBox="1"/>
          <p:nvPr/>
        </p:nvSpPr>
        <p:spPr>
          <a:xfrm>
            <a:off x="6766560" y="3291840"/>
            <a:ext cx="4754880" cy="54864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Today a human analyst performs every step, for every new attack</a:t>
            </a:r>
            <a:endParaRPr lang="en-US" sz="1400" dirty="0"/>
          </a:p>
        </p:txBody>
      </p:sp>
      <p:sp>
        <p:nvSpPr>
          <p:cNvPr id="22" name="Shape 19"/>
          <p:cNvSpPr/>
          <p:nvPr/>
        </p:nvSpPr>
        <p:spPr>
          <a:xfrm>
            <a:off x="548640" y="4800600"/>
            <a:ext cx="11094415" cy="1143000"/>
          </a:xfrm>
          <a:prstGeom prst="roundRect">
            <a:avLst>
              <a:gd name="adj" fmla="val 6400"/>
            </a:avLst>
          </a:prstGeom>
          <a:solidFill>
            <a:srgbClr val="0F2533"/>
          </a:solidFill>
          <a:ln w="12700">
            <a:solidFill>
              <a:srgbClr val="0F2533"/>
            </a:solidFill>
            <a:prstDash val="solid"/>
          </a:ln>
        </p:spPr>
      </p:sp>
      <p:sp>
        <p:nvSpPr>
          <p:cNvPr id="23" name="Text 20"/>
          <p:cNvSpPr txBox="1"/>
          <p:nvPr/>
        </p:nvSpPr>
        <p:spPr>
          <a:xfrm>
            <a:off x="914400" y="4800600"/>
            <a:ext cx="10362895" cy="1143000"/>
          </a:xfrm>
          <a:prstGeom prst="rect">
            <a:avLst/>
          </a:prstGeom>
          <a:noFill/>
          <a:ln/>
        </p:spPr>
        <p:txBody>
          <a:bodyPr wrap="square" lIns="0" tIns="0" rIns="0" bIns="0" rtlCol="0" anchor="ctr"/>
          <a:lstStyle/>
          <a:p>
            <a:pPr indent="0" marL="0">
              <a:buNone/>
            </a:pPr>
            <a:r>
              <a:rPr lang="en-US" sz="3600" b="1" dirty="0">
                <a:solidFill>
                  <a:srgbClr val="D9822B"/>
                </a:solidFill>
                <a:latin typeface="Cambria" pitchFamily="34" charset="0"/>
                <a:ea typeface="Cambria" pitchFamily="34" charset="-122"/>
                <a:cs typeface="Cambria" pitchFamily="34" charset="-120"/>
              </a:rPr>
              <a:t>52,647</a:t>
            </a:r>
            <a:pPr indent="0" marL="0">
              <a:buNone/>
            </a:pPr>
            <a:r>
              <a:rPr lang="en-US" sz="1500" dirty="0">
                <a:solidFill>
                  <a:srgbClr val="FFFFFF"/>
                </a:solidFill>
                <a:latin typeface="Calibri" pitchFamily="34" charset="0"/>
                <a:ea typeface="Calibri" pitchFamily="34" charset="-122"/>
                <a:cs typeface="Calibri" pitchFamily="34" charset="-120"/>
              </a:rPr>
              <a:t>   community rules in ET Open, and still whole attack categories went undetected</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Research question</a:t>
            </a:r>
            <a:endParaRPr lang="en-US" sz="3400" dirty="0"/>
          </a:p>
        </p:txBody>
      </p:sp>
      <p:sp>
        <p:nvSpPr>
          <p:cNvPr id="3" name="Shape 1"/>
          <p:cNvSpPr/>
          <p:nvPr/>
        </p:nvSpPr>
        <p:spPr>
          <a:xfrm>
            <a:off x="548640" y="1234440"/>
            <a:ext cx="11094415" cy="1325880"/>
          </a:xfrm>
          <a:prstGeom prst="roundRect">
            <a:avLst>
              <a:gd name="adj" fmla="val 5517"/>
            </a:avLst>
          </a:prstGeom>
          <a:solidFill>
            <a:srgbClr val="EEF3F8"/>
          </a:solidFill>
          <a:ln w="12700">
            <a:solidFill>
              <a:srgbClr val="EEF3F8"/>
            </a:solidFill>
            <a:prstDash val="solid"/>
          </a:ln>
        </p:spPr>
      </p:sp>
      <p:sp>
        <p:nvSpPr>
          <p:cNvPr id="4" name="Text 2"/>
          <p:cNvSpPr txBox="1"/>
          <p:nvPr/>
        </p:nvSpPr>
        <p:spPr>
          <a:xfrm>
            <a:off x="914400" y="1234440"/>
            <a:ext cx="10362895" cy="1325880"/>
          </a:xfrm>
          <a:prstGeom prst="rect">
            <a:avLst/>
          </a:prstGeom>
          <a:noFill/>
          <a:ln/>
        </p:spPr>
        <p:txBody>
          <a:bodyPr wrap="square" lIns="0" tIns="0" rIns="0" bIns="0" rtlCol="0" anchor="ctr"/>
          <a:lstStyle/>
          <a:p>
            <a:pPr indent="0" marL="0">
              <a:buNone/>
            </a:pPr>
            <a:r>
              <a:rPr lang="en-US" sz="2200" i="1" dirty="0">
                <a:solidFill>
                  <a:srgbClr val="0F2533"/>
                </a:solidFill>
                <a:latin typeface="Cambria" pitchFamily="34" charset="0"/>
                <a:ea typeface="Cambria" pitchFamily="34" charset="-122"/>
                <a:cs typeface="Cambria" pitchFamily="34" charset="-120"/>
              </a:rPr>
              <a:t>Can a large language model take over the analyst's role in the alert-handling loop of a rule-based IDS — and what context does it need to do that job well?</a:t>
            </a:r>
            <a:endParaRPr lang="en-US" sz="2200" dirty="0"/>
          </a:p>
        </p:txBody>
      </p:sp>
      <p:sp>
        <p:nvSpPr>
          <p:cNvPr id="5" name="Shape 3"/>
          <p:cNvSpPr/>
          <p:nvPr/>
        </p:nvSpPr>
        <p:spPr>
          <a:xfrm>
            <a:off x="548640" y="2880360"/>
            <a:ext cx="3520440" cy="2377440"/>
          </a:xfrm>
          <a:prstGeom prst="roundRect">
            <a:avLst>
              <a:gd name="adj" fmla="val 3077"/>
            </a:avLst>
          </a:prstGeom>
          <a:solidFill>
            <a:srgbClr val="EEF3F8"/>
          </a:solidFill>
          <a:ln w="12700">
            <a:solidFill>
              <a:srgbClr val="EEF3F8"/>
            </a:solidFill>
            <a:prstDash val="solid"/>
          </a:ln>
        </p:spPr>
      </p:sp>
      <p:sp>
        <p:nvSpPr>
          <p:cNvPr id="6" name="Shape 4"/>
          <p:cNvSpPr/>
          <p:nvPr/>
        </p:nvSpPr>
        <p:spPr>
          <a:xfrm>
            <a:off x="822960" y="3108960"/>
            <a:ext cx="566928" cy="566928"/>
          </a:xfrm>
          <a:prstGeom prst="ellipse">
            <a:avLst/>
          </a:prstGeom>
          <a:solidFill>
            <a:srgbClr val="1F4E79"/>
          </a:solidFill>
          <a:ln w="12700">
            <a:solidFill>
              <a:srgbClr val="1F4E79"/>
            </a:solidFill>
            <a:prstDash val="solid"/>
          </a:ln>
        </p:spPr>
      </p:sp>
      <p:pic>
        <p:nvPicPr>
          <p:cNvPr id="7" name="Image 0" descr="preencoded.png">    </p:cNvPr>
          <p:cNvPicPr>
            <a:picLocks noChangeAspect="1"/>
          </p:cNvPicPr>
          <p:nvPr/>
        </p:nvPicPr>
        <p:blipFill>
          <a:blip r:embed="rId1"/>
          <a:stretch>
            <a:fillRect/>
          </a:stretch>
        </p:blipFill>
        <p:spPr>
          <a:xfrm>
            <a:off x="959023" y="3245023"/>
            <a:ext cx="294803" cy="294803"/>
          </a:xfrm>
          <a:prstGeom prst="rect">
            <a:avLst/>
          </a:prstGeom>
        </p:spPr>
      </p:pic>
      <p:sp>
        <p:nvSpPr>
          <p:cNvPr id="8" name="Text 5"/>
          <p:cNvSpPr txBox="1"/>
          <p:nvPr/>
        </p:nvSpPr>
        <p:spPr>
          <a:xfrm>
            <a:off x="1554480" y="3154680"/>
            <a:ext cx="2286000" cy="45720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Build</a:t>
            </a:r>
            <a:endParaRPr lang="en-US" sz="2000" dirty="0"/>
          </a:p>
        </p:txBody>
      </p:sp>
      <p:sp>
        <p:nvSpPr>
          <p:cNvPr id="9" name="Text 6"/>
          <p:cNvSpPr txBox="1"/>
          <p:nvPr/>
        </p:nvSpPr>
        <p:spPr>
          <a:xfrm>
            <a:off x="822960" y="3886200"/>
            <a:ext cx="2971800" cy="128016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An agentic triage engine that investigates Suricata alerts, writes detection rules and validates them by replay</a:t>
            </a:r>
            <a:endParaRPr lang="en-US" sz="1400" dirty="0"/>
          </a:p>
        </p:txBody>
      </p:sp>
      <p:sp>
        <p:nvSpPr>
          <p:cNvPr id="10" name="Shape 7"/>
          <p:cNvSpPr/>
          <p:nvPr/>
        </p:nvSpPr>
        <p:spPr>
          <a:xfrm>
            <a:off x="4297680" y="2880360"/>
            <a:ext cx="3520440" cy="2377440"/>
          </a:xfrm>
          <a:prstGeom prst="roundRect">
            <a:avLst>
              <a:gd name="adj" fmla="val 3077"/>
            </a:avLst>
          </a:prstGeom>
          <a:solidFill>
            <a:srgbClr val="EEF3F8"/>
          </a:solidFill>
          <a:ln w="12700">
            <a:solidFill>
              <a:srgbClr val="EEF3F8"/>
            </a:solidFill>
            <a:prstDash val="solid"/>
          </a:ln>
        </p:spPr>
      </p:sp>
      <p:sp>
        <p:nvSpPr>
          <p:cNvPr id="11" name="Shape 8"/>
          <p:cNvSpPr/>
          <p:nvPr/>
        </p:nvSpPr>
        <p:spPr>
          <a:xfrm>
            <a:off x="4572000" y="3108960"/>
            <a:ext cx="566928" cy="566928"/>
          </a:xfrm>
          <a:prstGeom prst="ellipse">
            <a:avLst/>
          </a:prstGeom>
          <a:solidFill>
            <a:srgbClr val="1F4E79"/>
          </a:solidFill>
          <a:ln w="12700">
            <a:solidFill>
              <a:srgbClr val="1F4E79"/>
            </a:solidFill>
            <a:prstDash val="solid"/>
          </a:ln>
        </p:spPr>
      </p:sp>
      <p:pic>
        <p:nvPicPr>
          <p:cNvPr id="12" name="Image 1" descr="preencoded.png">    </p:cNvPr>
          <p:cNvPicPr>
            <a:picLocks noChangeAspect="1"/>
          </p:cNvPicPr>
          <p:nvPr/>
        </p:nvPicPr>
        <p:blipFill>
          <a:blip r:embed="rId2"/>
          <a:stretch>
            <a:fillRect/>
          </a:stretch>
        </p:blipFill>
        <p:spPr>
          <a:xfrm>
            <a:off x="4708063" y="3245023"/>
            <a:ext cx="294803" cy="294803"/>
          </a:xfrm>
          <a:prstGeom prst="rect">
            <a:avLst/>
          </a:prstGeom>
        </p:spPr>
      </p:pic>
      <p:sp>
        <p:nvSpPr>
          <p:cNvPr id="13" name="Text 9"/>
          <p:cNvSpPr txBox="1"/>
          <p:nvPr/>
        </p:nvSpPr>
        <p:spPr>
          <a:xfrm>
            <a:off x="5303520" y="3154680"/>
            <a:ext cx="2286000" cy="45720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Measure</a:t>
            </a:r>
            <a:endParaRPr lang="en-US" sz="2000" dirty="0"/>
          </a:p>
        </p:txBody>
      </p:sp>
      <p:sp>
        <p:nvSpPr>
          <p:cNvPr id="14" name="Text 10"/>
          <p:cNvSpPr txBox="1"/>
          <p:nvPr/>
        </p:nvSpPr>
        <p:spPr>
          <a:xfrm>
            <a:off x="4572000" y="3886200"/>
            <a:ext cx="2971800" cy="128016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Every AI-authored rule against ground-truth labels, on two datasets — one the system was never tuned for</a:t>
            </a:r>
            <a:endParaRPr lang="en-US" sz="1400" dirty="0"/>
          </a:p>
        </p:txBody>
      </p:sp>
      <p:sp>
        <p:nvSpPr>
          <p:cNvPr id="15" name="Shape 11"/>
          <p:cNvSpPr/>
          <p:nvPr/>
        </p:nvSpPr>
        <p:spPr>
          <a:xfrm>
            <a:off x="8046720" y="2880360"/>
            <a:ext cx="3520440" cy="2377440"/>
          </a:xfrm>
          <a:prstGeom prst="roundRect">
            <a:avLst>
              <a:gd name="adj" fmla="val 3077"/>
            </a:avLst>
          </a:prstGeom>
          <a:solidFill>
            <a:srgbClr val="EEF3F8"/>
          </a:solidFill>
          <a:ln w="12700">
            <a:solidFill>
              <a:srgbClr val="EEF3F8"/>
            </a:solidFill>
            <a:prstDash val="solid"/>
          </a:ln>
        </p:spPr>
      </p:sp>
      <p:sp>
        <p:nvSpPr>
          <p:cNvPr id="16" name="Shape 12"/>
          <p:cNvSpPr/>
          <p:nvPr/>
        </p:nvSpPr>
        <p:spPr>
          <a:xfrm>
            <a:off x="8321040" y="3108960"/>
            <a:ext cx="566928" cy="566928"/>
          </a:xfrm>
          <a:prstGeom prst="ellipse">
            <a:avLst/>
          </a:prstGeom>
          <a:solidFill>
            <a:srgbClr val="1F4E79"/>
          </a:solidFill>
          <a:ln w="12700">
            <a:solidFill>
              <a:srgbClr val="1F4E79"/>
            </a:solidFill>
            <a:prstDash val="solid"/>
          </a:ln>
        </p:spPr>
      </p:sp>
      <p:pic>
        <p:nvPicPr>
          <p:cNvPr id="17" name="Image 2" descr="preencoded.png">    </p:cNvPr>
          <p:cNvPicPr>
            <a:picLocks noChangeAspect="1"/>
          </p:cNvPicPr>
          <p:nvPr/>
        </p:nvPicPr>
        <p:blipFill>
          <a:blip r:embed="rId3"/>
          <a:stretch>
            <a:fillRect/>
          </a:stretch>
        </p:blipFill>
        <p:spPr>
          <a:xfrm>
            <a:off x="8457103" y="3245023"/>
            <a:ext cx="294803" cy="294803"/>
          </a:xfrm>
          <a:prstGeom prst="rect">
            <a:avLst/>
          </a:prstGeom>
        </p:spPr>
      </p:pic>
      <p:sp>
        <p:nvSpPr>
          <p:cNvPr id="18" name="Text 13"/>
          <p:cNvSpPr txBox="1"/>
          <p:nvPr/>
        </p:nvSpPr>
        <p:spPr>
          <a:xfrm>
            <a:off x="9052560" y="3154680"/>
            <a:ext cx="2286000" cy="45720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Test context</a:t>
            </a:r>
            <a:endParaRPr lang="en-US" sz="2000" dirty="0"/>
          </a:p>
        </p:txBody>
      </p:sp>
      <p:sp>
        <p:nvSpPr>
          <p:cNvPr id="19" name="Text 14"/>
          <p:cNvSpPr txBox="1"/>
          <p:nvPr/>
        </p:nvSpPr>
        <p:spPr>
          <a:xfrm>
            <a:off x="8321040" y="3886200"/>
            <a:ext cx="2971800" cy="128016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Experiment 1: triage with alert events only versus full sensor context</a:t>
            </a:r>
            <a:endParaRPr lang="en-US" sz="1400" dirty="0"/>
          </a:p>
        </p:txBody>
      </p:sp>
      <p:sp>
        <p:nvSpPr>
          <p:cNvPr id="20" name="Text 15"/>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Constraints: open-source only  ·  no machine-learning detection  ·  the model authors rules, it never classifies traffic</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Keep the engine, automate the analyst</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Three stages — detection stays deterministic, the model works around it</a:t>
            </a:r>
            <a:endParaRPr lang="en-US" sz="1600" dirty="0"/>
          </a:p>
        </p:txBody>
      </p:sp>
      <p:sp>
        <p:nvSpPr>
          <p:cNvPr id="4" name="Shape 2"/>
          <p:cNvSpPr/>
          <p:nvPr/>
        </p:nvSpPr>
        <p:spPr>
          <a:xfrm>
            <a:off x="548640" y="1783080"/>
            <a:ext cx="3429000" cy="3931920"/>
          </a:xfrm>
          <a:prstGeom prst="roundRect">
            <a:avLst>
              <a:gd name="adj" fmla="val 2133"/>
            </a:avLst>
          </a:prstGeom>
          <a:solidFill>
            <a:srgbClr val="EEF3F8"/>
          </a:solidFill>
          <a:ln w="12700">
            <a:solidFill>
              <a:srgbClr val="EEF3F8"/>
            </a:solidFill>
            <a:prstDash val="solid"/>
          </a:ln>
        </p:spPr>
      </p:sp>
      <p:sp>
        <p:nvSpPr>
          <p:cNvPr id="5" name="Shape 3"/>
          <p:cNvSpPr/>
          <p:nvPr/>
        </p:nvSpPr>
        <p:spPr>
          <a:xfrm>
            <a:off x="822960" y="2011680"/>
            <a:ext cx="640080" cy="640080"/>
          </a:xfrm>
          <a:prstGeom prst="ellipse">
            <a:avLst/>
          </a:prstGeom>
          <a:solidFill>
            <a:srgbClr val="1F4E79"/>
          </a:solidFill>
          <a:ln w="12700">
            <a:solidFill>
              <a:srgbClr val="1F4E79"/>
            </a:solidFill>
            <a:prstDash val="solid"/>
          </a:ln>
        </p:spPr>
      </p:sp>
      <p:pic>
        <p:nvPicPr>
          <p:cNvPr id="6" name="Image 0" descr="preencoded.png">    </p:cNvPr>
          <p:cNvPicPr>
            <a:picLocks noChangeAspect="1"/>
          </p:cNvPicPr>
          <p:nvPr/>
        </p:nvPicPr>
        <p:blipFill>
          <a:blip r:embed="rId1"/>
          <a:stretch>
            <a:fillRect/>
          </a:stretch>
        </p:blipFill>
        <p:spPr>
          <a:xfrm>
            <a:off x="976579" y="2165299"/>
            <a:ext cx="332842" cy="332842"/>
          </a:xfrm>
          <a:prstGeom prst="rect">
            <a:avLst/>
          </a:prstGeom>
        </p:spPr>
      </p:pic>
      <p:sp>
        <p:nvSpPr>
          <p:cNvPr id="7" name="Text 4"/>
          <p:cNvSpPr txBox="1"/>
          <p:nvPr/>
        </p:nvSpPr>
        <p:spPr>
          <a:xfrm>
            <a:off x="1645920" y="2057400"/>
            <a:ext cx="2194560" cy="54864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1  Detection</a:t>
            </a:r>
            <a:endParaRPr lang="en-US" sz="2100" dirty="0"/>
          </a:p>
        </p:txBody>
      </p:sp>
      <p:sp>
        <p:nvSpPr>
          <p:cNvPr id="8" name="Text 5"/>
          <p:cNvSpPr txBox="1"/>
          <p:nvPr/>
        </p:nvSpPr>
        <p:spPr>
          <a:xfrm>
            <a:off x="822960" y="28803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Suricata 8.0.6 replays pcap files</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ET Open ruleset, 52,647 rules</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Benign Monday baseline: 80 documented suppressions → 0 alerts</a:t>
            </a:r>
            <a:endParaRPr lang="en-US" sz="1400" dirty="0"/>
          </a:p>
        </p:txBody>
      </p:sp>
      <p:sp>
        <p:nvSpPr>
          <p:cNvPr id="9" name="Shape 6"/>
          <p:cNvSpPr/>
          <p:nvPr/>
        </p:nvSpPr>
        <p:spPr>
          <a:xfrm>
            <a:off x="3977640" y="3749040"/>
            <a:ext cx="365760" cy="0"/>
          </a:xfrm>
          <a:prstGeom prst="line">
            <a:avLst/>
          </a:prstGeom>
          <a:noFill/>
          <a:ln w="25400">
            <a:solidFill>
              <a:srgbClr val="D9822B"/>
            </a:solidFill>
            <a:prstDash val="solid"/>
            <a:tailEnd type="triangle"/>
          </a:ln>
        </p:spPr>
      </p:sp>
      <p:sp>
        <p:nvSpPr>
          <p:cNvPr id="10" name="Shape 7"/>
          <p:cNvSpPr/>
          <p:nvPr/>
        </p:nvSpPr>
        <p:spPr>
          <a:xfrm>
            <a:off x="4343400" y="1783080"/>
            <a:ext cx="3429000" cy="3931920"/>
          </a:xfrm>
          <a:prstGeom prst="roundRect">
            <a:avLst>
              <a:gd name="adj" fmla="val 2133"/>
            </a:avLst>
          </a:prstGeom>
          <a:solidFill>
            <a:srgbClr val="EEF3F8"/>
          </a:solidFill>
          <a:ln w="12700">
            <a:solidFill>
              <a:srgbClr val="EEF3F8"/>
            </a:solidFill>
            <a:prstDash val="solid"/>
          </a:ln>
        </p:spPr>
      </p:sp>
      <p:sp>
        <p:nvSpPr>
          <p:cNvPr id="11" name="Shape 8"/>
          <p:cNvSpPr/>
          <p:nvPr/>
        </p:nvSpPr>
        <p:spPr>
          <a:xfrm>
            <a:off x="4617720" y="2011680"/>
            <a:ext cx="640080" cy="640080"/>
          </a:xfrm>
          <a:prstGeom prst="ellipse">
            <a:avLst/>
          </a:prstGeom>
          <a:solidFill>
            <a:srgbClr val="D9822B"/>
          </a:solidFill>
          <a:ln w="12700">
            <a:solidFill>
              <a:srgbClr val="D9822B"/>
            </a:solidFill>
            <a:prstDash val="solid"/>
          </a:ln>
        </p:spPr>
      </p:sp>
      <p:pic>
        <p:nvPicPr>
          <p:cNvPr id="12" name="Image 1" descr="preencoded.png">    </p:cNvPr>
          <p:cNvPicPr>
            <a:picLocks noChangeAspect="1"/>
          </p:cNvPicPr>
          <p:nvPr/>
        </p:nvPicPr>
        <p:blipFill>
          <a:blip r:embed="rId2"/>
          <a:stretch>
            <a:fillRect/>
          </a:stretch>
        </p:blipFill>
        <p:spPr>
          <a:xfrm>
            <a:off x="4771339" y="2165299"/>
            <a:ext cx="332842" cy="332842"/>
          </a:xfrm>
          <a:prstGeom prst="rect">
            <a:avLst/>
          </a:prstGeom>
        </p:spPr>
      </p:pic>
      <p:sp>
        <p:nvSpPr>
          <p:cNvPr id="13" name="Text 9"/>
          <p:cNvSpPr txBox="1"/>
          <p:nvPr/>
        </p:nvSpPr>
        <p:spPr>
          <a:xfrm>
            <a:off x="5440680" y="2057400"/>
            <a:ext cx="2194560" cy="54864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2  Triage</a:t>
            </a:r>
            <a:endParaRPr lang="en-US" sz="2100" dirty="0"/>
          </a:p>
        </p:txBody>
      </p:sp>
      <p:sp>
        <p:nvSpPr>
          <p:cNvPr id="14" name="Text 10"/>
          <p:cNvSpPr txBox="1"/>
          <p:nvPr/>
        </p:nvSpPr>
        <p:spPr>
          <a:xfrm>
            <a:off x="4617720" y="28803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LLM agent investigates eve.json</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Six-step procedure: big picture → categorise → investigate → deep-dive → act → report</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8 tools, no free shell access</a:t>
            </a:r>
            <a:endParaRPr lang="en-US" sz="1400" dirty="0"/>
          </a:p>
        </p:txBody>
      </p:sp>
      <p:sp>
        <p:nvSpPr>
          <p:cNvPr id="15" name="Shape 11"/>
          <p:cNvSpPr/>
          <p:nvPr/>
        </p:nvSpPr>
        <p:spPr>
          <a:xfrm>
            <a:off x="7772400" y="3749040"/>
            <a:ext cx="365760" cy="0"/>
          </a:xfrm>
          <a:prstGeom prst="line">
            <a:avLst/>
          </a:prstGeom>
          <a:noFill/>
          <a:ln w="25400">
            <a:solidFill>
              <a:srgbClr val="D9822B"/>
            </a:solidFill>
            <a:prstDash val="solid"/>
            <a:tailEnd type="triangle"/>
          </a:ln>
        </p:spPr>
      </p:sp>
      <p:sp>
        <p:nvSpPr>
          <p:cNvPr id="16" name="Shape 12"/>
          <p:cNvSpPr/>
          <p:nvPr/>
        </p:nvSpPr>
        <p:spPr>
          <a:xfrm>
            <a:off x="8138160" y="1783080"/>
            <a:ext cx="3429000" cy="3931920"/>
          </a:xfrm>
          <a:prstGeom prst="roundRect">
            <a:avLst>
              <a:gd name="adj" fmla="val 2133"/>
            </a:avLst>
          </a:prstGeom>
          <a:solidFill>
            <a:srgbClr val="EEF3F8"/>
          </a:solidFill>
          <a:ln w="12700">
            <a:solidFill>
              <a:srgbClr val="EEF3F8"/>
            </a:solidFill>
            <a:prstDash val="solid"/>
          </a:ln>
        </p:spPr>
      </p:sp>
      <p:sp>
        <p:nvSpPr>
          <p:cNvPr id="17" name="Shape 13"/>
          <p:cNvSpPr/>
          <p:nvPr/>
        </p:nvSpPr>
        <p:spPr>
          <a:xfrm>
            <a:off x="8412480" y="2011680"/>
            <a:ext cx="640080" cy="640080"/>
          </a:xfrm>
          <a:prstGeom prst="ellipse">
            <a:avLst/>
          </a:prstGeom>
          <a:solidFill>
            <a:srgbClr val="1F4E79"/>
          </a:solidFill>
          <a:ln w="12700">
            <a:solidFill>
              <a:srgbClr val="1F4E79"/>
            </a:solidFill>
            <a:prstDash val="solid"/>
          </a:ln>
        </p:spPr>
      </p:sp>
      <p:pic>
        <p:nvPicPr>
          <p:cNvPr id="18" name="Image 2" descr="preencoded.png">    </p:cNvPr>
          <p:cNvPicPr>
            <a:picLocks noChangeAspect="1"/>
          </p:cNvPicPr>
          <p:nvPr/>
        </p:nvPicPr>
        <p:blipFill>
          <a:blip r:embed="rId3"/>
          <a:stretch>
            <a:fillRect/>
          </a:stretch>
        </p:blipFill>
        <p:spPr>
          <a:xfrm>
            <a:off x="8566099" y="2165299"/>
            <a:ext cx="332842" cy="332842"/>
          </a:xfrm>
          <a:prstGeom prst="rect">
            <a:avLst/>
          </a:prstGeom>
        </p:spPr>
      </p:pic>
      <p:sp>
        <p:nvSpPr>
          <p:cNvPr id="19" name="Text 14"/>
          <p:cNvSpPr txBox="1"/>
          <p:nvPr/>
        </p:nvSpPr>
        <p:spPr>
          <a:xfrm>
            <a:off x="9235440" y="2057400"/>
            <a:ext cx="2194560" cy="54864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3  Output</a:t>
            </a:r>
            <a:endParaRPr lang="en-US" sz="2100" dirty="0"/>
          </a:p>
        </p:txBody>
      </p:sp>
      <p:sp>
        <p:nvSpPr>
          <p:cNvPr id="20" name="Text 15"/>
          <p:cNvSpPr txBox="1"/>
          <p:nvPr/>
        </p:nvSpPr>
        <p:spPr>
          <a:xfrm>
            <a:off x="8412480" y="28803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Threat → write rule → validate by replay → auto-deploy</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Benign noise → propose suppression → human approval</a:t>
            </a:r>
            <a:endParaRPr lang="en-US" sz="1400" dirty="0"/>
          </a:p>
        </p:txBody>
      </p:sp>
      <p:sp>
        <p:nvSpPr>
          <p:cNvPr id="21" name="Text 16"/>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Design decisions: alert-only rules (a Suricata 'pass' rule would stop inspecting the whole flow); offline pcap replay; all tuning in threshold.config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Tech stack and architecture</a:t>
            </a:r>
            <a:endParaRPr lang="en-US" sz="3400" dirty="0"/>
          </a:p>
        </p:txBody>
      </p:sp>
      <p:sp>
        <p:nvSpPr>
          <p:cNvPr id="3" name="Shape 1"/>
          <p:cNvSpPr/>
          <p:nvPr/>
        </p:nvSpPr>
        <p:spPr>
          <a:xfrm>
            <a:off x="548640" y="1554480"/>
            <a:ext cx="1737360" cy="822960"/>
          </a:xfrm>
          <a:prstGeom prst="roundRect">
            <a:avLst>
              <a:gd name="adj" fmla="val 8889"/>
            </a:avLst>
          </a:prstGeom>
          <a:solidFill>
            <a:srgbClr val="EEF3F8"/>
          </a:solidFill>
          <a:ln w="12700">
            <a:solidFill>
              <a:srgbClr val="EEF3F8"/>
            </a:solidFill>
            <a:prstDash val="solid"/>
          </a:ln>
        </p:spPr>
      </p:sp>
      <p:sp>
        <p:nvSpPr>
          <p:cNvPr id="4" name="Text 2"/>
          <p:cNvSpPr txBox="1"/>
          <p:nvPr/>
        </p:nvSpPr>
        <p:spPr>
          <a:xfrm>
            <a:off x="548640" y="155448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pcap captures</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CIC-IDS2017 · UNSW-NB15</a:t>
            </a:r>
            <a:endParaRPr lang="en-US" sz="1300" dirty="0"/>
          </a:p>
        </p:txBody>
      </p:sp>
      <p:sp>
        <p:nvSpPr>
          <p:cNvPr id="5" name="Shape 3"/>
          <p:cNvSpPr/>
          <p:nvPr/>
        </p:nvSpPr>
        <p:spPr>
          <a:xfrm>
            <a:off x="2743200" y="1554480"/>
            <a:ext cx="1737360" cy="822960"/>
          </a:xfrm>
          <a:prstGeom prst="roundRect">
            <a:avLst>
              <a:gd name="adj" fmla="val 8889"/>
            </a:avLst>
          </a:prstGeom>
          <a:solidFill>
            <a:srgbClr val="1F4E79"/>
          </a:solidFill>
          <a:ln w="12700">
            <a:solidFill>
              <a:srgbClr val="1F4E79"/>
            </a:solidFill>
            <a:prstDash val="solid"/>
          </a:ln>
        </p:spPr>
      </p:sp>
      <p:sp>
        <p:nvSpPr>
          <p:cNvPr id="6" name="Text 4"/>
          <p:cNvSpPr txBox="1"/>
          <p:nvPr/>
        </p:nvSpPr>
        <p:spPr>
          <a:xfrm>
            <a:off x="2743200" y="1554480"/>
            <a:ext cx="173736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Suricata 8.0.6</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ET Open + AI rules</a:t>
            </a:r>
            <a:endParaRPr lang="en-US" sz="1300" dirty="0"/>
          </a:p>
        </p:txBody>
      </p:sp>
      <p:sp>
        <p:nvSpPr>
          <p:cNvPr id="7" name="Shape 5"/>
          <p:cNvSpPr/>
          <p:nvPr/>
        </p:nvSpPr>
        <p:spPr>
          <a:xfrm>
            <a:off x="4937760" y="1554480"/>
            <a:ext cx="1737360" cy="822960"/>
          </a:xfrm>
          <a:prstGeom prst="roundRect">
            <a:avLst>
              <a:gd name="adj" fmla="val 8889"/>
            </a:avLst>
          </a:prstGeom>
          <a:solidFill>
            <a:srgbClr val="EEF3F8"/>
          </a:solidFill>
          <a:ln w="12700">
            <a:solidFill>
              <a:srgbClr val="EEF3F8"/>
            </a:solidFill>
            <a:prstDash val="solid"/>
          </a:ln>
        </p:spPr>
      </p:sp>
      <p:sp>
        <p:nvSpPr>
          <p:cNvPr id="8" name="Text 6"/>
          <p:cNvSpPr txBox="1"/>
          <p:nvPr/>
        </p:nvSpPr>
        <p:spPr>
          <a:xfrm>
            <a:off x="4937760" y="155448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eve.json (NDJSON)</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alerts · flows · app-layer</a:t>
            </a:r>
            <a:endParaRPr lang="en-US" sz="1300" dirty="0"/>
          </a:p>
        </p:txBody>
      </p:sp>
      <p:sp>
        <p:nvSpPr>
          <p:cNvPr id="9" name="Shape 7"/>
          <p:cNvSpPr/>
          <p:nvPr/>
        </p:nvSpPr>
        <p:spPr>
          <a:xfrm>
            <a:off x="4937760" y="3063240"/>
            <a:ext cx="1737360" cy="1005840"/>
          </a:xfrm>
          <a:prstGeom prst="roundRect">
            <a:avLst>
              <a:gd name="adj" fmla="val 7273"/>
            </a:avLst>
          </a:prstGeom>
          <a:solidFill>
            <a:srgbClr val="D9822B"/>
          </a:solidFill>
          <a:ln w="12700">
            <a:solidFill>
              <a:srgbClr val="D9822B"/>
            </a:solidFill>
            <a:prstDash val="solid"/>
          </a:ln>
        </p:spPr>
      </p:sp>
      <p:sp>
        <p:nvSpPr>
          <p:cNvPr id="10" name="Text 8"/>
          <p:cNvSpPr txBox="1"/>
          <p:nvPr/>
        </p:nvSpPr>
        <p:spPr>
          <a:xfrm>
            <a:off x="4937760" y="3063240"/>
            <a:ext cx="173736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Triage engine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(Python, agentic loop)</a:t>
            </a:r>
            <a:endParaRPr lang="en-US" sz="1300" dirty="0"/>
          </a:p>
        </p:txBody>
      </p:sp>
      <p:sp>
        <p:nvSpPr>
          <p:cNvPr id="11" name="Shape 9"/>
          <p:cNvSpPr/>
          <p:nvPr/>
        </p:nvSpPr>
        <p:spPr>
          <a:xfrm>
            <a:off x="2377440" y="3063240"/>
            <a:ext cx="2103120" cy="1005840"/>
          </a:xfrm>
          <a:prstGeom prst="roundRect">
            <a:avLst>
              <a:gd name="adj" fmla="val 7273"/>
            </a:avLst>
          </a:prstGeom>
          <a:solidFill>
            <a:srgbClr val="EEF3F8"/>
          </a:solidFill>
          <a:ln w="12700">
            <a:solidFill>
              <a:srgbClr val="EEF3F8"/>
            </a:solidFill>
            <a:prstDash val="solid"/>
          </a:ln>
        </p:spPr>
      </p:sp>
      <p:sp>
        <p:nvSpPr>
          <p:cNvPr id="12" name="Text 10"/>
          <p:cNvSpPr txBox="1"/>
          <p:nvPr/>
        </p:nvSpPr>
        <p:spPr>
          <a:xfrm>
            <a:off x="2377440" y="3063240"/>
            <a:ext cx="2103120" cy="100584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Provider adapter</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identical prompt + tools</a:t>
            </a:r>
            <a:endParaRPr lang="en-US" sz="1300" dirty="0"/>
          </a:p>
        </p:txBody>
      </p:sp>
      <p:sp>
        <p:nvSpPr>
          <p:cNvPr id="13" name="Shape 11"/>
          <p:cNvSpPr/>
          <p:nvPr/>
        </p:nvSpPr>
        <p:spPr>
          <a:xfrm>
            <a:off x="548640" y="4572000"/>
            <a:ext cx="1737360" cy="685800"/>
          </a:xfrm>
          <a:prstGeom prst="roundRect">
            <a:avLst>
              <a:gd name="adj" fmla="val 10667"/>
            </a:avLst>
          </a:prstGeom>
          <a:solidFill>
            <a:srgbClr val="1F4E79"/>
          </a:solidFill>
          <a:ln w="12700">
            <a:solidFill>
              <a:srgbClr val="1F4E79"/>
            </a:solidFill>
            <a:prstDash val="solid"/>
          </a:ln>
        </p:spPr>
      </p:sp>
      <p:sp>
        <p:nvSpPr>
          <p:cNvPr id="14" name="Text 12"/>
          <p:cNvSpPr txBox="1"/>
          <p:nvPr/>
        </p:nvSpPr>
        <p:spPr>
          <a:xfrm>
            <a:off x="548640" y="4572000"/>
            <a:ext cx="17373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Claude Opus 5</a:t>
            </a:r>
            <a:endParaRPr lang="en-US" sz="1300" dirty="0"/>
          </a:p>
        </p:txBody>
      </p:sp>
      <p:sp>
        <p:nvSpPr>
          <p:cNvPr id="15" name="Shape 13"/>
          <p:cNvSpPr/>
          <p:nvPr/>
        </p:nvSpPr>
        <p:spPr>
          <a:xfrm>
            <a:off x="2514600" y="4572000"/>
            <a:ext cx="1737360" cy="685800"/>
          </a:xfrm>
          <a:prstGeom prst="roundRect">
            <a:avLst>
              <a:gd name="adj" fmla="val 10667"/>
            </a:avLst>
          </a:prstGeom>
          <a:solidFill>
            <a:srgbClr val="1F4E79"/>
          </a:solidFill>
          <a:ln w="12700">
            <a:solidFill>
              <a:srgbClr val="1F4E79"/>
            </a:solidFill>
            <a:prstDash val="solid"/>
          </a:ln>
        </p:spPr>
      </p:sp>
      <p:sp>
        <p:nvSpPr>
          <p:cNvPr id="16" name="Text 14"/>
          <p:cNvSpPr txBox="1"/>
          <p:nvPr/>
        </p:nvSpPr>
        <p:spPr>
          <a:xfrm>
            <a:off x="2514600" y="4572000"/>
            <a:ext cx="17373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DeepSeek V3 / V4 Pro</a:t>
            </a:r>
            <a:endParaRPr lang="en-US" sz="1300" dirty="0"/>
          </a:p>
        </p:txBody>
      </p:sp>
      <p:sp>
        <p:nvSpPr>
          <p:cNvPr id="17" name="Shape 15"/>
          <p:cNvSpPr/>
          <p:nvPr/>
        </p:nvSpPr>
        <p:spPr>
          <a:xfrm>
            <a:off x="4937760" y="4800600"/>
            <a:ext cx="1737360" cy="868680"/>
          </a:xfrm>
          <a:prstGeom prst="roundRect">
            <a:avLst>
              <a:gd name="adj" fmla="val 8421"/>
            </a:avLst>
          </a:prstGeom>
          <a:solidFill>
            <a:srgbClr val="EEF3F8"/>
          </a:solidFill>
          <a:ln w="12700">
            <a:solidFill>
              <a:srgbClr val="EEF3F8"/>
            </a:solidFill>
            <a:prstDash val="solid"/>
          </a:ln>
        </p:spPr>
      </p:sp>
      <p:sp>
        <p:nvSpPr>
          <p:cNvPr id="18" name="Text 16"/>
          <p:cNvSpPr txBox="1"/>
          <p:nvPr/>
        </p:nvSpPr>
        <p:spPr>
          <a:xfrm>
            <a:off x="4937760" y="4800600"/>
            <a:ext cx="1737360" cy="86868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rules/generated/</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replay-validated</a:t>
            </a:r>
            <a:endParaRPr lang="en-US" sz="1300" dirty="0"/>
          </a:p>
        </p:txBody>
      </p:sp>
      <p:sp>
        <p:nvSpPr>
          <p:cNvPr id="19" name="Shape 17"/>
          <p:cNvSpPr/>
          <p:nvPr/>
        </p:nvSpPr>
        <p:spPr>
          <a:xfrm>
            <a:off x="7223760" y="3063240"/>
            <a:ext cx="1645920" cy="1005840"/>
          </a:xfrm>
          <a:prstGeom prst="roundRect">
            <a:avLst>
              <a:gd name="adj" fmla="val 7273"/>
            </a:avLst>
          </a:prstGeom>
          <a:solidFill>
            <a:srgbClr val="EEF3F8"/>
          </a:solidFill>
          <a:ln w="12700">
            <a:solidFill>
              <a:srgbClr val="EEF3F8"/>
            </a:solidFill>
            <a:prstDash val="solid"/>
          </a:ln>
        </p:spPr>
      </p:sp>
      <p:sp>
        <p:nvSpPr>
          <p:cNvPr id="20" name="Text 18"/>
          <p:cNvSpPr txBox="1"/>
          <p:nvPr/>
        </p:nvSpPr>
        <p:spPr>
          <a:xfrm>
            <a:off x="7223760" y="3063240"/>
            <a:ext cx="1645920" cy="100584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Web UI</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FastAPI + SSE stream</a:t>
            </a:r>
            <a:endParaRPr lang="en-US" sz="1300" dirty="0"/>
          </a:p>
        </p:txBody>
      </p:sp>
      <p:sp>
        <p:nvSpPr>
          <p:cNvPr id="21" name="Shape 19"/>
          <p:cNvSpPr/>
          <p:nvPr/>
        </p:nvSpPr>
        <p:spPr>
          <a:xfrm>
            <a:off x="2286000" y="1965960"/>
            <a:ext cx="457200" cy="0"/>
          </a:xfrm>
          <a:prstGeom prst="line">
            <a:avLst/>
          </a:prstGeom>
          <a:noFill/>
          <a:ln w="25400">
            <a:solidFill>
              <a:srgbClr val="5B6B7A"/>
            </a:solidFill>
            <a:prstDash val="solid"/>
            <a:tailEnd type="triangle"/>
          </a:ln>
        </p:spPr>
      </p:sp>
      <p:sp>
        <p:nvSpPr>
          <p:cNvPr id="22" name="Shape 20"/>
          <p:cNvSpPr/>
          <p:nvPr/>
        </p:nvSpPr>
        <p:spPr>
          <a:xfrm>
            <a:off x="4480560" y="1965960"/>
            <a:ext cx="457200" cy="0"/>
          </a:xfrm>
          <a:prstGeom prst="line">
            <a:avLst/>
          </a:prstGeom>
          <a:noFill/>
          <a:ln w="25400">
            <a:solidFill>
              <a:srgbClr val="5B6B7A"/>
            </a:solidFill>
            <a:prstDash val="solid"/>
            <a:tailEnd type="triangle"/>
          </a:ln>
        </p:spPr>
      </p:sp>
      <p:sp>
        <p:nvSpPr>
          <p:cNvPr id="23" name="Shape 21"/>
          <p:cNvSpPr/>
          <p:nvPr/>
        </p:nvSpPr>
        <p:spPr>
          <a:xfrm>
            <a:off x="5806440" y="2377440"/>
            <a:ext cx="0" cy="685800"/>
          </a:xfrm>
          <a:prstGeom prst="line">
            <a:avLst/>
          </a:prstGeom>
          <a:noFill/>
          <a:ln w="25400">
            <a:solidFill>
              <a:srgbClr val="5B6B7A"/>
            </a:solidFill>
            <a:prstDash val="solid"/>
            <a:tailEnd type="triangle"/>
          </a:ln>
        </p:spPr>
      </p:sp>
      <p:sp>
        <p:nvSpPr>
          <p:cNvPr id="24" name="Shape 22"/>
          <p:cNvSpPr/>
          <p:nvPr/>
        </p:nvSpPr>
        <p:spPr>
          <a:xfrm flipH="1">
            <a:off x="4480560" y="3566160"/>
            <a:ext cx="457200" cy="0"/>
          </a:xfrm>
          <a:prstGeom prst="line">
            <a:avLst/>
          </a:prstGeom>
          <a:noFill/>
          <a:ln w="25400">
            <a:solidFill>
              <a:srgbClr val="5B6B7A"/>
            </a:solidFill>
            <a:prstDash val="solid"/>
            <a:tailEnd type="triangle"/>
          </a:ln>
        </p:spPr>
      </p:sp>
      <p:sp>
        <p:nvSpPr>
          <p:cNvPr id="25" name="Shape 23"/>
          <p:cNvSpPr/>
          <p:nvPr/>
        </p:nvSpPr>
        <p:spPr>
          <a:xfrm flipH="1">
            <a:off x="1417320" y="4069080"/>
            <a:ext cx="1508760" cy="502920"/>
          </a:xfrm>
          <a:prstGeom prst="line">
            <a:avLst/>
          </a:prstGeom>
          <a:noFill/>
          <a:ln w="25400">
            <a:solidFill>
              <a:srgbClr val="5B6B7A"/>
            </a:solidFill>
            <a:prstDash val="solid"/>
            <a:tailEnd type="triangle"/>
          </a:ln>
        </p:spPr>
      </p:sp>
      <p:sp>
        <p:nvSpPr>
          <p:cNvPr id="26" name="Shape 24"/>
          <p:cNvSpPr/>
          <p:nvPr/>
        </p:nvSpPr>
        <p:spPr>
          <a:xfrm flipH="1">
            <a:off x="3383280" y="4069080"/>
            <a:ext cx="45720" cy="502920"/>
          </a:xfrm>
          <a:prstGeom prst="line">
            <a:avLst/>
          </a:prstGeom>
          <a:noFill/>
          <a:ln w="25400">
            <a:solidFill>
              <a:srgbClr val="5B6B7A"/>
            </a:solidFill>
            <a:prstDash val="solid"/>
            <a:tailEnd type="triangle"/>
          </a:ln>
        </p:spPr>
      </p:sp>
      <p:sp>
        <p:nvSpPr>
          <p:cNvPr id="27" name="Shape 25"/>
          <p:cNvSpPr/>
          <p:nvPr/>
        </p:nvSpPr>
        <p:spPr>
          <a:xfrm>
            <a:off x="5806440" y="4069080"/>
            <a:ext cx="0" cy="731520"/>
          </a:xfrm>
          <a:prstGeom prst="line">
            <a:avLst/>
          </a:prstGeom>
          <a:noFill/>
          <a:ln w="25400">
            <a:solidFill>
              <a:srgbClr val="5B6B7A"/>
            </a:solidFill>
            <a:prstDash val="solid"/>
            <a:tailEnd type="triangle"/>
          </a:ln>
        </p:spPr>
      </p:sp>
      <p:sp>
        <p:nvSpPr>
          <p:cNvPr id="28" name="Shape 26"/>
          <p:cNvSpPr/>
          <p:nvPr/>
        </p:nvSpPr>
        <p:spPr>
          <a:xfrm>
            <a:off x="6675120" y="3566160"/>
            <a:ext cx="548640" cy="0"/>
          </a:xfrm>
          <a:prstGeom prst="line">
            <a:avLst/>
          </a:prstGeom>
          <a:noFill/>
          <a:ln w="25400">
            <a:solidFill>
              <a:srgbClr val="5B6B7A"/>
            </a:solidFill>
            <a:prstDash val="solid"/>
            <a:tailEnd type="triangle"/>
          </a:ln>
        </p:spPr>
      </p:sp>
      <p:sp>
        <p:nvSpPr>
          <p:cNvPr id="29" name="Shape 27"/>
          <p:cNvSpPr/>
          <p:nvPr/>
        </p:nvSpPr>
        <p:spPr>
          <a:xfrm>
            <a:off x="6675120" y="5230368"/>
            <a:ext cx="320040" cy="0"/>
          </a:xfrm>
          <a:prstGeom prst="line">
            <a:avLst/>
          </a:prstGeom>
          <a:noFill/>
          <a:ln w="19050">
            <a:solidFill>
              <a:srgbClr val="5B6B7A"/>
            </a:solidFill>
            <a:prstDash val="dash"/>
          </a:ln>
        </p:spPr>
      </p:sp>
      <p:sp>
        <p:nvSpPr>
          <p:cNvPr id="30" name="Shape 28"/>
          <p:cNvSpPr/>
          <p:nvPr/>
        </p:nvSpPr>
        <p:spPr>
          <a:xfrm flipV="1">
            <a:off x="6995160" y="1298448"/>
            <a:ext cx="0" cy="3931920"/>
          </a:xfrm>
          <a:prstGeom prst="line">
            <a:avLst/>
          </a:prstGeom>
          <a:noFill/>
          <a:ln w="19050">
            <a:solidFill>
              <a:srgbClr val="5B6B7A"/>
            </a:solidFill>
            <a:prstDash val="dash"/>
          </a:ln>
        </p:spPr>
      </p:sp>
      <p:sp>
        <p:nvSpPr>
          <p:cNvPr id="31" name="Shape 29"/>
          <p:cNvSpPr/>
          <p:nvPr/>
        </p:nvSpPr>
        <p:spPr>
          <a:xfrm flipH="1">
            <a:off x="3611880" y="1298448"/>
            <a:ext cx="3383280" cy="0"/>
          </a:xfrm>
          <a:prstGeom prst="line">
            <a:avLst/>
          </a:prstGeom>
          <a:noFill/>
          <a:ln w="19050">
            <a:solidFill>
              <a:srgbClr val="5B6B7A"/>
            </a:solidFill>
            <a:prstDash val="dash"/>
          </a:ln>
        </p:spPr>
      </p:sp>
      <p:sp>
        <p:nvSpPr>
          <p:cNvPr id="32" name="Shape 30"/>
          <p:cNvSpPr/>
          <p:nvPr/>
        </p:nvSpPr>
        <p:spPr>
          <a:xfrm>
            <a:off x="3611880" y="1298448"/>
            <a:ext cx="0" cy="256032"/>
          </a:xfrm>
          <a:prstGeom prst="line">
            <a:avLst/>
          </a:prstGeom>
          <a:noFill/>
          <a:ln w="19050">
            <a:solidFill>
              <a:srgbClr val="5B6B7A"/>
            </a:solidFill>
            <a:prstDash val="dash"/>
            <a:tailEnd type="triangle"/>
          </a:ln>
        </p:spPr>
      </p:sp>
      <p:sp>
        <p:nvSpPr>
          <p:cNvPr id="33" name="Text 31"/>
          <p:cNvSpPr txBox="1"/>
          <p:nvPr/>
        </p:nvSpPr>
        <p:spPr>
          <a:xfrm>
            <a:off x="3931920" y="1069848"/>
            <a:ext cx="3017520" cy="219456"/>
          </a:xfrm>
          <a:prstGeom prst="rect">
            <a:avLst/>
          </a:prstGeom>
          <a:noFill/>
          <a:ln/>
        </p:spPr>
        <p:txBody>
          <a:bodyPr wrap="square" lIns="0" tIns="0" rIns="0" bIns="0" rtlCol="0" anchor="t"/>
          <a:lstStyle/>
          <a:p>
            <a:pPr indent="0" marL="0">
              <a:buNone/>
            </a:pPr>
            <a:r>
              <a:rPr lang="en-US" sz="1000" i="1" dirty="0">
                <a:solidFill>
                  <a:srgbClr val="5B6B7A"/>
                </a:solidFill>
                <a:latin typeface="Calibri" pitchFamily="34" charset="0"/>
                <a:ea typeface="Calibri" pitchFamily="34" charset="-122"/>
                <a:cs typeface="Calibri" pitchFamily="34" charset="-120"/>
              </a:rPr>
              <a:t>new rules are loaded into the next replay</a:t>
            </a:r>
            <a:endParaRPr lang="en-US" sz="1000" dirty="0"/>
          </a:p>
        </p:txBody>
      </p:sp>
      <p:sp>
        <p:nvSpPr>
          <p:cNvPr id="34" name="Shape 32"/>
          <p:cNvSpPr/>
          <p:nvPr/>
        </p:nvSpPr>
        <p:spPr>
          <a:xfrm>
            <a:off x="9235440" y="1554480"/>
            <a:ext cx="2404872" cy="4114800"/>
          </a:xfrm>
          <a:prstGeom prst="roundRect">
            <a:avLst>
              <a:gd name="adj" fmla="val 3042"/>
            </a:avLst>
          </a:prstGeom>
          <a:solidFill>
            <a:srgbClr val="0F2533"/>
          </a:solidFill>
          <a:ln w="12700">
            <a:solidFill>
              <a:srgbClr val="0F2533"/>
            </a:solidFill>
            <a:prstDash val="solid"/>
          </a:ln>
        </p:spPr>
      </p:sp>
      <p:sp>
        <p:nvSpPr>
          <p:cNvPr id="35" name="Text 33"/>
          <p:cNvSpPr txBox="1"/>
          <p:nvPr/>
        </p:nvSpPr>
        <p:spPr>
          <a:xfrm>
            <a:off x="9464040" y="1691640"/>
            <a:ext cx="2011680" cy="411480"/>
          </a:xfrm>
          <a:prstGeom prst="rect">
            <a:avLst/>
          </a:prstGeom>
          <a:noFill/>
          <a:ln/>
        </p:spPr>
        <p:txBody>
          <a:bodyPr wrap="square" lIns="0" tIns="0" rIns="0" bIns="0" rtlCol="0" anchor="t"/>
          <a:lstStyle/>
          <a:p>
            <a:pPr indent="0" marL="0">
              <a:buNone/>
            </a:pPr>
            <a:r>
              <a:rPr lang="en-US" sz="1800" b="1" dirty="0">
                <a:solidFill>
                  <a:srgbClr val="D9822B"/>
                </a:solidFill>
                <a:latin typeface="Cambria" pitchFamily="34" charset="0"/>
                <a:ea typeface="Cambria" pitchFamily="34" charset="-122"/>
                <a:cs typeface="Cambria" pitchFamily="34" charset="-120"/>
              </a:rPr>
              <a:t>Stack</a:t>
            </a:r>
            <a:endParaRPr lang="en-US" sz="1800" dirty="0"/>
          </a:p>
        </p:txBody>
      </p:sp>
      <p:sp>
        <p:nvSpPr>
          <p:cNvPr id="36" name="Text 34"/>
          <p:cNvSpPr txBox="1"/>
          <p:nvPr/>
        </p:nvSpPr>
        <p:spPr>
          <a:xfrm>
            <a:off x="9464040" y="2194560"/>
            <a:ext cx="2057400" cy="3291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Suricata 8.0.6 (IDS engine)</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ET Open ruleset</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jq over NDJSON</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Python 3 triage engine</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Anthropic + DeepSeek APIs</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FastAPI + Server-Sent Events</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Ubuntu on WSL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Giving the model agentic capability</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A tool-calling loop: the model chooses actions, the engine executes them through validated tools</a:t>
            </a:r>
            <a:endParaRPr lang="en-US" sz="1600" dirty="0"/>
          </a:p>
        </p:txBody>
      </p:sp>
      <p:sp>
        <p:nvSpPr>
          <p:cNvPr id="4" name="Shape 2"/>
          <p:cNvSpPr/>
          <p:nvPr/>
        </p:nvSpPr>
        <p:spPr>
          <a:xfrm>
            <a:off x="640080" y="1874520"/>
            <a:ext cx="2148840" cy="1417320"/>
          </a:xfrm>
          <a:prstGeom prst="roundRect">
            <a:avLst>
              <a:gd name="adj" fmla="val 5161"/>
            </a:avLst>
          </a:prstGeom>
          <a:solidFill>
            <a:srgbClr val="EEF3F8"/>
          </a:solidFill>
          <a:ln w="12700">
            <a:solidFill>
              <a:srgbClr val="EEF3F8"/>
            </a:solidFill>
            <a:prstDash val="solid"/>
          </a:ln>
        </p:spPr>
      </p:sp>
      <p:sp>
        <p:nvSpPr>
          <p:cNvPr id="5" name="Text 3"/>
          <p:cNvSpPr txBox="1"/>
          <p:nvPr/>
        </p:nvSpPr>
        <p:spPr>
          <a:xfrm>
            <a:off x="822960" y="1984248"/>
            <a:ext cx="457200" cy="411480"/>
          </a:xfrm>
          <a:prstGeom prst="rect">
            <a:avLst/>
          </a:prstGeom>
          <a:noFill/>
          <a:ln/>
        </p:spPr>
        <p:txBody>
          <a:bodyPr wrap="square" lIns="0" tIns="0" rIns="0" bIns="0" rtlCol="0" anchor="t"/>
          <a:lstStyle/>
          <a:p>
            <a:pPr indent="0" marL="0">
              <a:buNone/>
            </a:pPr>
            <a:r>
              <a:rPr lang="en-US" sz="2200" b="1" dirty="0">
                <a:solidFill>
                  <a:srgbClr val="D9822B"/>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822960" y="2377440"/>
            <a:ext cx="1783080" cy="868680"/>
          </a:xfrm>
          <a:prstGeom prst="rect">
            <a:avLst/>
          </a:prstGeom>
          <a:noFill/>
          <a:ln/>
        </p:spPr>
        <p:txBody>
          <a:bodyPr wrap="square" lIns="0" tIns="0" rIns="0" bIns="0" rtlCol="0" anchor="t"/>
          <a:lstStyle/>
          <a:p>
            <a:pPr indent="0" marL="0">
              <a:buNone/>
            </a:pPr>
            <a:r>
              <a:rPr lang="en-US" sz="1300" dirty="0">
                <a:solidFill>
                  <a:srgbClr val="0F2533"/>
                </a:solidFill>
                <a:latin typeface="Calibri" pitchFamily="34" charset="0"/>
                <a:ea typeface="Calibri" pitchFamily="34" charset="-122"/>
                <a:cs typeface="Calibri" pitchFamily="34" charset="-120"/>
              </a:rPr>
              <a:t>Engine sends history + tool schemas</a:t>
            </a:r>
            <a:endParaRPr lang="en-US" sz="1300" dirty="0"/>
          </a:p>
        </p:txBody>
      </p:sp>
      <p:sp>
        <p:nvSpPr>
          <p:cNvPr id="7" name="Shape 5"/>
          <p:cNvSpPr/>
          <p:nvPr/>
        </p:nvSpPr>
        <p:spPr>
          <a:xfrm>
            <a:off x="3108960" y="1874520"/>
            <a:ext cx="2148840" cy="1417320"/>
          </a:xfrm>
          <a:prstGeom prst="roundRect">
            <a:avLst>
              <a:gd name="adj" fmla="val 5161"/>
            </a:avLst>
          </a:prstGeom>
          <a:solidFill>
            <a:srgbClr val="1F4E79"/>
          </a:solidFill>
          <a:ln w="12700">
            <a:solidFill>
              <a:srgbClr val="1F4E79"/>
            </a:solidFill>
            <a:prstDash val="solid"/>
          </a:ln>
        </p:spPr>
      </p:sp>
      <p:sp>
        <p:nvSpPr>
          <p:cNvPr id="8" name="Text 6"/>
          <p:cNvSpPr txBox="1"/>
          <p:nvPr/>
        </p:nvSpPr>
        <p:spPr>
          <a:xfrm>
            <a:off x="3291840" y="1984248"/>
            <a:ext cx="457200" cy="411480"/>
          </a:xfrm>
          <a:prstGeom prst="rect">
            <a:avLst/>
          </a:prstGeom>
          <a:noFill/>
          <a:ln/>
        </p:spPr>
        <p:txBody>
          <a:bodyPr wrap="square" lIns="0" tIns="0" rIns="0" bIns="0" rtlCol="0" anchor="t"/>
          <a:lstStyle/>
          <a:p>
            <a:pPr indent="0" marL="0">
              <a:buNone/>
            </a:pPr>
            <a:r>
              <a:rPr lang="en-US" sz="2200" b="1" dirty="0">
                <a:solidFill>
                  <a:srgbClr val="D9822B"/>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3291840" y="2377440"/>
            <a:ext cx="178308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Model replies with a tool call (JSON)</a:t>
            </a:r>
            <a:endParaRPr lang="en-US" sz="1300" dirty="0"/>
          </a:p>
        </p:txBody>
      </p:sp>
      <p:sp>
        <p:nvSpPr>
          <p:cNvPr id="10" name="Shape 8"/>
          <p:cNvSpPr/>
          <p:nvPr/>
        </p:nvSpPr>
        <p:spPr>
          <a:xfrm>
            <a:off x="3108960" y="3886200"/>
            <a:ext cx="2148840" cy="1417320"/>
          </a:xfrm>
          <a:prstGeom prst="roundRect">
            <a:avLst>
              <a:gd name="adj" fmla="val 5161"/>
            </a:avLst>
          </a:prstGeom>
          <a:solidFill>
            <a:srgbClr val="EEF3F8"/>
          </a:solidFill>
          <a:ln w="12700">
            <a:solidFill>
              <a:srgbClr val="EEF3F8"/>
            </a:solidFill>
            <a:prstDash val="solid"/>
          </a:ln>
        </p:spPr>
      </p:sp>
      <p:sp>
        <p:nvSpPr>
          <p:cNvPr id="11" name="Text 9"/>
          <p:cNvSpPr txBox="1"/>
          <p:nvPr/>
        </p:nvSpPr>
        <p:spPr>
          <a:xfrm>
            <a:off x="3291840" y="3995928"/>
            <a:ext cx="457200" cy="411480"/>
          </a:xfrm>
          <a:prstGeom prst="rect">
            <a:avLst/>
          </a:prstGeom>
          <a:noFill/>
          <a:ln/>
        </p:spPr>
        <p:txBody>
          <a:bodyPr wrap="square" lIns="0" tIns="0" rIns="0" bIns="0" rtlCol="0" anchor="t"/>
          <a:lstStyle/>
          <a:p>
            <a:pPr indent="0" marL="0">
              <a:buNone/>
            </a:pPr>
            <a:r>
              <a:rPr lang="en-US" sz="2200" b="1" dirty="0">
                <a:solidFill>
                  <a:srgbClr val="D9822B"/>
                </a:solidFill>
                <a:latin typeface="Cambria" pitchFamily="34" charset="0"/>
                <a:ea typeface="Cambria" pitchFamily="34" charset="-122"/>
                <a:cs typeface="Cambria" pitchFamily="34" charset="-120"/>
              </a:rPr>
              <a:t>3</a:t>
            </a:r>
            <a:endParaRPr lang="en-US" sz="2200" dirty="0"/>
          </a:p>
        </p:txBody>
      </p:sp>
      <p:sp>
        <p:nvSpPr>
          <p:cNvPr id="12" name="Text 10"/>
          <p:cNvSpPr txBox="1"/>
          <p:nvPr/>
        </p:nvSpPr>
        <p:spPr>
          <a:xfrm>
            <a:off x="3291840" y="4389120"/>
            <a:ext cx="1783080" cy="868680"/>
          </a:xfrm>
          <a:prstGeom prst="rect">
            <a:avLst/>
          </a:prstGeom>
          <a:noFill/>
          <a:ln/>
        </p:spPr>
        <p:txBody>
          <a:bodyPr wrap="square" lIns="0" tIns="0" rIns="0" bIns="0" rtlCol="0" anchor="t"/>
          <a:lstStyle/>
          <a:p>
            <a:pPr indent="0" marL="0">
              <a:buNone/>
            </a:pPr>
            <a:r>
              <a:rPr lang="en-US" sz="1300" dirty="0">
                <a:solidFill>
                  <a:srgbClr val="0F2533"/>
                </a:solidFill>
                <a:latin typeface="Calibri" pitchFamily="34" charset="0"/>
                <a:ea typeface="Calibri" pitchFamily="34" charset="-122"/>
                <a:cs typeface="Calibri" pitchFamily="34" charset="-120"/>
              </a:rPr>
              <a:t>Engine validates path and executes</a:t>
            </a:r>
            <a:endParaRPr lang="en-US" sz="1300" dirty="0"/>
          </a:p>
        </p:txBody>
      </p:sp>
      <p:sp>
        <p:nvSpPr>
          <p:cNvPr id="13" name="Shape 11"/>
          <p:cNvSpPr/>
          <p:nvPr/>
        </p:nvSpPr>
        <p:spPr>
          <a:xfrm>
            <a:off x="640080" y="3886200"/>
            <a:ext cx="2148840" cy="1417320"/>
          </a:xfrm>
          <a:prstGeom prst="roundRect">
            <a:avLst>
              <a:gd name="adj" fmla="val 5161"/>
            </a:avLst>
          </a:prstGeom>
          <a:solidFill>
            <a:srgbClr val="EEF3F8"/>
          </a:solidFill>
          <a:ln w="12700">
            <a:solidFill>
              <a:srgbClr val="EEF3F8"/>
            </a:solidFill>
            <a:prstDash val="solid"/>
          </a:ln>
        </p:spPr>
      </p:sp>
      <p:sp>
        <p:nvSpPr>
          <p:cNvPr id="14" name="Text 12"/>
          <p:cNvSpPr txBox="1"/>
          <p:nvPr/>
        </p:nvSpPr>
        <p:spPr>
          <a:xfrm>
            <a:off x="822960" y="3995928"/>
            <a:ext cx="457200" cy="411480"/>
          </a:xfrm>
          <a:prstGeom prst="rect">
            <a:avLst/>
          </a:prstGeom>
          <a:noFill/>
          <a:ln/>
        </p:spPr>
        <p:txBody>
          <a:bodyPr wrap="square" lIns="0" tIns="0" rIns="0" bIns="0" rtlCol="0" anchor="t"/>
          <a:lstStyle/>
          <a:p>
            <a:pPr indent="0" marL="0">
              <a:buNone/>
            </a:pPr>
            <a:r>
              <a:rPr lang="en-US" sz="2200" b="1" dirty="0">
                <a:solidFill>
                  <a:srgbClr val="D9822B"/>
                </a:solidFill>
                <a:latin typeface="Cambria" pitchFamily="34" charset="0"/>
                <a:ea typeface="Cambria" pitchFamily="34" charset="-122"/>
                <a:cs typeface="Cambria" pitchFamily="34" charset="-120"/>
              </a:rPr>
              <a:t>4</a:t>
            </a:r>
            <a:endParaRPr lang="en-US" sz="2200" dirty="0"/>
          </a:p>
        </p:txBody>
      </p:sp>
      <p:sp>
        <p:nvSpPr>
          <p:cNvPr id="15" name="Text 13"/>
          <p:cNvSpPr txBox="1"/>
          <p:nvPr/>
        </p:nvSpPr>
        <p:spPr>
          <a:xfrm>
            <a:off x="822960" y="4389120"/>
            <a:ext cx="1783080" cy="868680"/>
          </a:xfrm>
          <a:prstGeom prst="rect">
            <a:avLst/>
          </a:prstGeom>
          <a:noFill/>
          <a:ln/>
        </p:spPr>
        <p:txBody>
          <a:bodyPr wrap="square" lIns="0" tIns="0" rIns="0" bIns="0" rtlCol="0" anchor="t"/>
          <a:lstStyle/>
          <a:p>
            <a:pPr indent="0" marL="0">
              <a:buNone/>
            </a:pPr>
            <a:r>
              <a:rPr lang="en-US" sz="1300" dirty="0">
                <a:solidFill>
                  <a:srgbClr val="0F2533"/>
                </a:solidFill>
                <a:latin typeface="Calibri" pitchFamily="34" charset="0"/>
                <a:ea typeface="Calibri" pitchFamily="34" charset="-122"/>
                <a:cs typeface="Calibri" pitchFamily="34" charset="-120"/>
              </a:rPr>
              <a:t>Result appended; model reads it and decides next step</a:t>
            </a:r>
            <a:endParaRPr lang="en-US" sz="1300" dirty="0"/>
          </a:p>
        </p:txBody>
      </p:sp>
      <p:sp>
        <p:nvSpPr>
          <p:cNvPr id="16" name="Shape 14"/>
          <p:cNvSpPr/>
          <p:nvPr/>
        </p:nvSpPr>
        <p:spPr>
          <a:xfrm>
            <a:off x="2788920" y="2560320"/>
            <a:ext cx="320040" cy="0"/>
          </a:xfrm>
          <a:prstGeom prst="line">
            <a:avLst/>
          </a:prstGeom>
          <a:noFill/>
          <a:ln w="25400">
            <a:solidFill>
              <a:srgbClr val="D9822B"/>
            </a:solidFill>
            <a:prstDash val="solid"/>
            <a:tailEnd type="triangle"/>
          </a:ln>
        </p:spPr>
      </p:sp>
      <p:sp>
        <p:nvSpPr>
          <p:cNvPr id="17" name="Shape 15"/>
          <p:cNvSpPr/>
          <p:nvPr/>
        </p:nvSpPr>
        <p:spPr>
          <a:xfrm>
            <a:off x="4178808" y="3291840"/>
            <a:ext cx="0" cy="594360"/>
          </a:xfrm>
          <a:prstGeom prst="line">
            <a:avLst/>
          </a:prstGeom>
          <a:noFill/>
          <a:ln w="25400">
            <a:solidFill>
              <a:srgbClr val="D9822B"/>
            </a:solidFill>
            <a:prstDash val="solid"/>
            <a:tailEnd type="triangle"/>
          </a:ln>
        </p:spPr>
      </p:sp>
      <p:sp>
        <p:nvSpPr>
          <p:cNvPr id="18" name="Shape 16"/>
          <p:cNvSpPr/>
          <p:nvPr/>
        </p:nvSpPr>
        <p:spPr>
          <a:xfrm flipH="1">
            <a:off x="2788920" y="4572000"/>
            <a:ext cx="320040" cy="0"/>
          </a:xfrm>
          <a:prstGeom prst="line">
            <a:avLst/>
          </a:prstGeom>
          <a:noFill/>
          <a:ln w="25400">
            <a:solidFill>
              <a:srgbClr val="D9822B"/>
            </a:solidFill>
            <a:prstDash val="solid"/>
            <a:tailEnd type="triangle"/>
          </a:ln>
        </p:spPr>
      </p:sp>
      <p:sp>
        <p:nvSpPr>
          <p:cNvPr id="19" name="Shape 17"/>
          <p:cNvSpPr/>
          <p:nvPr/>
        </p:nvSpPr>
        <p:spPr>
          <a:xfrm flipV="1">
            <a:off x="1709928" y="3291840"/>
            <a:ext cx="0" cy="594360"/>
          </a:xfrm>
          <a:prstGeom prst="line">
            <a:avLst/>
          </a:prstGeom>
          <a:noFill/>
          <a:ln w="25400">
            <a:solidFill>
              <a:srgbClr val="D9822B"/>
            </a:solidFill>
            <a:prstDash val="solid"/>
            <a:tailEnd type="triangle"/>
          </a:ln>
        </p:spPr>
      </p:sp>
      <p:sp>
        <p:nvSpPr>
          <p:cNvPr id="20" name="Text 18"/>
          <p:cNvSpPr txBox="1"/>
          <p:nvPr/>
        </p:nvSpPr>
        <p:spPr>
          <a:xfrm>
            <a:off x="640080" y="5440680"/>
            <a:ext cx="4617720" cy="502920"/>
          </a:xfrm>
          <a:prstGeom prst="rect">
            <a:avLst/>
          </a:prstGeom>
          <a:noFill/>
          <a:ln/>
        </p:spPr>
        <p:txBody>
          <a:bodyPr wrap="square" lIns="0" tIns="0" rIns="0" bIns="0" rtlCol="0" anchor="t"/>
          <a:lstStyle/>
          <a:p>
            <a:pPr indent="0" marL="0">
              <a:buNone/>
            </a:pPr>
            <a:r>
              <a:rPr lang="en-US" sz="1200" i="1" dirty="0">
                <a:solidFill>
                  <a:srgbClr val="5B6B7A"/>
                </a:solidFill>
                <a:latin typeface="Calibri" pitchFamily="34" charset="0"/>
                <a:ea typeface="Calibri" pitchFamily="34" charset="-122"/>
                <a:cs typeface="Calibri" pitchFamily="34" charset="-120"/>
              </a:rPr>
              <a:t>repeats until the model answers without a tool call (max 100 turns)</a:t>
            </a:r>
            <a:endParaRPr lang="en-US" sz="1200" dirty="0"/>
          </a:p>
        </p:txBody>
      </p:sp>
      <p:sp>
        <p:nvSpPr>
          <p:cNvPr id="21" name="Shape 19"/>
          <p:cNvSpPr/>
          <p:nvPr/>
        </p:nvSpPr>
        <p:spPr>
          <a:xfrm>
            <a:off x="5806440" y="1691640"/>
            <a:ext cx="2743200" cy="777240"/>
          </a:xfrm>
          <a:prstGeom prst="roundRect">
            <a:avLst>
              <a:gd name="adj" fmla="val 9412"/>
            </a:avLst>
          </a:prstGeom>
          <a:solidFill>
            <a:srgbClr val="EEF3F8"/>
          </a:solidFill>
          <a:ln w="12700">
            <a:solidFill>
              <a:srgbClr val="EEF3F8"/>
            </a:solidFill>
            <a:prstDash val="solid"/>
          </a:ln>
        </p:spPr>
      </p:sp>
      <p:sp>
        <p:nvSpPr>
          <p:cNvPr id="22" name="Text 20"/>
          <p:cNvSpPr txBox="1"/>
          <p:nvPr/>
        </p:nvSpPr>
        <p:spPr>
          <a:xfrm>
            <a:off x="5989320" y="1764792"/>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count_alerts</a:t>
            </a:r>
            <a:endParaRPr lang="en-US" sz="1400" dirty="0"/>
          </a:p>
        </p:txBody>
      </p:sp>
      <p:sp>
        <p:nvSpPr>
          <p:cNvPr id="23" name="Text 21"/>
          <p:cNvSpPr txBox="1"/>
          <p:nvPr/>
        </p:nvSpPr>
        <p:spPr>
          <a:xfrm>
            <a:off x="5989320" y="2103120"/>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alerts per signature</a:t>
            </a:r>
            <a:endParaRPr lang="en-US" sz="1200" dirty="0"/>
          </a:p>
        </p:txBody>
      </p:sp>
      <p:sp>
        <p:nvSpPr>
          <p:cNvPr id="24" name="Shape 22"/>
          <p:cNvSpPr/>
          <p:nvPr/>
        </p:nvSpPr>
        <p:spPr>
          <a:xfrm>
            <a:off x="8732520" y="1691640"/>
            <a:ext cx="2743200" cy="777240"/>
          </a:xfrm>
          <a:prstGeom prst="roundRect">
            <a:avLst>
              <a:gd name="adj" fmla="val 9412"/>
            </a:avLst>
          </a:prstGeom>
          <a:solidFill>
            <a:srgbClr val="EEF3F8"/>
          </a:solidFill>
          <a:ln w="12700">
            <a:solidFill>
              <a:srgbClr val="EEF3F8"/>
            </a:solidFill>
            <a:prstDash val="solid"/>
          </a:ln>
        </p:spPr>
      </p:sp>
      <p:sp>
        <p:nvSpPr>
          <p:cNvPr id="25" name="Text 23"/>
          <p:cNvSpPr txBox="1"/>
          <p:nvPr/>
        </p:nvSpPr>
        <p:spPr>
          <a:xfrm>
            <a:off x="8915400" y="1764792"/>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count_by</a:t>
            </a:r>
            <a:endParaRPr lang="en-US" sz="1400" dirty="0"/>
          </a:p>
        </p:txBody>
      </p:sp>
      <p:sp>
        <p:nvSpPr>
          <p:cNvPr id="26" name="Text 24"/>
          <p:cNvSpPr txBox="1"/>
          <p:nvPr/>
        </p:nvSpPr>
        <p:spPr>
          <a:xfrm>
            <a:off x="8915400" y="2103120"/>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aggregate any field</a:t>
            </a:r>
            <a:endParaRPr lang="en-US" sz="1200" dirty="0"/>
          </a:p>
        </p:txBody>
      </p:sp>
      <p:sp>
        <p:nvSpPr>
          <p:cNvPr id="27" name="Shape 25"/>
          <p:cNvSpPr/>
          <p:nvPr/>
        </p:nvSpPr>
        <p:spPr>
          <a:xfrm>
            <a:off x="5806440" y="2624328"/>
            <a:ext cx="2743200" cy="777240"/>
          </a:xfrm>
          <a:prstGeom prst="roundRect">
            <a:avLst>
              <a:gd name="adj" fmla="val 9412"/>
            </a:avLst>
          </a:prstGeom>
          <a:solidFill>
            <a:srgbClr val="EEF3F8"/>
          </a:solidFill>
          <a:ln w="12700">
            <a:solidFill>
              <a:srgbClr val="EEF3F8"/>
            </a:solidFill>
            <a:prstDash val="solid"/>
          </a:ln>
        </p:spPr>
      </p:sp>
      <p:sp>
        <p:nvSpPr>
          <p:cNvPr id="28" name="Text 26"/>
          <p:cNvSpPr txBox="1"/>
          <p:nvPr/>
        </p:nvSpPr>
        <p:spPr>
          <a:xfrm>
            <a:off x="5989320" y="2697480"/>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query_eve_json</a:t>
            </a:r>
            <a:endParaRPr lang="en-US" sz="1400" dirty="0"/>
          </a:p>
        </p:txBody>
      </p:sp>
      <p:sp>
        <p:nvSpPr>
          <p:cNvPr id="29" name="Text 27"/>
          <p:cNvSpPr txBox="1"/>
          <p:nvPr/>
        </p:nvSpPr>
        <p:spPr>
          <a:xfrm>
            <a:off x="5989320" y="3035808"/>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jq query, capped output</a:t>
            </a:r>
            <a:endParaRPr lang="en-US" sz="1200" dirty="0"/>
          </a:p>
        </p:txBody>
      </p:sp>
      <p:sp>
        <p:nvSpPr>
          <p:cNvPr id="30" name="Shape 28"/>
          <p:cNvSpPr/>
          <p:nvPr/>
        </p:nvSpPr>
        <p:spPr>
          <a:xfrm>
            <a:off x="8732520" y="2624328"/>
            <a:ext cx="2743200" cy="777240"/>
          </a:xfrm>
          <a:prstGeom prst="roundRect">
            <a:avLst>
              <a:gd name="adj" fmla="val 9412"/>
            </a:avLst>
          </a:prstGeom>
          <a:solidFill>
            <a:srgbClr val="EEF3F8"/>
          </a:solidFill>
          <a:ln w="12700">
            <a:solidFill>
              <a:srgbClr val="EEF3F8"/>
            </a:solidFill>
            <a:prstDash val="solid"/>
          </a:ln>
        </p:spPr>
      </p:sp>
      <p:sp>
        <p:nvSpPr>
          <p:cNvPr id="31" name="Text 29"/>
          <p:cNvSpPr txBox="1"/>
          <p:nvPr/>
        </p:nvSpPr>
        <p:spPr>
          <a:xfrm>
            <a:off x="8915400" y="2697480"/>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read_file</a:t>
            </a:r>
            <a:endParaRPr lang="en-US" sz="1400" dirty="0"/>
          </a:p>
        </p:txBody>
      </p:sp>
      <p:sp>
        <p:nvSpPr>
          <p:cNvPr id="32" name="Text 30"/>
          <p:cNvSpPr txBox="1"/>
          <p:nvPr/>
        </p:nvSpPr>
        <p:spPr>
          <a:xfrm>
            <a:off x="8915400" y="3035808"/>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configs, rules, logs</a:t>
            </a:r>
            <a:endParaRPr lang="en-US" sz="1200" dirty="0"/>
          </a:p>
        </p:txBody>
      </p:sp>
      <p:sp>
        <p:nvSpPr>
          <p:cNvPr id="33" name="Shape 31"/>
          <p:cNvSpPr/>
          <p:nvPr/>
        </p:nvSpPr>
        <p:spPr>
          <a:xfrm>
            <a:off x="5806440" y="3557016"/>
            <a:ext cx="2743200" cy="777240"/>
          </a:xfrm>
          <a:prstGeom prst="roundRect">
            <a:avLst>
              <a:gd name="adj" fmla="val 9412"/>
            </a:avLst>
          </a:prstGeom>
          <a:solidFill>
            <a:srgbClr val="EEF3F8"/>
          </a:solidFill>
          <a:ln w="12700">
            <a:solidFill>
              <a:srgbClr val="EEF3F8"/>
            </a:solidFill>
            <a:prstDash val="solid"/>
          </a:ln>
        </p:spPr>
      </p:sp>
      <p:sp>
        <p:nvSpPr>
          <p:cNvPr id="34" name="Text 32"/>
          <p:cNvSpPr txBox="1"/>
          <p:nvPr/>
        </p:nvSpPr>
        <p:spPr>
          <a:xfrm>
            <a:off x="5989320" y="3630168"/>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write_file</a:t>
            </a:r>
            <a:endParaRPr lang="en-US" sz="1400" dirty="0"/>
          </a:p>
        </p:txBody>
      </p:sp>
      <p:sp>
        <p:nvSpPr>
          <p:cNvPr id="35" name="Text 33"/>
          <p:cNvSpPr txBox="1"/>
          <p:nvPr/>
        </p:nvSpPr>
        <p:spPr>
          <a:xfrm>
            <a:off x="5989320" y="3968496"/>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rules/generated only</a:t>
            </a:r>
            <a:endParaRPr lang="en-US" sz="1200" dirty="0"/>
          </a:p>
        </p:txBody>
      </p:sp>
      <p:sp>
        <p:nvSpPr>
          <p:cNvPr id="36" name="Shape 34"/>
          <p:cNvSpPr/>
          <p:nvPr/>
        </p:nvSpPr>
        <p:spPr>
          <a:xfrm>
            <a:off x="8732520" y="3557016"/>
            <a:ext cx="2743200" cy="777240"/>
          </a:xfrm>
          <a:prstGeom prst="roundRect">
            <a:avLst>
              <a:gd name="adj" fmla="val 9412"/>
            </a:avLst>
          </a:prstGeom>
          <a:solidFill>
            <a:srgbClr val="EEF3F8"/>
          </a:solidFill>
          <a:ln w="12700">
            <a:solidFill>
              <a:srgbClr val="EEF3F8"/>
            </a:solidFill>
            <a:prstDash val="solid"/>
          </a:ln>
        </p:spPr>
      </p:sp>
      <p:sp>
        <p:nvSpPr>
          <p:cNvPr id="37" name="Text 35"/>
          <p:cNvSpPr txBox="1"/>
          <p:nvPr/>
        </p:nvSpPr>
        <p:spPr>
          <a:xfrm>
            <a:off x="8915400" y="3630168"/>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append_to_file</a:t>
            </a:r>
            <a:endParaRPr lang="en-US" sz="1400" dirty="0"/>
          </a:p>
        </p:txBody>
      </p:sp>
      <p:sp>
        <p:nvSpPr>
          <p:cNvPr id="38" name="Text 36"/>
          <p:cNvSpPr txBox="1"/>
          <p:nvPr/>
        </p:nvSpPr>
        <p:spPr>
          <a:xfrm>
            <a:off x="8915400" y="3968496"/>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rules/generated only</a:t>
            </a:r>
            <a:endParaRPr lang="en-US" sz="1200" dirty="0"/>
          </a:p>
        </p:txBody>
      </p:sp>
      <p:sp>
        <p:nvSpPr>
          <p:cNvPr id="39" name="Shape 37"/>
          <p:cNvSpPr/>
          <p:nvPr/>
        </p:nvSpPr>
        <p:spPr>
          <a:xfrm>
            <a:off x="5806440" y="4489704"/>
            <a:ext cx="2743200" cy="777240"/>
          </a:xfrm>
          <a:prstGeom prst="roundRect">
            <a:avLst>
              <a:gd name="adj" fmla="val 9412"/>
            </a:avLst>
          </a:prstGeom>
          <a:solidFill>
            <a:srgbClr val="EEF3F8"/>
          </a:solidFill>
          <a:ln w="12700">
            <a:solidFill>
              <a:srgbClr val="EEF3F8"/>
            </a:solidFill>
            <a:prstDash val="solid"/>
          </a:ln>
        </p:spPr>
      </p:sp>
      <p:sp>
        <p:nvSpPr>
          <p:cNvPr id="40" name="Text 38"/>
          <p:cNvSpPr txBox="1"/>
          <p:nvPr/>
        </p:nvSpPr>
        <p:spPr>
          <a:xfrm>
            <a:off x="5989320" y="4562856"/>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run_suricata</a:t>
            </a:r>
            <a:endParaRPr lang="en-US" sz="1400" dirty="0"/>
          </a:p>
        </p:txBody>
      </p:sp>
      <p:sp>
        <p:nvSpPr>
          <p:cNvPr id="41" name="Text 39"/>
          <p:cNvSpPr txBox="1"/>
          <p:nvPr/>
        </p:nvSpPr>
        <p:spPr>
          <a:xfrm>
            <a:off x="5989320" y="4901184"/>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replay pcap to validate</a:t>
            </a:r>
            <a:endParaRPr lang="en-US" sz="1200" dirty="0"/>
          </a:p>
        </p:txBody>
      </p:sp>
      <p:sp>
        <p:nvSpPr>
          <p:cNvPr id="42" name="Shape 40"/>
          <p:cNvSpPr/>
          <p:nvPr/>
        </p:nvSpPr>
        <p:spPr>
          <a:xfrm>
            <a:off x="8732520" y="4489704"/>
            <a:ext cx="2743200" cy="777240"/>
          </a:xfrm>
          <a:prstGeom prst="roundRect">
            <a:avLst>
              <a:gd name="adj" fmla="val 9412"/>
            </a:avLst>
          </a:prstGeom>
          <a:solidFill>
            <a:srgbClr val="EEF3F8"/>
          </a:solidFill>
          <a:ln w="12700">
            <a:solidFill>
              <a:srgbClr val="EEF3F8"/>
            </a:solidFill>
            <a:prstDash val="solid"/>
          </a:ln>
        </p:spPr>
      </p:sp>
      <p:sp>
        <p:nvSpPr>
          <p:cNvPr id="43" name="Text 41"/>
          <p:cNvSpPr txBox="1"/>
          <p:nvPr/>
        </p:nvSpPr>
        <p:spPr>
          <a:xfrm>
            <a:off x="8915400" y="4562856"/>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list_directory</a:t>
            </a:r>
            <a:endParaRPr lang="en-US" sz="1400" dirty="0"/>
          </a:p>
        </p:txBody>
      </p:sp>
      <p:sp>
        <p:nvSpPr>
          <p:cNvPr id="44" name="Text 42"/>
          <p:cNvSpPr txBox="1"/>
          <p:nvPr/>
        </p:nvSpPr>
        <p:spPr>
          <a:xfrm>
            <a:off x="8915400" y="4901184"/>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allowlisted folders</a:t>
            </a:r>
            <a:endParaRPr lang="en-US" sz="1200" dirty="0"/>
          </a:p>
        </p:txBody>
      </p:sp>
      <p:sp>
        <p:nvSpPr>
          <p:cNvPr id="45" name="Shape 43"/>
          <p:cNvSpPr/>
          <p:nvPr/>
        </p:nvSpPr>
        <p:spPr>
          <a:xfrm>
            <a:off x="5806440" y="5486400"/>
            <a:ext cx="5669280" cy="685800"/>
          </a:xfrm>
          <a:prstGeom prst="roundRect">
            <a:avLst>
              <a:gd name="adj" fmla="val 10667"/>
            </a:avLst>
          </a:prstGeom>
          <a:solidFill>
            <a:srgbClr val="0F2533"/>
          </a:solidFill>
          <a:ln w="12700">
            <a:solidFill>
              <a:srgbClr val="0F2533"/>
            </a:solidFill>
            <a:prstDash val="solid"/>
          </a:ln>
        </p:spPr>
      </p:sp>
      <p:sp>
        <p:nvSpPr>
          <p:cNvPr id="46" name="Text 44"/>
          <p:cNvSpPr txBox="1"/>
          <p:nvPr/>
        </p:nvSpPr>
        <p:spPr>
          <a:xfrm>
            <a:off x="5989320" y="5486400"/>
            <a:ext cx="53492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Tool design mattered as much as the model: DeepSeek V3 failed every run until we added count_by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Safety and evaluation integrity</a:t>
            </a:r>
            <a:endParaRPr lang="en-US" sz="3400" dirty="0"/>
          </a:p>
        </p:txBody>
      </p:sp>
      <p:sp>
        <p:nvSpPr>
          <p:cNvPr id="3" name="Text 1"/>
          <p:cNvSpPr txBox="1"/>
          <p:nvPr/>
        </p:nvSpPr>
        <p:spPr>
          <a:xfrm>
            <a:off x="548640" y="1234440"/>
            <a:ext cx="5486400" cy="411480"/>
          </a:xfrm>
          <a:prstGeom prst="rect">
            <a:avLst/>
          </a:prstGeom>
          <a:noFill/>
          <a:ln/>
        </p:spPr>
        <p:txBody>
          <a:bodyPr wrap="square" lIns="0" tIns="0" rIns="0" bIns="0" rtlCol="0" anchor="t"/>
          <a:lstStyle/>
          <a:p>
            <a:pPr indent="0" marL="0">
              <a:buNone/>
            </a:pPr>
            <a:r>
              <a:rPr lang="en-US" sz="2000" b="1" dirty="0">
                <a:solidFill>
                  <a:srgbClr val="1F4E79"/>
                </a:solidFill>
                <a:latin typeface="Cambria" pitchFamily="34" charset="0"/>
                <a:ea typeface="Cambria" pitchFamily="34" charset="-122"/>
                <a:cs typeface="Cambria" pitchFamily="34" charset="-120"/>
              </a:rPr>
              <a:t>Safety asymmetry</a:t>
            </a:r>
            <a:endParaRPr lang="en-US" sz="2000" dirty="0"/>
          </a:p>
        </p:txBody>
      </p:sp>
      <p:sp>
        <p:nvSpPr>
          <p:cNvPr id="4" name="Shape 2"/>
          <p:cNvSpPr/>
          <p:nvPr/>
        </p:nvSpPr>
        <p:spPr>
          <a:xfrm>
            <a:off x="548640" y="1828800"/>
            <a:ext cx="1737360" cy="822960"/>
          </a:xfrm>
          <a:prstGeom prst="roundRect">
            <a:avLst>
              <a:gd name="adj" fmla="val 8889"/>
            </a:avLst>
          </a:prstGeom>
          <a:solidFill>
            <a:srgbClr val="EEF3F8"/>
          </a:solidFill>
          <a:ln w="12700">
            <a:solidFill>
              <a:srgbClr val="EEF3F8"/>
            </a:solidFill>
            <a:prstDash val="solid"/>
          </a:ln>
        </p:spPr>
      </p:sp>
      <p:sp>
        <p:nvSpPr>
          <p:cNvPr id="5" name="Text 3"/>
          <p:cNvSpPr txBox="1"/>
          <p:nvPr/>
        </p:nvSpPr>
        <p:spPr>
          <a:xfrm>
            <a:off x="548640" y="182880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Threat</a:t>
            </a:r>
            <a:endParaRPr lang="en-US" sz="1300" dirty="0"/>
          </a:p>
        </p:txBody>
      </p:sp>
      <p:sp>
        <p:nvSpPr>
          <p:cNvPr id="6" name="Shape 4"/>
          <p:cNvSpPr/>
          <p:nvPr/>
        </p:nvSpPr>
        <p:spPr>
          <a:xfrm>
            <a:off x="2286000" y="2240280"/>
            <a:ext cx="320040" cy="0"/>
          </a:xfrm>
          <a:prstGeom prst="line">
            <a:avLst/>
          </a:prstGeom>
          <a:noFill/>
          <a:ln w="25400">
            <a:solidFill>
              <a:srgbClr val="5B6B7A"/>
            </a:solidFill>
            <a:prstDash val="solid"/>
            <a:tailEnd type="triangle"/>
          </a:ln>
        </p:spPr>
      </p:sp>
      <p:sp>
        <p:nvSpPr>
          <p:cNvPr id="7" name="Shape 5"/>
          <p:cNvSpPr/>
          <p:nvPr/>
        </p:nvSpPr>
        <p:spPr>
          <a:xfrm>
            <a:off x="2606040" y="1828800"/>
            <a:ext cx="1737360" cy="822960"/>
          </a:xfrm>
          <a:prstGeom prst="roundRect">
            <a:avLst>
              <a:gd name="adj" fmla="val 8889"/>
            </a:avLst>
          </a:prstGeom>
          <a:solidFill>
            <a:srgbClr val="EEF3F8"/>
          </a:solidFill>
          <a:ln w="12700">
            <a:solidFill>
              <a:srgbClr val="EEF3F8"/>
            </a:solidFill>
            <a:prstDash val="solid"/>
          </a:ln>
        </p:spPr>
      </p:sp>
      <p:sp>
        <p:nvSpPr>
          <p:cNvPr id="8" name="Text 6"/>
          <p:cNvSpPr txBox="1"/>
          <p:nvPr/>
        </p:nvSpPr>
        <p:spPr>
          <a:xfrm>
            <a:off x="2606040" y="182880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Write rule +</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replay-validate</a:t>
            </a:r>
            <a:endParaRPr lang="en-US" sz="1300" dirty="0"/>
          </a:p>
        </p:txBody>
      </p:sp>
      <p:sp>
        <p:nvSpPr>
          <p:cNvPr id="9" name="Shape 7"/>
          <p:cNvSpPr/>
          <p:nvPr/>
        </p:nvSpPr>
        <p:spPr>
          <a:xfrm>
            <a:off x="4343400" y="2240280"/>
            <a:ext cx="320040" cy="0"/>
          </a:xfrm>
          <a:prstGeom prst="line">
            <a:avLst/>
          </a:prstGeom>
          <a:noFill/>
          <a:ln w="25400">
            <a:solidFill>
              <a:srgbClr val="5B6B7A"/>
            </a:solidFill>
            <a:prstDash val="solid"/>
            <a:tailEnd type="triangle"/>
          </a:ln>
        </p:spPr>
      </p:sp>
      <p:sp>
        <p:nvSpPr>
          <p:cNvPr id="10" name="Shape 8"/>
          <p:cNvSpPr/>
          <p:nvPr/>
        </p:nvSpPr>
        <p:spPr>
          <a:xfrm>
            <a:off x="4663440" y="1828800"/>
            <a:ext cx="1645920" cy="822960"/>
          </a:xfrm>
          <a:prstGeom prst="roundRect">
            <a:avLst>
              <a:gd name="adj" fmla="val 8889"/>
            </a:avLst>
          </a:prstGeom>
          <a:solidFill>
            <a:srgbClr val="2E7D32"/>
          </a:solidFill>
          <a:ln w="12700">
            <a:solidFill>
              <a:srgbClr val="2E7D32"/>
            </a:solidFill>
            <a:prstDash val="solid"/>
          </a:ln>
        </p:spPr>
      </p:sp>
      <p:sp>
        <p:nvSpPr>
          <p:cNvPr id="11" name="Text 9"/>
          <p:cNvSpPr txBox="1"/>
          <p:nvPr/>
        </p:nvSpPr>
        <p:spPr>
          <a:xfrm>
            <a:off x="4663440" y="1828800"/>
            <a:ext cx="16459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Auto-deploy</a:t>
            </a:r>
            <a:endParaRPr lang="en-US" sz="1300" dirty="0"/>
          </a:p>
        </p:txBody>
      </p:sp>
      <p:sp>
        <p:nvSpPr>
          <p:cNvPr id="12" name="Shape 10"/>
          <p:cNvSpPr/>
          <p:nvPr/>
        </p:nvSpPr>
        <p:spPr>
          <a:xfrm>
            <a:off x="548640" y="2926080"/>
            <a:ext cx="1737360" cy="822960"/>
          </a:xfrm>
          <a:prstGeom prst="roundRect">
            <a:avLst>
              <a:gd name="adj" fmla="val 8889"/>
            </a:avLst>
          </a:prstGeom>
          <a:solidFill>
            <a:srgbClr val="EEF3F8"/>
          </a:solidFill>
          <a:ln w="12700">
            <a:solidFill>
              <a:srgbClr val="EEF3F8"/>
            </a:solidFill>
            <a:prstDash val="solid"/>
          </a:ln>
        </p:spPr>
      </p:sp>
      <p:sp>
        <p:nvSpPr>
          <p:cNvPr id="13" name="Text 11"/>
          <p:cNvSpPr txBox="1"/>
          <p:nvPr/>
        </p:nvSpPr>
        <p:spPr>
          <a:xfrm>
            <a:off x="548640" y="292608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Benign noise</a:t>
            </a:r>
            <a:endParaRPr lang="en-US" sz="1300" dirty="0"/>
          </a:p>
        </p:txBody>
      </p:sp>
      <p:sp>
        <p:nvSpPr>
          <p:cNvPr id="14" name="Shape 12"/>
          <p:cNvSpPr/>
          <p:nvPr/>
        </p:nvSpPr>
        <p:spPr>
          <a:xfrm>
            <a:off x="2286000" y="3337560"/>
            <a:ext cx="320040" cy="0"/>
          </a:xfrm>
          <a:prstGeom prst="line">
            <a:avLst/>
          </a:prstGeom>
          <a:noFill/>
          <a:ln w="25400">
            <a:solidFill>
              <a:srgbClr val="5B6B7A"/>
            </a:solidFill>
            <a:prstDash val="solid"/>
            <a:tailEnd type="triangle"/>
          </a:ln>
        </p:spPr>
      </p:sp>
      <p:sp>
        <p:nvSpPr>
          <p:cNvPr id="15" name="Shape 13"/>
          <p:cNvSpPr/>
          <p:nvPr/>
        </p:nvSpPr>
        <p:spPr>
          <a:xfrm>
            <a:off x="2606040" y="2926080"/>
            <a:ext cx="1737360" cy="822960"/>
          </a:xfrm>
          <a:prstGeom prst="roundRect">
            <a:avLst>
              <a:gd name="adj" fmla="val 8889"/>
            </a:avLst>
          </a:prstGeom>
          <a:solidFill>
            <a:srgbClr val="EEF3F8"/>
          </a:solidFill>
          <a:ln w="12700">
            <a:solidFill>
              <a:srgbClr val="EEF3F8"/>
            </a:solidFill>
            <a:prstDash val="solid"/>
          </a:ln>
        </p:spPr>
      </p:sp>
      <p:sp>
        <p:nvSpPr>
          <p:cNvPr id="16" name="Text 14"/>
          <p:cNvSpPr txBox="1"/>
          <p:nvPr/>
        </p:nvSpPr>
        <p:spPr>
          <a:xfrm>
            <a:off x="2606040" y="292608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Propose</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suppression</a:t>
            </a:r>
            <a:endParaRPr lang="en-US" sz="1300" dirty="0"/>
          </a:p>
        </p:txBody>
      </p:sp>
      <p:sp>
        <p:nvSpPr>
          <p:cNvPr id="17" name="Shape 15"/>
          <p:cNvSpPr/>
          <p:nvPr/>
        </p:nvSpPr>
        <p:spPr>
          <a:xfrm>
            <a:off x="4343400" y="3337560"/>
            <a:ext cx="320040" cy="0"/>
          </a:xfrm>
          <a:prstGeom prst="line">
            <a:avLst/>
          </a:prstGeom>
          <a:noFill/>
          <a:ln w="25400">
            <a:solidFill>
              <a:srgbClr val="5B6B7A"/>
            </a:solidFill>
            <a:prstDash val="solid"/>
            <a:tailEnd type="triangle"/>
          </a:ln>
        </p:spPr>
      </p:sp>
      <p:sp>
        <p:nvSpPr>
          <p:cNvPr id="18" name="Shape 16"/>
          <p:cNvSpPr/>
          <p:nvPr/>
        </p:nvSpPr>
        <p:spPr>
          <a:xfrm>
            <a:off x="4663440" y="2926080"/>
            <a:ext cx="1645920" cy="822960"/>
          </a:xfrm>
          <a:prstGeom prst="roundRect">
            <a:avLst>
              <a:gd name="adj" fmla="val 8889"/>
            </a:avLst>
          </a:prstGeom>
          <a:solidFill>
            <a:srgbClr val="B03A2E"/>
          </a:solidFill>
          <a:ln w="12700">
            <a:solidFill>
              <a:srgbClr val="B03A2E"/>
            </a:solidFill>
            <a:prstDash val="solid"/>
          </a:ln>
        </p:spPr>
      </p:sp>
      <p:sp>
        <p:nvSpPr>
          <p:cNvPr id="19" name="Text 17"/>
          <p:cNvSpPr txBox="1"/>
          <p:nvPr/>
        </p:nvSpPr>
        <p:spPr>
          <a:xfrm>
            <a:off x="4663440" y="2926080"/>
            <a:ext cx="16459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Human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approval</a:t>
            </a:r>
            <a:endParaRPr lang="en-US" sz="1300" dirty="0"/>
          </a:p>
        </p:txBody>
      </p:sp>
      <p:sp>
        <p:nvSpPr>
          <p:cNvPr id="20" name="Text 18"/>
          <p:cNvSpPr txBox="1"/>
          <p:nvPr/>
        </p:nvSpPr>
        <p:spPr>
          <a:xfrm>
            <a:off x="548640" y="3931920"/>
            <a:ext cx="5760720" cy="73152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 bad rule over-alerts (wrong-way safe). A bad suppression blinds the sensor (wrong-way unsafe) — so a human decides.</a:t>
            </a:r>
            <a:endParaRPr lang="en-US" sz="1300" dirty="0"/>
          </a:p>
        </p:txBody>
      </p:sp>
      <p:sp>
        <p:nvSpPr>
          <p:cNvPr id="21" name="Shape 19"/>
          <p:cNvSpPr/>
          <p:nvPr/>
        </p:nvSpPr>
        <p:spPr>
          <a:xfrm>
            <a:off x="548640" y="4754880"/>
            <a:ext cx="5760720" cy="1325880"/>
          </a:xfrm>
          <a:prstGeom prst="roundRect">
            <a:avLst>
              <a:gd name="adj" fmla="val 5517"/>
            </a:avLst>
          </a:prstGeom>
          <a:solidFill>
            <a:srgbClr val="EEF3F8"/>
          </a:solidFill>
          <a:ln w="12700">
            <a:solidFill>
              <a:srgbClr val="EEF3F8"/>
            </a:solidFill>
            <a:prstDash val="solid"/>
          </a:ln>
        </p:spPr>
      </p:sp>
      <p:sp>
        <p:nvSpPr>
          <p:cNvPr id="22" name="Shape 20"/>
          <p:cNvSpPr/>
          <p:nvPr/>
        </p:nvSpPr>
        <p:spPr>
          <a:xfrm>
            <a:off x="777240" y="4983480"/>
            <a:ext cx="566928" cy="566928"/>
          </a:xfrm>
          <a:prstGeom prst="ellipse">
            <a:avLst/>
          </a:prstGeom>
          <a:solidFill>
            <a:srgbClr val="D9822B"/>
          </a:solidFill>
          <a:ln w="12700">
            <a:solidFill>
              <a:srgbClr val="D9822B"/>
            </a:solidFill>
            <a:prstDash val="solid"/>
          </a:ln>
        </p:spPr>
      </p:sp>
      <p:pic>
        <p:nvPicPr>
          <p:cNvPr id="23" name="Image 0" descr="preencoded.png">    </p:cNvPr>
          <p:cNvPicPr>
            <a:picLocks noChangeAspect="1"/>
          </p:cNvPicPr>
          <p:nvPr/>
        </p:nvPicPr>
        <p:blipFill>
          <a:blip r:embed="rId1"/>
          <a:stretch>
            <a:fillRect/>
          </a:stretch>
        </p:blipFill>
        <p:spPr>
          <a:xfrm>
            <a:off x="913303" y="5119543"/>
            <a:ext cx="294803" cy="294803"/>
          </a:xfrm>
          <a:prstGeom prst="rect">
            <a:avLst/>
          </a:prstGeom>
        </p:spPr>
      </p:pic>
      <p:sp>
        <p:nvSpPr>
          <p:cNvPr id="24" name="Text 21"/>
          <p:cNvSpPr txBox="1"/>
          <p:nvPr/>
        </p:nvSpPr>
        <p:spPr>
          <a:xfrm>
            <a:off x="1508760" y="4846320"/>
            <a:ext cx="4663440" cy="1143000"/>
          </a:xfrm>
          <a:prstGeom prst="rect">
            <a:avLst/>
          </a:prstGeom>
          <a:noFill/>
          <a:ln/>
        </p:spPr>
        <p:txBody>
          <a:bodyPr wrap="square" lIns="0" tIns="0" rIns="0" bIns="0" rtlCol="0" anchor="ctr"/>
          <a:lstStyle/>
          <a:p>
            <a:pPr indent="0" marL="0">
              <a:buNone/>
            </a:pPr>
            <a:r>
              <a:rPr lang="en-US" sz="1300" dirty="0">
                <a:solidFill>
                  <a:srgbClr val="0F2533"/>
                </a:solidFill>
                <a:latin typeface="Calibri" pitchFamily="34" charset="0"/>
                <a:ea typeface="Calibri" pitchFamily="34" charset="-122"/>
                <a:cs typeface="Calibri" pitchFamily="34" charset="-120"/>
              </a:rPr>
              <a:t>It mattered: one UNSW run proposed suppressing rules that were catching a real Cisco heap-overflow exploit. The proposal needed approval, so the sensor stayed sighted.</a:t>
            </a:r>
            <a:endParaRPr lang="en-US" sz="1300" dirty="0"/>
          </a:p>
        </p:txBody>
      </p:sp>
      <p:sp>
        <p:nvSpPr>
          <p:cNvPr id="25" name="Text 22"/>
          <p:cNvSpPr txBox="1"/>
          <p:nvPr/>
        </p:nvSpPr>
        <p:spPr>
          <a:xfrm>
            <a:off x="6720840" y="1234440"/>
            <a:ext cx="4937760" cy="411480"/>
          </a:xfrm>
          <a:prstGeom prst="rect">
            <a:avLst/>
          </a:prstGeom>
          <a:noFill/>
          <a:ln/>
        </p:spPr>
        <p:txBody>
          <a:bodyPr wrap="square" lIns="0" tIns="0" rIns="0" bIns="0" rtlCol="0" anchor="t"/>
          <a:lstStyle/>
          <a:p>
            <a:pPr indent="0" marL="0">
              <a:buNone/>
            </a:pPr>
            <a:r>
              <a:rPr lang="en-US" sz="2000" b="1" dirty="0">
                <a:solidFill>
                  <a:srgbClr val="1F4E79"/>
                </a:solidFill>
                <a:latin typeface="Cambria" pitchFamily="34" charset="0"/>
                <a:ea typeface="Cambria" pitchFamily="34" charset="-122"/>
                <a:cs typeface="Cambria" pitchFamily="34" charset="-120"/>
              </a:rPr>
              <a:t>Evaluation integrity</a:t>
            </a:r>
            <a:endParaRPr lang="en-US" sz="2000" dirty="0"/>
          </a:p>
        </p:txBody>
      </p:sp>
      <p:sp>
        <p:nvSpPr>
          <p:cNvPr id="26" name="Shape 23"/>
          <p:cNvSpPr/>
          <p:nvPr/>
        </p:nvSpPr>
        <p:spPr>
          <a:xfrm>
            <a:off x="6720840" y="1828800"/>
            <a:ext cx="4919472" cy="4251960"/>
          </a:xfrm>
          <a:prstGeom prst="roundRect">
            <a:avLst>
              <a:gd name="adj" fmla="val 1720"/>
            </a:avLst>
          </a:prstGeom>
          <a:solidFill>
            <a:srgbClr val="0F2533"/>
          </a:solidFill>
          <a:ln w="12700">
            <a:solidFill>
              <a:srgbClr val="0F2533"/>
            </a:solidFill>
            <a:prstDash val="solid"/>
          </a:ln>
        </p:spPr>
      </p:sp>
      <p:sp>
        <p:nvSpPr>
          <p:cNvPr id="27" name="Shape 24"/>
          <p:cNvSpPr/>
          <p:nvPr/>
        </p:nvSpPr>
        <p:spPr>
          <a:xfrm>
            <a:off x="6949440" y="2057400"/>
            <a:ext cx="566928" cy="566928"/>
          </a:xfrm>
          <a:prstGeom prst="ellipse">
            <a:avLst/>
          </a:prstGeom>
          <a:solidFill>
            <a:srgbClr val="D9822B"/>
          </a:solidFill>
          <a:ln w="12700">
            <a:solidFill>
              <a:srgbClr val="D9822B"/>
            </a:solidFill>
            <a:prstDash val="solid"/>
          </a:ln>
        </p:spPr>
      </p:sp>
      <p:pic>
        <p:nvPicPr>
          <p:cNvPr id="28" name="Image 1" descr="preencoded.png">    </p:cNvPr>
          <p:cNvPicPr>
            <a:picLocks noChangeAspect="1"/>
          </p:cNvPicPr>
          <p:nvPr/>
        </p:nvPicPr>
        <p:blipFill>
          <a:blip r:embed="rId2"/>
          <a:stretch>
            <a:fillRect/>
          </a:stretch>
        </p:blipFill>
        <p:spPr>
          <a:xfrm>
            <a:off x="7085503" y="2193463"/>
            <a:ext cx="294803" cy="294803"/>
          </a:xfrm>
          <a:prstGeom prst="rect">
            <a:avLst/>
          </a:prstGeom>
        </p:spPr>
      </p:pic>
      <p:sp>
        <p:nvSpPr>
          <p:cNvPr id="29" name="Text 25"/>
          <p:cNvSpPr txBox="1"/>
          <p:nvPr/>
        </p:nvSpPr>
        <p:spPr>
          <a:xfrm>
            <a:off x="7680960" y="2103120"/>
            <a:ext cx="3840480"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Our transcript audit found label leakage</a:t>
            </a:r>
            <a:endParaRPr lang="en-US" sz="1500" dirty="0"/>
          </a:p>
        </p:txBody>
      </p:sp>
      <p:sp>
        <p:nvSpPr>
          <p:cNvPr id="30" name="Text 26"/>
          <p:cNvSpPr txBox="1"/>
          <p:nvPr/>
        </p:nvSpPr>
        <p:spPr>
          <a:xfrm>
            <a:off x="6949440" y="2834640"/>
            <a:ext cx="4480560" cy="31089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Early runs listed the ground-truth folder — file names like '…PortScan' name the attack</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One Tuesday run read the answer from our own project notes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Fix: tools can open only logs/, config/, rules/, data/pcaps/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UNSW runs: zero attempts to read labels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Two datasets, scored against ground truth</a:t>
            </a:r>
            <a:endParaRPr lang="en-US" sz="3400" dirty="0"/>
          </a:p>
        </p:txBody>
      </p:sp>
      <p:sp>
        <p:nvSpPr>
          <p:cNvPr id="3" name="Shape 1"/>
          <p:cNvSpPr/>
          <p:nvPr/>
        </p:nvSpPr>
        <p:spPr>
          <a:xfrm>
            <a:off x="548640" y="1280160"/>
            <a:ext cx="5349240" cy="4800600"/>
          </a:xfrm>
          <a:prstGeom prst="roundRect">
            <a:avLst>
              <a:gd name="adj" fmla="val 1524"/>
            </a:avLst>
          </a:prstGeom>
          <a:solidFill>
            <a:srgbClr val="EEF3F8"/>
          </a:solidFill>
          <a:ln w="12700">
            <a:solidFill>
              <a:srgbClr val="EEF3F8"/>
            </a:solidFill>
            <a:prstDash val="solid"/>
          </a:ln>
        </p:spPr>
      </p:sp>
      <p:sp>
        <p:nvSpPr>
          <p:cNvPr id="4" name="Shape 2"/>
          <p:cNvSpPr/>
          <p:nvPr/>
        </p:nvSpPr>
        <p:spPr>
          <a:xfrm>
            <a:off x="822960" y="1508760"/>
            <a:ext cx="640080" cy="64008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976579" y="1662379"/>
            <a:ext cx="332842" cy="332842"/>
          </a:xfrm>
          <a:prstGeom prst="rect">
            <a:avLst/>
          </a:prstGeom>
        </p:spPr>
      </p:pic>
      <p:sp>
        <p:nvSpPr>
          <p:cNvPr id="6" name="Text 3"/>
          <p:cNvSpPr txBox="1"/>
          <p:nvPr/>
        </p:nvSpPr>
        <p:spPr>
          <a:xfrm>
            <a:off x="1645920" y="1508760"/>
            <a:ext cx="4023360" cy="411480"/>
          </a:xfrm>
          <a:prstGeom prst="rect">
            <a:avLst/>
          </a:prstGeom>
          <a:noFill/>
          <a:ln/>
        </p:spPr>
        <p:txBody>
          <a:bodyPr wrap="square" lIns="0" tIns="0" rIns="0" bIns="0" rtlCol="0" anchor="t"/>
          <a:lstStyle/>
          <a:p>
            <a:pPr indent="0" marL="0">
              <a:buNone/>
            </a:pPr>
            <a:r>
              <a:rPr lang="en-US" sz="2400" b="1" dirty="0">
                <a:solidFill>
                  <a:srgbClr val="0F2533"/>
                </a:solidFill>
                <a:latin typeface="Cambria" pitchFamily="34" charset="0"/>
                <a:ea typeface="Cambria" pitchFamily="34" charset="-122"/>
                <a:cs typeface="Cambria" pitchFamily="34" charset="-120"/>
              </a:rPr>
              <a:t>CIC-IDS2017</a:t>
            </a:r>
            <a:endParaRPr lang="en-US" sz="2400" dirty="0"/>
          </a:p>
        </p:txBody>
      </p:sp>
      <p:sp>
        <p:nvSpPr>
          <p:cNvPr id="7" name="Text 4"/>
          <p:cNvSpPr txBox="1"/>
          <p:nvPr/>
        </p:nvSpPr>
        <p:spPr>
          <a:xfrm>
            <a:off x="1645920" y="1938528"/>
            <a:ext cx="4023360" cy="3200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Canadian Institute for Cybersecurity</a:t>
            </a:r>
            <a:endParaRPr lang="en-US" sz="1300" dirty="0"/>
          </a:p>
        </p:txBody>
      </p:sp>
      <p:sp>
        <p:nvSpPr>
          <p:cNvPr id="8" name="Text 5"/>
          <p:cNvSpPr txBox="1"/>
          <p:nvPr/>
        </p:nvSpPr>
        <p:spPr>
          <a:xfrm>
            <a:off x="822960" y="2606040"/>
            <a:ext cx="1645920" cy="685800"/>
          </a:xfrm>
          <a:prstGeom prst="rect">
            <a:avLst/>
          </a:prstGeom>
          <a:noFill/>
          <a:ln/>
        </p:spPr>
        <p:txBody>
          <a:bodyPr wrap="square" lIns="0" tIns="0" rIns="0" bIns="0" rtlCol="0" anchor="b"/>
          <a:lstStyle/>
          <a:p>
            <a:pPr indent="0" marL="0">
              <a:buNone/>
            </a:pPr>
            <a:r>
              <a:rPr lang="en-US" sz="3600" b="1" dirty="0">
                <a:solidFill>
                  <a:srgbClr val="1F4E79"/>
                </a:solidFill>
                <a:latin typeface="Cambria" pitchFamily="34" charset="0"/>
                <a:ea typeface="Cambria" pitchFamily="34" charset="-122"/>
                <a:cs typeface="Cambria" pitchFamily="34" charset="-120"/>
              </a:rPr>
              <a:t>14</a:t>
            </a:r>
            <a:endParaRPr lang="en-US" sz="3600" dirty="0"/>
          </a:p>
        </p:txBody>
      </p:sp>
      <p:sp>
        <p:nvSpPr>
          <p:cNvPr id="9" name="Text 6"/>
          <p:cNvSpPr txBox="1"/>
          <p:nvPr/>
        </p:nvSpPr>
        <p:spPr>
          <a:xfrm>
            <a:off x="82296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attack categories</a:t>
            </a:r>
            <a:endParaRPr lang="en-US" sz="1200" dirty="0"/>
          </a:p>
        </p:txBody>
      </p:sp>
      <p:sp>
        <p:nvSpPr>
          <p:cNvPr id="10" name="Text 7"/>
          <p:cNvSpPr txBox="1"/>
          <p:nvPr/>
        </p:nvSpPr>
        <p:spPr>
          <a:xfrm>
            <a:off x="2514600" y="2606040"/>
            <a:ext cx="1645920" cy="685800"/>
          </a:xfrm>
          <a:prstGeom prst="rect">
            <a:avLst/>
          </a:prstGeom>
          <a:noFill/>
          <a:ln/>
        </p:spPr>
        <p:txBody>
          <a:bodyPr wrap="square" lIns="0" tIns="0" rIns="0" bIns="0" rtlCol="0" anchor="b"/>
          <a:lstStyle/>
          <a:p>
            <a:pPr indent="0" marL="0">
              <a:buNone/>
            </a:pPr>
            <a:r>
              <a:rPr lang="en-US" sz="3600" b="1" dirty="0">
                <a:solidFill>
                  <a:srgbClr val="1F4E79"/>
                </a:solidFill>
                <a:latin typeface="Cambria" pitchFamily="34" charset="0"/>
                <a:ea typeface="Cambria" pitchFamily="34" charset="-122"/>
                <a:cs typeface="Cambria" pitchFamily="34" charset="-120"/>
              </a:rPr>
              <a:t>4</a:t>
            </a:r>
            <a:endParaRPr lang="en-US" sz="3600" dirty="0"/>
          </a:p>
        </p:txBody>
      </p:sp>
      <p:sp>
        <p:nvSpPr>
          <p:cNvPr id="11" name="Text 8"/>
          <p:cNvSpPr txBox="1"/>
          <p:nvPr/>
        </p:nvSpPr>
        <p:spPr>
          <a:xfrm>
            <a:off x="251460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attack days, tuned + raw passes</a:t>
            </a:r>
            <a:endParaRPr lang="en-US" sz="1200" dirty="0"/>
          </a:p>
        </p:txBody>
      </p:sp>
      <p:sp>
        <p:nvSpPr>
          <p:cNvPr id="12" name="Text 9"/>
          <p:cNvSpPr txBox="1"/>
          <p:nvPr/>
        </p:nvSpPr>
        <p:spPr>
          <a:xfrm>
            <a:off x="4206240" y="2606040"/>
            <a:ext cx="1645920" cy="685800"/>
          </a:xfrm>
          <a:prstGeom prst="rect">
            <a:avLst/>
          </a:prstGeom>
          <a:noFill/>
          <a:ln/>
        </p:spPr>
        <p:txBody>
          <a:bodyPr wrap="square" lIns="0" tIns="0" rIns="0" bIns="0" rtlCol="0" anchor="b"/>
          <a:lstStyle/>
          <a:p>
            <a:pPr indent="0" marL="0">
              <a:buNone/>
            </a:pPr>
            <a:r>
              <a:rPr lang="en-US" sz="2600" b="1" dirty="0">
                <a:solidFill>
                  <a:srgbClr val="1F4E79"/>
                </a:solidFill>
                <a:latin typeface="Cambria" pitchFamily="34" charset="0"/>
                <a:ea typeface="Cambria" pitchFamily="34" charset="-122"/>
                <a:cs typeface="Cambria" pitchFamily="34" charset="-120"/>
              </a:rPr>
              <a:t>per-flow</a:t>
            </a:r>
            <a:endParaRPr lang="en-US" sz="2600" dirty="0"/>
          </a:p>
        </p:txBody>
      </p:sp>
      <p:sp>
        <p:nvSpPr>
          <p:cNvPr id="13" name="Text 10"/>
          <p:cNvSpPr txBox="1"/>
          <p:nvPr/>
        </p:nvSpPr>
        <p:spPr>
          <a:xfrm>
            <a:off x="420624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labels (CICFlowMeter)</a:t>
            </a:r>
            <a:endParaRPr lang="en-US" sz="1200" dirty="0"/>
          </a:p>
        </p:txBody>
      </p:sp>
      <p:sp>
        <p:nvSpPr>
          <p:cNvPr id="14" name="Text 11"/>
          <p:cNvSpPr txBox="1"/>
          <p:nvPr/>
        </p:nvSpPr>
        <p:spPr>
          <a:xfrm>
            <a:off x="822960" y="4251960"/>
            <a:ext cx="4800600" cy="164592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Brute force, DoS (Hulk, GoldenEye, slowloris, Slowhttptest), Heartbleed, web attacks, infiltration, DDoS, port scan, ARES botnet</a:t>
            </a:r>
            <a:endParaRPr lang="en-US" sz="1400" dirty="0"/>
          </a:p>
        </p:txBody>
      </p:sp>
      <p:sp>
        <p:nvSpPr>
          <p:cNvPr id="15" name="Shape 12"/>
          <p:cNvSpPr/>
          <p:nvPr/>
        </p:nvSpPr>
        <p:spPr>
          <a:xfrm>
            <a:off x="6217920" y="1280160"/>
            <a:ext cx="5349240" cy="4800600"/>
          </a:xfrm>
          <a:prstGeom prst="roundRect">
            <a:avLst>
              <a:gd name="adj" fmla="val 1524"/>
            </a:avLst>
          </a:prstGeom>
          <a:solidFill>
            <a:srgbClr val="EEF3F8"/>
          </a:solidFill>
          <a:ln w="12700">
            <a:solidFill>
              <a:srgbClr val="EEF3F8"/>
            </a:solidFill>
            <a:prstDash val="solid"/>
          </a:ln>
        </p:spPr>
      </p:sp>
      <p:sp>
        <p:nvSpPr>
          <p:cNvPr id="16" name="Shape 13"/>
          <p:cNvSpPr/>
          <p:nvPr/>
        </p:nvSpPr>
        <p:spPr>
          <a:xfrm>
            <a:off x="6492240" y="1508760"/>
            <a:ext cx="640080" cy="640080"/>
          </a:xfrm>
          <a:prstGeom prst="ellipse">
            <a:avLst/>
          </a:prstGeom>
          <a:solidFill>
            <a:srgbClr val="D9822B"/>
          </a:solidFill>
          <a:ln w="12700">
            <a:solidFill>
              <a:srgbClr val="D9822B"/>
            </a:solidFill>
            <a:prstDash val="solid"/>
          </a:ln>
        </p:spPr>
      </p:sp>
      <p:pic>
        <p:nvPicPr>
          <p:cNvPr id="17" name="Image 1" descr="preencoded.png">    </p:cNvPr>
          <p:cNvPicPr>
            <a:picLocks noChangeAspect="1"/>
          </p:cNvPicPr>
          <p:nvPr/>
        </p:nvPicPr>
        <p:blipFill>
          <a:blip r:embed="rId2"/>
          <a:stretch>
            <a:fillRect/>
          </a:stretch>
        </p:blipFill>
        <p:spPr>
          <a:xfrm>
            <a:off x="6645859" y="1662379"/>
            <a:ext cx="332842" cy="332842"/>
          </a:xfrm>
          <a:prstGeom prst="rect">
            <a:avLst/>
          </a:prstGeom>
        </p:spPr>
      </p:pic>
      <p:sp>
        <p:nvSpPr>
          <p:cNvPr id="18" name="Text 14"/>
          <p:cNvSpPr txBox="1"/>
          <p:nvPr/>
        </p:nvSpPr>
        <p:spPr>
          <a:xfrm>
            <a:off x="7315200" y="1508760"/>
            <a:ext cx="4023360" cy="411480"/>
          </a:xfrm>
          <a:prstGeom prst="rect">
            <a:avLst/>
          </a:prstGeom>
          <a:noFill/>
          <a:ln/>
        </p:spPr>
        <p:txBody>
          <a:bodyPr wrap="square" lIns="0" tIns="0" rIns="0" bIns="0" rtlCol="0" anchor="t"/>
          <a:lstStyle/>
          <a:p>
            <a:pPr indent="0" marL="0">
              <a:buNone/>
            </a:pPr>
            <a:r>
              <a:rPr lang="en-US" sz="2400" b="1" dirty="0">
                <a:solidFill>
                  <a:srgbClr val="0F2533"/>
                </a:solidFill>
                <a:latin typeface="Cambria" pitchFamily="34" charset="0"/>
                <a:ea typeface="Cambria" pitchFamily="34" charset="-122"/>
                <a:cs typeface="Cambria" pitchFamily="34" charset="-120"/>
              </a:rPr>
              <a:t>UNSW-NB15</a:t>
            </a:r>
            <a:endParaRPr lang="en-US" sz="2400" dirty="0"/>
          </a:p>
        </p:txBody>
      </p:sp>
      <p:sp>
        <p:nvSpPr>
          <p:cNvPr id="19" name="Text 15"/>
          <p:cNvSpPr txBox="1"/>
          <p:nvPr/>
        </p:nvSpPr>
        <p:spPr>
          <a:xfrm>
            <a:off x="7315200" y="1938528"/>
            <a:ext cx="4023360" cy="3200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UNSW Canberra Cyber Range Lab</a:t>
            </a:r>
            <a:endParaRPr lang="en-US" sz="1300" dirty="0"/>
          </a:p>
        </p:txBody>
      </p:sp>
      <p:sp>
        <p:nvSpPr>
          <p:cNvPr id="20" name="Text 16"/>
          <p:cNvSpPr txBox="1"/>
          <p:nvPr/>
        </p:nvSpPr>
        <p:spPr>
          <a:xfrm>
            <a:off x="6492240" y="2606040"/>
            <a:ext cx="1645920" cy="685800"/>
          </a:xfrm>
          <a:prstGeom prst="rect">
            <a:avLst/>
          </a:prstGeom>
          <a:noFill/>
          <a:ln/>
        </p:spPr>
        <p:txBody>
          <a:bodyPr wrap="square" lIns="0" tIns="0" rIns="0" bIns="0" rtlCol="0" anchor="b"/>
          <a:lstStyle/>
          <a:p>
            <a:pPr indent="0" marL="0">
              <a:buNone/>
            </a:pPr>
            <a:r>
              <a:rPr lang="en-US" sz="3600" b="1" dirty="0">
                <a:solidFill>
                  <a:srgbClr val="D9822B"/>
                </a:solidFill>
                <a:latin typeface="Cambria" pitchFamily="34" charset="0"/>
                <a:ea typeface="Cambria" pitchFamily="34" charset="-122"/>
                <a:cs typeface="Cambria" pitchFamily="34" charset="-120"/>
              </a:rPr>
              <a:t>9</a:t>
            </a:r>
            <a:endParaRPr lang="en-US" sz="3600" dirty="0"/>
          </a:p>
        </p:txBody>
      </p:sp>
      <p:sp>
        <p:nvSpPr>
          <p:cNvPr id="21" name="Text 17"/>
          <p:cNvSpPr txBox="1"/>
          <p:nvPr/>
        </p:nvSpPr>
        <p:spPr>
          <a:xfrm>
            <a:off x="649224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attack categories</a:t>
            </a:r>
            <a:endParaRPr lang="en-US" sz="1200" dirty="0"/>
          </a:p>
        </p:txBody>
      </p:sp>
      <p:sp>
        <p:nvSpPr>
          <p:cNvPr id="22" name="Text 18"/>
          <p:cNvSpPr txBox="1"/>
          <p:nvPr/>
        </p:nvSpPr>
        <p:spPr>
          <a:xfrm>
            <a:off x="8183880" y="2606040"/>
            <a:ext cx="1645920" cy="685800"/>
          </a:xfrm>
          <a:prstGeom prst="rect">
            <a:avLst/>
          </a:prstGeom>
          <a:noFill/>
          <a:ln/>
        </p:spPr>
        <p:txBody>
          <a:bodyPr wrap="square" lIns="0" tIns="0" rIns="0" bIns="0" rtlCol="0" anchor="b"/>
          <a:lstStyle/>
          <a:p>
            <a:pPr indent="0" marL="0">
              <a:buNone/>
            </a:pPr>
            <a:r>
              <a:rPr lang="en-US" sz="3600" b="1" dirty="0">
                <a:solidFill>
                  <a:srgbClr val="D9822B"/>
                </a:solidFill>
                <a:latin typeface="Cambria" pitchFamily="34" charset="0"/>
                <a:ea typeface="Cambria" pitchFamily="34" charset="-122"/>
                <a:cs typeface="Cambria" pitchFamily="34" charset="-120"/>
              </a:rPr>
              <a:t>6</a:t>
            </a:r>
            <a:endParaRPr lang="en-US" sz="3600" dirty="0"/>
          </a:p>
        </p:txBody>
      </p:sp>
      <p:sp>
        <p:nvSpPr>
          <p:cNvPr id="23" name="Text 19"/>
          <p:cNvSpPr txBox="1"/>
          <p:nvPr/>
        </p:nvSpPr>
        <p:spPr>
          <a:xfrm>
            <a:off x="818388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captures (12 GB), raw only</a:t>
            </a:r>
            <a:endParaRPr lang="en-US" sz="1200" dirty="0"/>
          </a:p>
        </p:txBody>
      </p:sp>
      <p:sp>
        <p:nvSpPr>
          <p:cNvPr id="24" name="Text 20"/>
          <p:cNvSpPr txBox="1"/>
          <p:nvPr/>
        </p:nvSpPr>
        <p:spPr>
          <a:xfrm>
            <a:off x="9875520" y="2606040"/>
            <a:ext cx="1645920" cy="685800"/>
          </a:xfrm>
          <a:prstGeom prst="rect">
            <a:avLst/>
          </a:prstGeom>
          <a:noFill/>
          <a:ln/>
        </p:spPr>
        <p:txBody>
          <a:bodyPr wrap="square" lIns="0" tIns="0" rIns="0" bIns="0" rtlCol="0" anchor="b"/>
          <a:lstStyle/>
          <a:p>
            <a:pPr indent="0" marL="0">
              <a:buNone/>
            </a:pPr>
            <a:r>
              <a:rPr lang="en-US" sz="2600" b="1" dirty="0">
                <a:solidFill>
                  <a:srgbClr val="D9822B"/>
                </a:solidFill>
                <a:latin typeface="Cambria" pitchFamily="34" charset="0"/>
                <a:ea typeface="Cambria" pitchFamily="34" charset="-122"/>
                <a:cs typeface="Cambria" pitchFamily="34" charset="-120"/>
              </a:rPr>
              <a:t>31,432</a:t>
            </a:r>
            <a:endParaRPr lang="en-US" sz="2600" dirty="0"/>
          </a:p>
        </p:txBody>
      </p:sp>
      <p:sp>
        <p:nvSpPr>
          <p:cNvPr id="25" name="Text 21"/>
          <p:cNvSpPr txBox="1"/>
          <p:nvPr/>
        </p:nvSpPr>
        <p:spPr>
          <a:xfrm>
            <a:off x="987552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labelled attack events</a:t>
            </a:r>
            <a:endParaRPr lang="en-US" sz="1200" dirty="0"/>
          </a:p>
        </p:txBody>
      </p:sp>
      <p:sp>
        <p:nvSpPr>
          <p:cNvPr id="26" name="Text 22"/>
          <p:cNvSpPr txBox="1"/>
          <p:nvPr/>
        </p:nvSpPr>
        <p:spPr>
          <a:xfrm>
            <a:off x="6492240" y="4251960"/>
            <a:ext cx="4800600" cy="164592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Never used during development — tests whether the approach transfers. No benign-only day, so no baseline tuning is possible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CIC-IDS2017: broad coverage, precise rules</a:t>
            </a:r>
            <a:endParaRPr lang="en-US" sz="3400" dirty="0"/>
          </a:p>
        </p:txBody>
      </p:sp>
      <p:sp>
        <p:nvSpPr>
          <p:cNvPr id="3" name="Text 1"/>
          <p:cNvSpPr txBox="1"/>
          <p:nvPr/>
        </p:nvSpPr>
        <p:spPr>
          <a:xfrm>
            <a:off x="548640" y="1325880"/>
            <a:ext cx="3931920" cy="777240"/>
          </a:xfrm>
          <a:prstGeom prst="rect">
            <a:avLst/>
          </a:prstGeom>
          <a:noFill/>
          <a:ln/>
        </p:spPr>
        <p:txBody>
          <a:bodyPr wrap="square" lIns="0" tIns="0" rIns="0" bIns="0" rtlCol="0" anchor="b"/>
          <a:lstStyle/>
          <a:p>
            <a:pPr indent="0" marL="0">
              <a:buNone/>
            </a:pPr>
            <a:r>
              <a:rPr lang="en-US" sz="4400" b="1" dirty="0">
                <a:solidFill>
                  <a:srgbClr val="D9822B"/>
                </a:solidFill>
                <a:latin typeface="Cambria" pitchFamily="34" charset="0"/>
                <a:ea typeface="Cambria" pitchFamily="34" charset="-122"/>
                <a:cs typeface="Cambria" pitchFamily="34" charset="-120"/>
              </a:rPr>
              <a:t>13 / 14</a:t>
            </a:r>
            <a:endParaRPr lang="en-US" sz="4400" dirty="0"/>
          </a:p>
        </p:txBody>
      </p:sp>
      <p:sp>
        <p:nvSpPr>
          <p:cNvPr id="4" name="Text 2"/>
          <p:cNvSpPr txBox="1"/>
          <p:nvPr/>
        </p:nvSpPr>
        <p:spPr>
          <a:xfrm>
            <a:off x="548640" y="2103120"/>
            <a:ext cx="39319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attack categories identified by the model (only DoS GoldenEye missed)</a:t>
            </a:r>
            <a:endParaRPr lang="en-US" sz="1300" dirty="0"/>
          </a:p>
        </p:txBody>
      </p:sp>
      <p:sp>
        <p:nvSpPr>
          <p:cNvPr id="5" name="Text 3"/>
          <p:cNvSpPr txBox="1"/>
          <p:nvPr/>
        </p:nvSpPr>
        <p:spPr>
          <a:xfrm>
            <a:off x="548640" y="2834640"/>
            <a:ext cx="3931920" cy="777240"/>
          </a:xfrm>
          <a:prstGeom prst="rect">
            <a:avLst/>
          </a:prstGeom>
          <a:noFill/>
          <a:ln/>
        </p:spPr>
        <p:txBody>
          <a:bodyPr wrap="square" lIns="0" tIns="0" rIns="0" bIns="0" rtlCol="0" anchor="b"/>
          <a:lstStyle/>
          <a:p>
            <a:pPr indent="0" marL="0">
              <a:buNone/>
            </a:pPr>
            <a:r>
              <a:rPr lang="en-US" sz="4400" b="1" dirty="0">
                <a:solidFill>
                  <a:srgbClr val="1F4E79"/>
                </a:solidFill>
                <a:latin typeface="Cambria" pitchFamily="34" charset="0"/>
                <a:ea typeface="Cambria" pitchFamily="34" charset="-122"/>
                <a:cs typeface="Cambria" pitchFamily="34" charset="-120"/>
              </a:rPr>
              <a:t>8 → 12</a:t>
            </a:r>
            <a:endParaRPr lang="en-US" sz="4400" dirty="0"/>
          </a:p>
        </p:txBody>
      </p:sp>
      <p:sp>
        <p:nvSpPr>
          <p:cNvPr id="6" name="Text 4"/>
          <p:cNvSpPr txBox="1"/>
          <p:nvPr/>
        </p:nvSpPr>
        <p:spPr>
          <a:xfrm>
            <a:off x="548640" y="3611880"/>
            <a:ext cx="39319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14 categories caught by rules: stock ET Open → stock + AI-authored rules</a:t>
            </a:r>
            <a:endParaRPr lang="en-US" sz="1300" dirty="0"/>
          </a:p>
        </p:txBody>
      </p:sp>
      <p:sp>
        <p:nvSpPr>
          <p:cNvPr id="7" name="Text 5"/>
          <p:cNvSpPr txBox="1"/>
          <p:nvPr/>
        </p:nvSpPr>
        <p:spPr>
          <a:xfrm>
            <a:off x="548640" y="4343400"/>
            <a:ext cx="3931920" cy="777240"/>
          </a:xfrm>
          <a:prstGeom prst="rect">
            <a:avLst/>
          </a:prstGeom>
          <a:noFill/>
          <a:ln/>
        </p:spPr>
        <p:txBody>
          <a:bodyPr wrap="square" lIns="0" tIns="0" rIns="0" bIns="0" rtlCol="0" anchor="b"/>
          <a:lstStyle/>
          <a:p>
            <a:pPr indent="0" marL="0">
              <a:buNone/>
            </a:pPr>
            <a:r>
              <a:rPr lang="en-US" sz="4400" b="1" dirty="0">
                <a:solidFill>
                  <a:srgbClr val="D9822B"/>
                </a:solidFill>
                <a:latin typeface="Cambria" pitchFamily="34" charset="0"/>
                <a:ea typeface="Cambria" pitchFamily="34" charset="-122"/>
                <a:cs typeface="Cambria" pitchFamily="34" charset="-120"/>
              </a:rPr>
              <a:t>99.4%</a:t>
            </a:r>
            <a:endParaRPr lang="en-US" sz="4400" dirty="0"/>
          </a:p>
        </p:txBody>
      </p:sp>
      <p:sp>
        <p:nvSpPr>
          <p:cNvPr id="8" name="Text 6"/>
          <p:cNvSpPr txBox="1"/>
          <p:nvPr/>
        </p:nvSpPr>
        <p:spPr>
          <a:xfrm>
            <a:off x="548640" y="5120640"/>
            <a:ext cx="39319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AI-rule alerts on the noisy days fell on real attack flows (stock rules: 6.1%)</a:t>
            </a:r>
            <a:endParaRPr lang="en-US" sz="1300" dirty="0"/>
          </a:p>
        </p:txBody>
      </p:sp>
      <p:graphicFrame>
        <p:nvGraphicFramePr>
          <p:cNvPr id="9" name="Chart 0" descr=""/>
          <p:cNvGraphicFramePr/>
          <p:nvPr/>
        </p:nvGraphicFramePr>
        <p:xfrm>
          <a:off x="484632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Flow-level matching on 5-tuple and time; Suricata engine events excluded. The one bad rule (FTP 'data staging') fires on routine uploads.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What the stock rules missed</a:t>
            </a:r>
            <a:endParaRPr lang="en-US" sz="3400" dirty="0"/>
          </a:p>
        </p:txBody>
      </p:sp>
      <p:sp>
        <p:nvSpPr>
          <p:cNvPr id="3" name="Shape 1"/>
          <p:cNvSpPr/>
          <p:nvPr/>
        </p:nvSpPr>
        <p:spPr>
          <a:xfrm>
            <a:off x="548640" y="1325880"/>
            <a:ext cx="5349240" cy="2194560"/>
          </a:xfrm>
          <a:prstGeom prst="roundRect">
            <a:avLst>
              <a:gd name="adj" fmla="val 3333"/>
            </a:avLst>
          </a:prstGeom>
          <a:solidFill>
            <a:srgbClr val="EEF3F8"/>
          </a:solidFill>
          <a:ln w="12700">
            <a:solidFill>
              <a:srgbClr val="EEF3F8"/>
            </a:solidFill>
            <a:prstDash val="solid"/>
          </a:ln>
        </p:spPr>
      </p:sp>
      <p:sp>
        <p:nvSpPr>
          <p:cNvPr id="4" name="Shape 2"/>
          <p:cNvSpPr/>
          <p:nvPr/>
        </p:nvSpPr>
        <p:spPr>
          <a:xfrm>
            <a:off x="822960" y="1600200"/>
            <a:ext cx="640080" cy="64008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1645920" y="1645920"/>
            <a:ext cx="4023360" cy="50292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FAKEVERB DoS</a:t>
            </a:r>
            <a:endParaRPr lang="en-US" sz="2100" dirty="0"/>
          </a:p>
        </p:txBody>
      </p:sp>
      <p:sp>
        <p:nvSpPr>
          <p:cNvPr id="7" name="Text 4"/>
          <p:cNvSpPr txBox="1"/>
          <p:nvPr/>
        </p:nvSpPr>
        <p:spPr>
          <a:xfrm>
            <a:off x="822960" y="2331720"/>
            <a:ext cx="4800600" cy="68580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Diagnosed that Suricata's HTTP parser hides non-standard methods, rewrote the rule on raw TCP payload</a:t>
            </a:r>
            <a:endParaRPr lang="en-US" sz="1400" dirty="0"/>
          </a:p>
        </p:txBody>
      </p:sp>
      <p:sp>
        <p:nvSpPr>
          <p:cNvPr id="8" name="Text 5"/>
          <p:cNvSpPr txBox="1"/>
          <p:nvPr/>
        </p:nvSpPr>
        <p:spPr>
          <a:xfrm>
            <a:off x="822960" y="3017520"/>
            <a:ext cx="4800600" cy="365760"/>
          </a:xfrm>
          <a:prstGeom prst="rect">
            <a:avLst/>
          </a:prstGeom>
          <a:noFill/>
          <a:ln/>
        </p:spPr>
        <p:txBody>
          <a:bodyPr wrap="square" lIns="0" tIns="0" rIns="0" bIns="0" rtlCol="0" anchor="t"/>
          <a:lstStyle/>
          <a:p>
            <a:pPr indent="0" marL="0">
              <a:buNone/>
            </a:pPr>
            <a:r>
              <a:rPr lang="en-US" sz="1500" b="1" dirty="0">
                <a:solidFill>
                  <a:srgbClr val="D9822B"/>
                </a:solidFill>
                <a:latin typeface="Calibri" pitchFamily="34" charset="0"/>
                <a:ea typeface="Calibri" pitchFamily="34" charset="-122"/>
                <a:cs typeface="Calibri" pitchFamily="34" charset="-120"/>
              </a:rPr>
              <a:t>463 hits (stock: none)</a:t>
            </a:r>
            <a:endParaRPr lang="en-US" sz="1500" dirty="0"/>
          </a:p>
        </p:txBody>
      </p:sp>
      <p:sp>
        <p:nvSpPr>
          <p:cNvPr id="9" name="Shape 6"/>
          <p:cNvSpPr/>
          <p:nvPr/>
        </p:nvSpPr>
        <p:spPr>
          <a:xfrm>
            <a:off x="6217920" y="1325880"/>
            <a:ext cx="5349240" cy="2194560"/>
          </a:xfrm>
          <a:prstGeom prst="roundRect">
            <a:avLst>
              <a:gd name="adj" fmla="val 3333"/>
            </a:avLst>
          </a:prstGeom>
          <a:solidFill>
            <a:srgbClr val="EEF3F8"/>
          </a:solidFill>
          <a:ln w="12700">
            <a:solidFill>
              <a:srgbClr val="EEF3F8"/>
            </a:solidFill>
            <a:prstDash val="solid"/>
          </a:ln>
        </p:spPr>
      </p:sp>
      <p:sp>
        <p:nvSpPr>
          <p:cNvPr id="10" name="Shape 7"/>
          <p:cNvSpPr/>
          <p:nvPr/>
        </p:nvSpPr>
        <p:spPr>
          <a:xfrm>
            <a:off x="6492240" y="1600200"/>
            <a:ext cx="640080" cy="640080"/>
          </a:xfrm>
          <a:prstGeom prst="ellipse">
            <a:avLst/>
          </a:prstGeom>
          <a:solidFill>
            <a:srgbClr val="1F4E79"/>
          </a:solidFill>
          <a:ln w="12700">
            <a:solidFill>
              <a:srgbClr val="1F4E79"/>
            </a:solidFill>
            <a:prstDash val="solid"/>
          </a:ln>
        </p:spPr>
      </p:sp>
      <p:pic>
        <p:nvPicPr>
          <p:cNvPr id="11" name="Image 1" descr="preencoded.png">    </p:cNvPr>
          <p:cNvPicPr>
            <a:picLocks noChangeAspect="1"/>
          </p:cNvPicPr>
          <p:nvPr/>
        </p:nvPicPr>
        <p:blipFill>
          <a:blip r:embed="rId2"/>
          <a:stretch>
            <a:fillRect/>
          </a:stretch>
        </p:blipFill>
        <p:spPr>
          <a:xfrm>
            <a:off x="6645859" y="1753819"/>
            <a:ext cx="332842" cy="332842"/>
          </a:xfrm>
          <a:prstGeom prst="rect">
            <a:avLst/>
          </a:prstGeom>
        </p:spPr>
      </p:pic>
      <p:sp>
        <p:nvSpPr>
          <p:cNvPr id="12" name="Text 8"/>
          <p:cNvSpPr txBox="1"/>
          <p:nvPr/>
        </p:nvSpPr>
        <p:spPr>
          <a:xfrm>
            <a:off x="7315200" y="1645920"/>
            <a:ext cx="4023360" cy="50292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Hulk GET flood</a:t>
            </a:r>
            <a:endParaRPr lang="en-US" sz="2100" dirty="0"/>
          </a:p>
        </p:txBody>
      </p:sp>
      <p:sp>
        <p:nvSpPr>
          <p:cNvPr id="13" name="Text 9"/>
          <p:cNvSpPr txBox="1"/>
          <p:nvPr/>
        </p:nvSpPr>
        <p:spPr>
          <a:xfrm>
            <a:off x="6492240" y="2331720"/>
            <a:ext cx="4800600" cy="68580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149,703-request cache-busting flood with no dedicated stock rule; wrote and validated a rate rule</a:t>
            </a:r>
            <a:endParaRPr lang="en-US" sz="1400" dirty="0"/>
          </a:p>
        </p:txBody>
      </p:sp>
      <p:sp>
        <p:nvSpPr>
          <p:cNvPr id="14" name="Text 10"/>
          <p:cNvSpPr txBox="1"/>
          <p:nvPr/>
        </p:nvSpPr>
        <p:spPr>
          <a:xfrm>
            <a:off x="6492240" y="3017520"/>
            <a:ext cx="4800600" cy="365760"/>
          </a:xfrm>
          <a:prstGeom prst="rect">
            <a:avLst/>
          </a:prstGeom>
          <a:noFill/>
          <a:ln/>
        </p:spPr>
        <p:txBody>
          <a:bodyPr wrap="square" lIns="0" tIns="0" rIns="0" bIns="0" rtlCol="0" anchor="t"/>
          <a:lstStyle/>
          <a:p>
            <a:pPr indent="0" marL="0">
              <a:buNone/>
            </a:pPr>
            <a:r>
              <a:rPr lang="en-US" sz="1500" b="1" dirty="0">
                <a:solidFill>
                  <a:srgbClr val="D9822B"/>
                </a:solidFill>
                <a:latin typeface="Calibri" pitchFamily="34" charset="0"/>
                <a:ea typeface="Calibri" pitchFamily="34" charset="-122"/>
                <a:cs typeface="Calibri" pitchFamily="34" charset="-120"/>
              </a:rPr>
              <a:t>new detection</a:t>
            </a:r>
            <a:endParaRPr lang="en-US" sz="1500" dirty="0"/>
          </a:p>
        </p:txBody>
      </p:sp>
      <p:sp>
        <p:nvSpPr>
          <p:cNvPr id="15" name="Shape 11"/>
          <p:cNvSpPr/>
          <p:nvPr/>
        </p:nvSpPr>
        <p:spPr>
          <a:xfrm>
            <a:off x="548640" y="3749040"/>
            <a:ext cx="5349240" cy="2194560"/>
          </a:xfrm>
          <a:prstGeom prst="roundRect">
            <a:avLst>
              <a:gd name="adj" fmla="val 3333"/>
            </a:avLst>
          </a:prstGeom>
          <a:solidFill>
            <a:srgbClr val="EEF3F8"/>
          </a:solidFill>
          <a:ln w="12700">
            <a:solidFill>
              <a:srgbClr val="EEF3F8"/>
            </a:solidFill>
            <a:prstDash val="solid"/>
          </a:ln>
        </p:spPr>
      </p:sp>
      <p:sp>
        <p:nvSpPr>
          <p:cNvPr id="16" name="Shape 12"/>
          <p:cNvSpPr/>
          <p:nvPr/>
        </p:nvSpPr>
        <p:spPr>
          <a:xfrm>
            <a:off x="822960" y="4023360"/>
            <a:ext cx="640080" cy="640080"/>
          </a:xfrm>
          <a:prstGeom prst="ellipse">
            <a:avLst/>
          </a:prstGeom>
          <a:solidFill>
            <a:srgbClr val="D9822B"/>
          </a:solidFill>
          <a:ln w="12700">
            <a:solidFill>
              <a:srgbClr val="D9822B"/>
            </a:solidFill>
            <a:prstDash val="solid"/>
          </a:ln>
        </p:spPr>
      </p:sp>
      <p:pic>
        <p:nvPicPr>
          <p:cNvPr id="17" name="Image 2" descr="preencoded.png">    </p:cNvPr>
          <p:cNvPicPr>
            <a:picLocks noChangeAspect="1"/>
          </p:cNvPicPr>
          <p:nvPr/>
        </p:nvPicPr>
        <p:blipFill>
          <a:blip r:embed="rId3"/>
          <a:stretch>
            <a:fillRect/>
          </a:stretch>
        </p:blipFill>
        <p:spPr>
          <a:xfrm>
            <a:off x="976579" y="4176979"/>
            <a:ext cx="332842" cy="332842"/>
          </a:xfrm>
          <a:prstGeom prst="rect">
            <a:avLst/>
          </a:prstGeom>
        </p:spPr>
      </p:pic>
      <p:sp>
        <p:nvSpPr>
          <p:cNvPr id="18" name="Text 13"/>
          <p:cNvSpPr txBox="1"/>
          <p:nvPr/>
        </p:nvSpPr>
        <p:spPr>
          <a:xfrm>
            <a:off x="1645920" y="4069080"/>
            <a:ext cx="4023360" cy="50292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ARES botnet</a:t>
            </a:r>
            <a:endParaRPr lang="en-US" sz="2100" dirty="0"/>
          </a:p>
        </p:txBody>
      </p:sp>
      <p:sp>
        <p:nvSpPr>
          <p:cNvPr id="19" name="Text 14"/>
          <p:cNvSpPr txBox="1"/>
          <p:nvPr/>
        </p:nvSpPr>
        <p:spPr>
          <a:xfrm>
            <a:off x="822960" y="4754880"/>
            <a:ext cx="4800600" cy="68580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Five infected hosts beaconing to a C2 server; no stock or custom alert had fired</a:t>
            </a:r>
            <a:endParaRPr lang="en-US" sz="1400" dirty="0"/>
          </a:p>
        </p:txBody>
      </p:sp>
      <p:sp>
        <p:nvSpPr>
          <p:cNvPr id="20" name="Text 15"/>
          <p:cNvSpPr txBox="1"/>
          <p:nvPr/>
        </p:nvSpPr>
        <p:spPr>
          <a:xfrm>
            <a:off x="822960" y="5440680"/>
            <a:ext cx="4800600" cy="365760"/>
          </a:xfrm>
          <a:prstGeom prst="rect">
            <a:avLst/>
          </a:prstGeom>
          <a:noFill/>
          <a:ln/>
        </p:spPr>
        <p:txBody>
          <a:bodyPr wrap="square" lIns="0" tIns="0" rIns="0" bIns="0" rtlCol="0" anchor="t"/>
          <a:lstStyle/>
          <a:p>
            <a:pPr indent="0" marL="0">
              <a:buNone/>
            </a:pPr>
            <a:r>
              <a:rPr lang="en-US" sz="1500" b="1" dirty="0">
                <a:solidFill>
                  <a:srgbClr val="D9822B"/>
                </a:solidFill>
                <a:latin typeface="Calibri" pitchFamily="34" charset="0"/>
                <a:ea typeface="Calibri" pitchFamily="34" charset="-122"/>
                <a:cs typeface="Calibri" pitchFamily="34" charset="-120"/>
              </a:rPr>
              <a:t>15 of 15 alerts on Bot flows</a:t>
            </a:r>
            <a:endParaRPr lang="en-US" sz="1500" dirty="0"/>
          </a:p>
        </p:txBody>
      </p:sp>
      <p:sp>
        <p:nvSpPr>
          <p:cNvPr id="21" name="Shape 16"/>
          <p:cNvSpPr/>
          <p:nvPr/>
        </p:nvSpPr>
        <p:spPr>
          <a:xfrm>
            <a:off x="6217920" y="3749040"/>
            <a:ext cx="5349240" cy="2194560"/>
          </a:xfrm>
          <a:prstGeom prst="roundRect">
            <a:avLst>
              <a:gd name="adj" fmla="val 3333"/>
            </a:avLst>
          </a:prstGeom>
          <a:solidFill>
            <a:srgbClr val="EEF3F8"/>
          </a:solidFill>
          <a:ln w="12700">
            <a:solidFill>
              <a:srgbClr val="EEF3F8"/>
            </a:solidFill>
            <a:prstDash val="solid"/>
          </a:ln>
        </p:spPr>
      </p:sp>
      <p:sp>
        <p:nvSpPr>
          <p:cNvPr id="22" name="Shape 17"/>
          <p:cNvSpPr/>
          <p:nvPr/>
        </p:nvSpPr>
        <p:spPr>
          <a:xfrm>
            <a:off x="6492240" y="4023360"/>
            <a:ext cx="640080" cy="640080"/>
          </a:xfrm>
          <a:prstGeom prst="ellipse">
            <a:avLst/>
          </a:prstGeom>
          <a:solidFill>
            <a:srgbClr val="1F4E79"/>
          </a:solidFill>
          <a:ln w="12700">
            <a:solidFill>
              <a:srgbClr val="1F4E79"/>
            </a:solidFill>
            <a:prstDash val="solid"/>
          </a:ln>
        </p:spPr>
      </p:sp>
      <p:pic>
        <p:nvPicPr>
          <p:cNvPr id="23" name="Image 3" descr="preencoded.png">    </p:cNvPr>
          <p:cNvPicPr>
            <a:picLocks noChangeAspect="1"/>
          </p:cNvPicPr>
          <p:nvPr/>
        </p:nvPicPr>
        <p:blipFill>
          <a:blip r:embed="rId4"/>
          <a:stretch>
            <a:fillRect/>
          </a:stretch>
        </p:blipFill>
        <p:spPr>
          <a:xfrm>
            <a:off x="6645859" y="4176979"/>
            <a:ext cx="332842" cy="332842"/>
          </a:xfrm>
          <a:prstGeom prst="rect">
            <a:avLst/>
          </a:prstGeom>
        </p:spPr>
      </p:pic>
      <p:sp>
        <p:nvSpPr>
          <p:cNvPr id="24" name="Text 18"/>
          <p:cNvSpPr txBox="1"/>
          <p:nvPr/>
        </p:nvSpPr>
        <p:spPr>
          <a:xfrm>
            <a:off x="7315200" y="4069080"/>
            <a:ext cx="4023360" cy="50292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SSH brute force</a:t>
            </a:r>
            <a:endParaRPr lang="en-US" sz="2100" dirty="0"/>
          </a:p>
        </p:txBody>
      </p:sp>
      <p:sp>
        <p:nvSpPr>
          <p:cNvPr id="25" name="Text 19"/>
          <p:cNvSpPr txBox="1"/>
          <p:nvPr/>
        </p:nvSpPr>
        <p:spPr>
          <a:xfrm>
            <a:off x="6492240" y="4754880"/>
            <a:ext cx="4800600" cy="68580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Paramiko client fingerprint rule for SSH-Patator</a:t>
            </a:r>
            <a:endParaRPr lang="en-US" sz="1400" dirty="0"/>
          </a:p>
        </p:txBody>
      </p:sp>
      <p:sp>
        <p:nvSpPr>
          <p:cNvPr id="26" name="Text 20"/>
          <p:cNvSpPr txBox="1"/>
          <p:nvPr/>
        </p:nvSpPr>
        <p:spPr>
          <a:xfrm>
            <a:off x="6492240" y="5440680"/>
            <a:ext cx="4800600" cy="365760"/>
          </a:xfrm>
          <a:prstGeom prst="rect">
            <a:avLst/>
          </a:prstGeom>
          <a:noFill/>
          <a:ln/>
        </p:spPr>
        <p:txBody>
          <a:bodyPr wrap="square" lIns="0" tIns="0" rIns="0" bIns="0" rtlCol="0" anchor="t"/>
          <a:lstStyle/>
          <a:p>
            <a:pPr indent="0" marL="0">
              <a:buNone/>
            </a:pPr>
            <a:r>
              <a:rPr lang="en-US" sz="1500" b="1" dirty="0">
                <a:solidFill>
                  <a:srgbClr val="D9822B"/>
                </a:solidFill>
                <a:latin typeface="Calibri" pitchFamily="34" charset="0"/>
                <a:ea typeface="Calibri" pitchFamily="34" charset="-122"/>
                <a:cs typeface="Calibri" pitchFamily="34" charset="-120"/>
              </a:rPr>
              <a:t>detection 1.0% → 28.4%, zero false positives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UNSW-NB15 v1: the approach works on a second dataset</a:t>
            </a:r>
            <a:endParaRPr lang="en-US" sz="3400" dirty="0"/>
          </a:p>
        </p:txBody>
      </p:sp>
      <p:graphicFrame>
        <p:nvGraphicFramePr>
          <p:cNvPr id="3" name="Chart 0" descr=""/>
          <p:cNvGraphicFramePr/>
          <p:nvPr/>
        </p:nvGraphicFramePr>
        <p:xfrm>
          <a:off x="548640" y="123444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89520" y="1280160"/>
            <a:ext cx="4069080" cy="777240"/>
          </a:xfrm>
          <a:prstGeom prst="rect">
            <a:avLst/>
          </a:prstGeom>
          <a:noFill/>
          <a:ln/>
        </p:spPr>
        <p:txBody>
          <a:bodyPr wrap="square" lIns="0" tIns="0" rIns="0" bIns="0" rtlCol="0" anchor="b"/>
          <a:lstStyle/>
          <a:p>
            <a:pPr indent="0" marL="0">
              <a:buNone/>
            </a:pPr>
            <a:r>
              <a:rPr lang="en-US" sz="3600" b="1" dirty="0">
                <a:solidFill>
                  <a:srgbClr val="D9822B"/>
                </a:solidFill>
                <a:latin typeface="Cambria" pitchFamily="34" charset="0"/>
                <a:ea typeface="Cambria" pitchFamily="34" charset="-122"/>
                <a:cs typeface="Cambria" pitchFamily="34" charset="-120"/>
              </a:rPr>
              <a:t>9.2% → 15.5%</a:t>
            </a:r>
            <a:endParaRPr lang="en-US" sz="3600" dirty="0"/>
          </a:p>
        </p:txBody>
      </p:sp>
      <p:sp>
        <p:nvSpPr>
          <p:cNvPr id="5" name="Text 2"/>
          <p:cNvSpPr txBox="1"/>
          <p:nvPr/>
        </p:nvSpPr>
        <p:spPr>
          <a:xfrm>
            <a:off x="7589520" y="2057400"/>
            <a:ext cx="40690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event-level detection, stock → stock + AI rules (+68% relative)</a:t>
            </a:r>
            <a:endParaRPr lang="en-US" sz="1300" dirty="0"/>
          </a:p>
        </p:txBody>
      </p:sp>
      <p:sp>
        <p:nvSpPr>
          <p:cNvPr id="6" name="Text 3"/>
          <p:cNvSpPr txBox="1"/>
          <p:nvPr/>
        </p:nvSpPr>
        <p:spPr>
          <a:xfrm>
            <a:off x="7589520" y="2697480"/>
            <a:ext cx="4069080" cy="777240"/>
          </a:xfrm>
          <a:prstGeom prst="rect">
            <a:avLst/>
          </a:prstGeom>
          <a:noFill/>
          <a:ln/>
        </p:spPr>
        <p:txBody>
          <a:bodyPr wrap="square" lIns="0" tIns="0" rIns="0" bIns="0" rtlCol="0" anchor="b"/>
          <a:lstStyle/>
          <a:p>
            <a:pPr indent="0" marL="0">
              <a:buNone/>
            </a:pPr>
            <a:r>
              <a:rPr lang="en-US" sz="4400" b="1" dirty="0">
                <a:solidFill>
                  <a:srgbClr val="1F4E79"/>
                </a:solidFill>
                <a:latin typeface="Cambria" pitchFamily="34" charset="0"/>
                <a:ea typeface="Cambria" pitchFamily="34" charset="-122"/>
                <a:cs typeface="Cambria" pitchFamily="34" charset="-120"/>
              </a:rPr>
              <a:t>8 / 9</a:t>
            </a:r>
            <a:endParaRPr lang="en-US" sz="4400" dirty="0"/>
          </a:p>
        </p:txBody>
      </p:sp>
      <p:sp>
        <p:nvSpPr>
          <p:cNvPr id="7" name="Text 4"/>
          <p:cNvSpPr txBox="1"/>
          <p:nvPr/>
        </p:nvSpPr>
        <p:spPr>
          <a:xfrm>
            <a:off x="7589520" y="3474720"/>
            <a:ext cx="40690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categories identified across six runs (Analysis missed)</a:t>
            </a:r>
            <a:endParaRPr lang="en-US" sz="1300" dirty="0"/>
          </a:p>
        </p:txBody>
      </p:sp>
      <p:sp>
        <p:nvSpPr>
          <p:cNvPr id="8" name="Text 5"/>
          <p:cNvSpPr txBox="1"/>
          <p:nvPr/>
        </p:nvSpPr>
        <p:spPr>
          <a:xfrm>
            <a:off x="7589520" y="4114800"/>
            <a:ext cx="4069080" cy="777240"/>
          </a:xfrm>
          <a:prstGeom prst="rect">
            <a:avLst/>
          </a:prstGeom>
          <a:noFill/>
          <a:ln/>
        </p:spPr>
        <p:txBody>
          <a:bodyPr wrap="square" lIns="0" tIns="0" rIns="0" bIns="0" rtlCol="0" anchor="b"/>
          <a:lstStyle/>
          <a:p>
            <a:pPr indent="0" marL="0">
              <a:buNone/>
            </a:pPr>
            <a:r>
              <a:rPr lang="en-US" sz="4400" b="1" dirty="0">
                <a:solidFill>
                  <a:srgbClr val="1F4E79"/>
                </a:solidFill>
                <a:latin typeface="Cambria" pitchFamily="34" charset="0"/>
                <a:ea typeface="Cambria" pitchFamily="34" charset="-122"/>
                <a:cs typeface="Cambria" pitchFamily="34" charset="-120"/>
              </a:rPr>
              <a:t>0</a:t>
            </a:r>
            <a:endParaRPr lang="en-US" sz="4400" dirty="0"/>
          </a:p>
        </p:txBody>
      </p:sp>
      <p:sp>
        <p:nvSpPr>
          <p:cNvPr id="9" name="Text 6"/>
          <p:cNvSpPr txBox="1"/>
          <p:nvPr/>
        </p:nvSpPr>
        <p:spPr>
          <a:xfrm>
            <a:off x="7589520" y="4892040"/>
            <a:ext cx="40690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AI-rule alerts on hosts with no attacker involved</a:t>
            </a:r>
            <a:endParaRPr lang="en-US" sz="1300" dirty="0"/>
          </a:p>
        </p:txBody>
      </p:sp>
      <p:sp>
        <p:nvSpPr>
          <p:cNvPr id="10" name="Text 7"/>
          <p:cNvSpPr txBox="1"/>
          <p:nvPr/>
        </p:nvSpPr>
        <p:spPr>
          <a:xfrm>
            <a:off x="7589520" y="5440680"/>
            <a:ext cx="4069080" cy="731520"/>
          </a:xfrm>
          <a:prstGeom prst="rect">
            <a:avLst/>
          </a:prstGeom>
          <a:noFill/>
          <a:ln/>
        </p:spPr>
        <p:txBody>
          <a:bodyPr wrap="square" lIns="0" tIns="0" rIns="0" bIns="0" rtlCol="0" anchor="t"/>
          <a:lstStyle/>
          <a:p>
            <a:pPr indent="0" marL="0">
              <a:buNone/>
            </a:pPr>
            <a:r>
              <a:rPr lang="en-US" sz="1300" b="1" dirty="0">
                <a:solidFill>
                  <a:srgbClr val="0F2533"/>
                </a:solidFill>
                <a:latin typeface="Calibri" pitchFamily="34" charset="0"/>
                <a:ea typeface="Calibri" pitchFamily="34" charset="-122"/>
                <a:cs typeface="Calibri" pitchFamily="34" charset="-120"/>
              </a:rPr>
              <a:t>Within one replay: +5.9 pts genuine gain over stock ET Open. 13 of 15 rules written on other captures fired on capture 14.</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Experiment 1: does context matter?</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Same model and captures (UNSW 3, 1, 10) — full sensor context versus alert events only</a:t>
            </a:r>
            <a:endParaRPr lang="en-US" sz="1600" dirty="0"/>
          </a:p>
        </p:txBody>
      </p:sp>
      <p:graphicFrame>
        <p:nvGraphicFramePr>
          <p:cNvPr id="4" name="Chart 0" descr=""/>
          <p:cNvGraphicFramePr/>
          <p:nvPr/>
        </p:nvGraphicFramePr>
        <p:xfrm>
          <a:off x="548640" y="1645920"/>
          <a:ext cx="278892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3429000" y="1645920"/>
          <a:ext cx="2788920" cy="292608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6309360" y="1645920"/>
          <a:ext cx="2788920" cy="2926080"/>
        </p:xfrm>
        <a:graphic xmlns:a="http://schemas.openxmlformats.org/drawingml/2006/main">
          <a:graphicData uri="http://schemas.openxmlformats.org/drawingml/2006/chart">
            <c:chart xmlns:c="http://schemas.openxmlformats.org/drawingml/2006/chart" r:id="rId3"/>
          </a:graphicData>
        </a:graphic>
      </p:graphicFrame>
      <p:sp>
        <p:nvSpPr>
          <p:cNvPr id="7" name="Shape 2"/>
          <p:cNvSpPr/>
          <p:nvPr/>
        </p:nvSpPr>
        <p:spPr>
          <a:xfrm>
            <a:off x="9235440" y="1645920"/>
            <a:ext cx="2404872" cy="2926080"/>
          </a:xfrm>
          <a:prstGeom prst="roundRect">
            <a:avLst>
              <a:gd name="adj" fmla="val 3042"/>
            </a:avLst>
          </a:prstGeom>
          <a:solidFill>
            <a:srgbClr val="0F2533"/>
          </a:solidFill>
          <a:ln w="12700">
            <a:solidFill>
              <a:srgbClr val="0F2533"/>
            </a:solidFill>
            <a:prstDash val="solid"/>
          </a:ln>
        </p:spPr>
      </p:sp>
      <p:sp>
        <p:nvSpPr>
          <p:cNvPr id="8" name="Text 3"/>
          <p:cNvSpPr txBox="1"/>
          <p:nvPr/>
        </p:nvSpPr>
        <p:spPr>
          <a:xfrm>
            <a:off x="9418320" y="1783080"/>
            <a:ext cx="2057400" cy="1097280"/>
          </a:xfrm>
          <a:prstGeom prst="rect">
            <a:avLst/>
          </a:prstGeom>
          <a:noFill/>
          <a:ln/>
        </p:spPr>
        <p:txBody>
          <a:bodyPr wrap="square" lIns="0" tIns="0" rIns="0" bIns="0" rtlCol="0" anchor="t"/>
          <a:lstStyle/>
          <a:p>
            <a:pPr indent="0" marL="0">
              <a:buNone/>
            </a:pPr>
            <a:r>
              <a:rPr lang="en-US" sz="1800" b="1" dirty="0">
                <a:solidFill>
                  <a:srgbClr val="D9822B"/>
                </a:solidFill>
                <a:latin typeface="Cambria" pitchFamily="34" charset="0"/>
                <a:ea typeface="Cambria" pitchFamily="34" charset="-122"/>
                <a:cs typeface="Cambria" pitchFamily="34" charset="-120"/>
              </a:rPr>
              <a:t>Breadth without context.</a:t>
            </a:r>
            <a:endParaRPr lang="en-US" sz="1800" dirty="0"/>
          </a:p>
          <a:p>
            <a:pPr indent="0" marL="0">
              <a:buNone/>
            </a:pPr>
            <a:r>
              <a:rPr lang="en-US" sz="1800" b="1" dirty="0">
                <a:solidFill>
                  <a:srgbClr val="D9822B"/>
                </a:solidFill>
                <a:latin typeface="Cambria" pitchFamily="34" charset="0"/>
                <a:ea typeface="Cambria" pitchFamily="34" charset="-122"/>
                <a:cs typeface="Cambria" pitchFamily="34" charset="-120"/>
              </a:rPr>
              <a:t>Depth with it.</a:t>
            </a:r>
            <a:endParaRPr lang="en-US" sz="1800" dirty="0"/>
          </a:p>
        </p:txBody>
      </p:sp>
      <p:sp>
        <p:nvSpPr>
          <p:cNvPr id="9" name="Text 4"/>
          <p:cNvSpPr txBox="1"/>
          <p:nvPr/>
        </p:nvSpPr>
        <p:spPr>
          <a:xfrm>
            <a:off x="9418320" y="2926080"/>
            <a:ext cx="2057400" cy="1463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Only full context let the model answer: did the attack succeed?</a:t>
            </a:r>
            <a:endParaRPr lang="en-US" sz="1400" dirty="0"/>
          </a:p>
        </p:txBody>
      </p:sp>
      <p:sp>
        <p:nvSpPr>
          <p:cNvPr id="10" name="Text 5"/>
          <p:cNvSpPr txBox="1"/>
          <p:nvPr/>
        </p:nvSpPr>
        <p:spPr>
          <a:xfrm>
            <a:off x="548640" y="4846320"/>
            <a:ext cx="11094415" cy="1234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Alerts only covered more categories (7 vs 6) and wrote more productive rules — broad, signature-organised reports</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Full context established outcomes: '59 × PASS → 230 Login successful', '2.25 MB leaked by Heartbleed' — alerts-only reports said success 'cannot be confirmed'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What went wrong: confident errors</a:t>
            </a:r>
            <a:endParaRPr lang="en-US" sz="3400" dirty="0"/>
          </a:p>
        </p:txBody>
      </p:sp>
      <p:sp>
        <p:nvSpPr>
          <p:cNvPr id="3" name="Shape 1"/>
          <p:cNvSpPr/>
          <p:nvPr/>
        </p:nvSpPr>
        <p:spPr>
          <a:xfrm>
            <a:off x="548640" y="1280160"/>
            <a:ext cx="566928" cy="566928"/>
          </a:xfrm>
          <a:prstGeom prst="ellipse">
            <a:avLst/>
          </a:prstGeom>
          <a:solidFill>
            <a:srgbClr val="B03A2E"/>
          </a:solidFill>
          <a:ln w="12700">
            <a:solidFill>
              <a:srgbClr val="B03A2E"/>
            </a:solidFill>
            <a:prstDash val="solid"/>
          </a:ln>
        </p:spPr>
      </p:sp>
      <p:pic>
        <p:nvPicPr>
          <p:cNvPr id="4" name="Image 0" descr="preencoded.png">    </p:cNvPr>
          <p:cNvPicPr>
            <a:picLocks noChangeAspect="1"/>
          </p:cNvPicPr>
          <p:nvPr/>
        </p:nvPicPr>
        <p:blipFill>
          <a:blip r:embed="rId1"/>
          <a:stretch>
            <a:fillRect/>
          </a:stretch>
        </p:blipFill>
        <p:spPr>
          <a:xfrm>
            <a:off x="684703" y="1416223"/>
            <a:ext cx="294803" cy="294803"/>
          </a:xfrm>
          <a:prstGeom prst="rect">
            <a:avLst/>
          </a:prstGeom>
        </p:spPr>
      </p:pic>
      <p:sp>
        <p:nvSpPr>
          <p:cNvPr id="5" name="Text 2"/>
          <p:cNvSpPr txBox="1"/>
          <p:nvPr/>
        </p:nvSpPr>
        <p:spPr>
          <a:xfrm>
            <a:off x="1325880" y="1280160"/>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Deleted two of its best rules, claiming they were stock ET rules — they were not</a:t>
            </a:r>
            <a:endParaRPr lang="en-US" sz="1400" dirty="0"/>
          </a:p>
        </p:txBody>
      </p:sp>
      <p:sp>
        <p:nvSpPr>
          <p:cNvPr id="6" name="Shape 3"/>
          <p:cNvSpPr/>
          <p:nvPr/>
        </p:nvSpPr>
        <p:spPr>
          <a:xfrm>
            <a:off x="548640" y="2221992"/>
            <a:ext cx="566928" cy="566928"/>
          </a:xfrm>
          <a:prstGeom prst="ellipse">
            <a:avLst/>
          </a:prstGeom>
          <a:solidFill>
            <a:srgbClr val="1F4E79"/>
          </a:solidFill>
          <a:ln w="12700">
            <a:solidFill>
              <a:srgbClr val="1F4E79"/>
            </a:solidFill>
            <a:prstDash val="solid"/>
          </a:ln>
        </p:spPr>
      </p:sp>
      <p:pic>
        <p:nvPicPr>
          <p:cNvPr id="7" name="Image 1" descr="preencoded.png">    </p:cNvPr>
          <p:cNvPicPr>
            <a:picLocks noChangeAspect="1"/>
          </p:cNvPicPr>
          <p:nvPr/>
        </p:nvPicPr>
        <p:blipFill>
          <a:blip r:embed="rId2"/>
          <a:stretch>
            <a:fillRect/>
          </a:stretch>
        </p:blipFill>
        <p:spPr>
          <a:xfrm>
            <a:off x="684703" y="2358055"/>
            <a:ext cx="294803" cy="294803"/>
          </a:xfrm>
          <a:prstGeom prst="rect">
            <a:avLst/>
          </a:prstGeom>
        </p:spPr>
      </p:pic>
      <p:sp>
        <p:nvSpPr>
          <p:cNvPr id="8" name="Text 4"/>
          <p:cNvSpPr txBox="1"/>
          <p:nvPr/>
        </p:nvSpPr>
        <p:spPr>
          <a:xfrm>
            <a:off x="1325880" y="2221992"/>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Wrote three rules Suricata rejects and one that can never fire</a:t>
            </a:r>
            <a:endParaRPr lang="en-US" sz="1400" dirty="0"/>
          </a:p>
        </p:txBody>
      </p:sp>
      <p:sp>
        <p:nvSpPr>
          <p:cNvPr id="9" name="Shape 5"/>
          <p:cNvSpPr/>
          <p:nvPr/>
        </p:nvSpPr>
        <p:spPr>
          <a:xfrm>
            <a:off x="548640" y="3163824"/>
            <a:ext cx="566928" cy="566928"/>
          </a:xfrm>
          <a:prstGeom prst="ellipse">
            <a:avLst/>
          </a:prstGeom>
          <a:solidFill>
            <a:srgbClr val="1F4E79"/>
          </a:solidFill>
          <a:ln w="12700">
            <a:solidFill>
              <a:srgbClr val="1F4E79"/>
            </a:solidFill>
            <a:prstDash val="solid"/>
          </a:ln>
        </p:spPr>
      </p:sp>
      <p:pic>
        <p:nvPicPr>
          <p:cNvPr id="10" name="Image 2" descr="preencoded.png">    </p:cNvPr>
          <p:cNvPicPr>
            <a:picLocks noChangeAspect="1"/>
          </p:cNvPicPr>
          <p:nvPr/>
        </p:nvPicPr>
        <p:blipFill>
          <a:blip r:embed="rId3"/>
          <a:stretch>
            <a:fillRect/>
          </a:stretch>
        </p:blipFill>
        <p:spPr>
          <a:xfrm>
            <a:off x="684703" y="3299887"/>
            <a:ext cx="294803" cy="294803"/>
          </a:xfrm>
          <a:prstGeom prst="rect">
            <a:avLst/>
          </a:prstGeom>
        </p:spPr>
      </p:pic>
      <p:sp>
        <p:nvSpPr>
          <p:cNvPr id="11" name="Text 6"/>
          <p:cNvSpPr txBox="1"/>
          <p:nvPr/>
        </p:nvSpPr>
        <p:spPr>
          <a:xfrm>
            <a:off x="1325880" y="3163824"/>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Read routine FTP uploads from every workstation as data exfiltration</a:t>
            </a:r>
            <a:endParaRPr lang="en-US" sz="1400" dirty="0"/>
          </a:p>
        </p:txBody>
      </p:sp>
      <p:sp>
        <p:nvSpPr>
          <p:cNvPr id="12" name="Shape 7"/>
          <p:cNvSpPr/>
          <p:nvPr/>
        </p:nvSpPr>
        <p:spPr>
          <a:xfrm>
            <a:off x="548640" y="4105656"/>
            <a:ext cx="566928" cy="566928"/>
          </a:xfrm>
          <a:prstGeom prst="ellipse">
            <a:avLst/>
          </a:prstGeom>
          <a:solidFill>
            <a:srgbClr val="1F4E79"/>
          </a:solidFill>
          <a:ln w="12700">
            <a:solidFill>
              <a:srgbClr val="1F4E79"/>
            </a:solidFill>
            <a:prstDash val="solid"/>
          </a:ln>
        </p:spPr>
      </p:sp>
      <p:pic>
        <p:nvPicPr>
          <p:cNvPr id="13" name="Image 3" descr="preencoded.png">    </p:cNvPr>
          <p:cNvPicPr>
            <a:picLocks noChangeAspect="1"/>
          </p:cNvPicPr>
          <p:nvPr/>
        </p:nvPicPr>
        <p:blipFill>
          <a:blip r:embed="rId4"/>
          <a:stretch>
            <a:fillRect/>
          </a:stretch>
        </p:blipFill>
        <p:spPr>
          <a:xfrm>
            <a:off x="684703" y="4241719"/>
            <a:ext cx="294803" cy="294803"/>
          </a:xfrm>
          <a:prstGeom prst="rect">
            <a:avLst/>
          </a:prstGeom>
        </p:spPr>
      </p:pic>
      <p:sp>
        <p:nvSpPr>
          <p:cNvPr id="14" name="Text 8"/>
          <p:cNvSpPr txBox="1"/>
          <p:nvPr/>
        </p:nvSpPr>
        <p:spPr>
          <a:xfrm>
            <a:off x="1325880" y="4105656"/>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'Validated' Thursday rules against a small test file, not the Thursday capture</a:t>
            </a:r>
            <a:endParaRPr lang="en-US" sz="1400" dirty="0"/>
          </a:p>
        </p:txBody>
      </p:sp>
      <p:sp>
        <p:nvSpPr>
          <p:cNvPr id="15" name="Shape 9"/>
          <p:cNvSpPr/>
          <p:nvPr/>
        </p:nvSpPr>
        <p:spPr>
          <a:xfrm>
            <a:off x="548640" y="5047488"/>
            <a:ext cx="566928" cy="566928"/>
          </a:xfrm>
          <a:prstGeom prst="ellipse">
            <a:avLst/>
          </a:prstGeom>
          <a:solidFill>
            <a:srgbClr val="1F4E79"/>
          </a:solidFill>
          <a:ln w="12700">
            <a:solidFill>
              <a:srgbClr val="1F4E79"/>
            </a:solidFill>
            <a:prstDash val="solid"/>
          </a:ln>
        </p:spPr>
      </p:sp>
      <p:pic>
        <p:nvPicPr>
          <p:cNvPr id="16" name="Image 4" descr="preencoded.png">    </p:cNvPr>
          <p:cNvPicPr>
            <a:picLocks noChangeAspect="1"/>
          </p:cNvPicPr>
          <p:nvPr/>
        </p:nvPicPr>
        <p:blipFill>
          <a:blip r:embed="rId5"/>
          <a:stretch>
            <a:fillRect/>
          </a:stretch>
        </p:blipFill>
        <p:spPr>
          <a:xfrm>
            <a:off x="684703" y="5183551"/>
            <a:ext cx="294803" cy="294803"/>
          </a:xfrm>
          <a:prstGeom prst="rect">
            <a:avLst/>
          </a:prstGeom>
        </p:spPr>
      </p:pic>
      <p:sp>
        <p:nvSpPr>
          <p:cNvPr id="17" name="Text 10"/>
          <p:cNvSpPr txBox="1"/>
          <p:nvPr/>
        </p:nvSpPr>
        <p:spPr>
          <a:xfrm>
            <a:off x="1325880" y="5047488"/>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Same evidence, opposite verdicts across runs (5 : 1 on the Heartbleed rules)</a:t>
            </a:r>
            <a:endParaRPr lang="en-US" sz="1400" dirty="0"/>
          </a:p>
        </p:txBody>
      </p:sp>
      <p:graphicFrame>
        <p:nvGraphicFramePr>
          <p:cNvPr id="18" name="Chart 0" descr=""/>
          <p:cNvGraphicFramePr/>
          <p:nvPr/>
        </p:nvGraphicFramePr>
        <p:xfrm>
          <a:off x="6400800" y="1234440"/>
          <a:ext cx="5212080" cy="3566160"/>
        </p:xfrm>
        <a:graphic xmlns:a="http://schemas.openxmlformats.org/drawingml/2006/main">
          <a:graphicData uri="http://schemas.openxmlformats.org/drawingml/2006/chart">
            <c:chart xmlns:c="http://schemas.openxmlformats.org/drawingml/2006/chart" r:id="rId6"/>
          </a:graphicData>
        </a:graphic>
      </p:graphicFrame>
      <p:sp>
        <p:nvSpPr>
          <p:cNvPr id="19" name="Shape 11"/>
          <p:cNvSpPr/>
          <p:nvPr/>
        </p:nvSpPr>
        <p:spPr>
          <a:xfrm>
            <a:off x="6400800" y="4983480"/>
            <a:ext cx="5257800" cy="1097280"/>
          </a:xfrm>
          <a:prstGeom prst="roundRect">
            <a:avLst>
              <a:gd name="adj" fmla="val 6667"/>
            </a:avLst>
          </a:prstGeom>
          <a:solidFill>
            <a:srgbClr val="0F2533"/>
          </a:solidFill>
          <a:ln w="12700">
            <a:solidFill>
              <a:srgbClr val="0F2533"/>
            </a:solidFill>
            <a:prstDash val="solid"/>
          </a:ln>
        </p:spPr>
      </p:sp>
      <p:sp>
        <p:nvSpPr>
          <p:cNvPr id="20" name="Text 12"/>
          <p:cNvSpPr txBox="1"/>
          <p:nvPr/>
        </p:nvSpPr>
        <p:spPr>
          <a:xfrm>
            <a:off x="6583680" y="4983480"/>
            <a:ext cx="4892040" cy="10972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Self-validation is only as good as the environment: CIC's config loaded 3 of 10 rule files; UNSW's loaded the model's file — and all 18 rules work.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533"/>
        </a:solidFill>
      </p:bgPr>
    </p:bg>
    <p:spTree>
      <p:nvGrpSpPr>
        <p:cNvPr id="1" name=""/>
        <p:cNvGrpSpPr/>
        <p:nvPr/>
      </p:nvGrpSpPr>
      <p:grpSpPr>
        <a:xfrm>
          <a:off x="0" y="0"/>
          <a:ext cx="0" cy="0"/>
          <a:chOff x="0" y="0"/>
          <a:chExt cx="0" cy="0"/>
        </a:xfrm>
      </p:grpSpPr>
      <p:sp>
        <p:nvSpPr>
          <p:cNvPr id="2" name="Text 0"/>
          <p:cNvSpPr txBox="1"/>
          <p:nvPr/>
        </p:nvSpPr>
        <p:spPr>
          <a:xfrm>
            <a:off x="548640" y="2377440"/>
            <a:ext cx="11094415"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Part 2 — Can the agent beat a strong human baseline?</a:t>
            </a:r>
            <a:endParaRPr lang="en-US" sz="4000" dirty="0"/>
          </a:p>
        </p:txBody>
      </p:sp>
      <p:sp>
        <p:nvSpPr>
          <p:cNvPr id="3" name="Text 1"/>
          <p:cNvSpPr txBox="1"/>
          <p:nvPr/>
        </p:nvSpPr>
        <p:spPr>
          <a:xfrm>
            <a:off x="548640" y="3429000"/>
            <a:ext cx="11094415" cy="822960"/>
          </a:xfrm>
          <a:prstGeom prst="rect">
            <a:avLst/>
          </a:prstGeom>
          <a:noFill/>
          <a:ln/>
        </p:spPr>
        <p:txBody>
          <a:bodyPr wrap="square" lIns="0" tIns="0" rIns="0" bIns="0" rtlCol="0" anchor="ctr"/>
          <a:lstStyle/>
          <a:p>
            <a:pPr indent="0" marL="0">
              <a:buNone/>
            </a:pPr>
            <a:r>
              <a:rPr lang="en-US" sz="2000" dirty="0">
                <a:solidFill>
                  <a:srgbClr val="D9822B"/>
                </a:solidFill>
                <a:latin typeface="Calibri" pitchFamily="34" charset="0"/>
                <a:ea typeface="Calibri" pitchFamily="34" charset="-122"/>
                <a:cs typeface="Calibri" pitchFamily="34" charset="-120"/>
              </a:rPr>
              <a:t>The supervisor's challenge: look at what real detection engineers do, and replicate it with the agent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First, make the human baseline as strong as possible</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Re-enabling disabled ET and Snort rule families, chosen from the services seen in the traffic — never from labels</a:t>
            </a:r>
            <a:endParaRPr lang="en-US" sz="1600" dirty="0"/>
          </a:p>
        </p:txBody>
      </p:sp>
      <p:pic>
        <p:nvPicPr>
          <p:cNvPr id="4" name="Image 0" descr="/home/bigyan/capstone-ids/docs/figures/fig4-4_baseline_ladder.png">    </p:cNvPr>
          <p:cNvPicPr>
            <a:picLocks noChangeAspect="1"/>
          </p:cNvPicPr>
          <p:nvPr/>
        </p:nvPicPr>
        <p:blipFill>
          <a:blip r:embed="rId1"/>
          <a:stretch>
            <a:fillRect/>
          </a:stretch>
        </p:blipFill>
        <p:spPr>
          <a:xfrm>
            <a:off x="548640" y="1947477"/>
            <a:ext cx="7498080" cy="3694567"/>
          </a:xfrm>
          <a:prstGeom prst="rect">
            <a:avLst/>
          </a:prstGeom>
        </p:spPr>
      </p:pic>
      <p:sp>
        <p:nvSpPr>
          <p:cNvPr id="5" name="Text 2"/>
          <p:cNvSpPr txBox="1"/>
          <p:nvPr/>
        </p:nvSpPr>
        <p:spPr>
          <a:xfrm>
            <a:off x="8321040" y="1463040"/>
            <a:ext cx="3383280" cy="777240"/>
          </a:xfrm>
          <a:prstGeom prst="rect">
            <a:avLst/>
          </a:prstGeom>
          <a:noFill/>
          <a:ln/>
        </p:spPr>
        <p:txBody>
          <a:bodyPr wrap="square" lIns="0" tIns="0" rIns="0" bIns="0" rtlCol="0" anchor="b"/>
          <a:lstStyle/>
          <a:p>
            <a:pPr indent="0" marL="0">
              <a:buNone/>
            </a:pPr>
            <a:r>
              <a:rPr lang="en-US" sz="3200" b="1" dirty="0">
                <a:solidFill>
                  <a:srgbClr val="1F4E79"/>
                </a:solidFill>
                <a:latin typeface="Cambria" pitchFamily="34" charset="0"/>
                <a:ea typeface="Cambria" pitchFamily="34" charset="-122"/>
                <a:cs typeface="Cambria" pitchFamily="34" charset="-120"/>
              </a:rPr>
              <a:t>9.2% → 25.7%</a:t>
            </a:r>
            <a:endParaRPr lang="en-US" sz="3200" dirty="0"/>
          </a:p>
        </p:txBody>
      </p:sp>
      <p:sp>
        <p:nvSpPr>
          <p:cNvPr id="6" name="Text 3"/>
          <p:cNvSpPr txBox="1"/>
          <p:nvPr/>
        </p:nvSpPr>
        <p:spPr>
          <a:xfrm>
            <a:off x="8321040" y="2240280"/>
            <a:ext cx="33832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UNSW TCP/UDP attack events detected: ET Open as shipped → baseline v2</a:t>
            </a:r>
            <a:endParaRPr lang="en-US" sz="1300" dirty="0"/>
          </a:p>
        </p:txBody>
      </p:sp>
      <p:sp>
        <p:nvSpPr>
          <p:cNvPr id="7" name="Text 4"/>
          <p:cNvSpPr txBox="1"/>
          <p:nvPr/>
        </p:nvSpPr>
        <p:spPr>
          <a:xfrm>
            <a:off x="8321040" y="3017520"/>
            <a:ext cx="3383280" cy="777240"/>
          </a:xfrm>
          <a:prstGeom prst="rect">
            <a:avLst/>
          </a:prstGeom>
          <a:noFill/>
          <a:ln/>
        </p:spPr>
        <p:txBody>
          <a:bodyPr wrap="square" lIns="0" tIns="0" rIns="0" bIns="0" rtlCol="0" anchor="b"/>
          <a:lstStyle/>
          <a:p>
            <a:pPr indent="0" marL="0">
              <a:buNone/>
            </a:pPr>
            <a:r>
              <a:rPr lang="en-US" sz="4000" b="1" dirty="0">
                <a:solidFill>
                  <a:srgbClr val="B03A2E"/>
                </a:solidFill>
                <a:latin typeface="Cambria" pitchFamily="34" charset="0"/>
                <a:ea typeface="Cambria" pitchFamily="34" charset="-122"/>
                <a:cs typeface="Cambria" pitchFamily="34" charset="-120"/>
              </a:rPr>
              <a:t>46×</a:t>
            </a:r>
            <a:endParaRPr lang="en-US" sz="4000" dirty="0"/>
          </a:p>
        </p:txBody>
      </p:sp>
      <p:sp>
        <p:nvSpPr>
          <p:cNvPr id="8" name="Text 5"/>
          <p:cNvSpPr txBox="1"/>
          <p:nvPr/>
        </p:nvSpPr>
        <p:spPr>
          <a:xfrm>
            <a:off x="8321040" y="3794760"/>
            <a:ext cx="33832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more alerts on non-attacker hosts if every disabled rule is enabled (31.2% vs 24.9% detection)</a:t>
            </a:r>
            <a:endParaRPr lang="en-US" sz="1300" dirty="0"/>
          </a:p>
        </p:txBody>
      </p:sp>
      <p:sp>
        <p:nvSpPr>
          <p:cNvPr id="9" name="Shape 6"/>
          <p:cNvSpPr/>
          <p:nvPr/>
        </p:nvSpPr>
        <p:spPr>
          <a:xfrm>
            <a:off x="8321040" y="4709160"/>
            <a:ext cx="3337560" cy="1371600"/>
          </a:xfrm>
          <a:prstGeom prst="roundRect">
            <a:avLst>
              <a:gd name="adj" fmla="val 5333"/>
            </a:avLst>
          </a:prstGeom>
          <a:solidFill>
            <a:srgbClr val="0F2533"/>
          </a:solidFill>
          <a:ln w="12700">
            <a:solidFill>
              <a:srgbClr val="0F2533"/>
            </a:solidFill>
            <a:prstDash val="solid"/>
          </a:ln>
        </p:spPr>
      </p:sp>
      <p:sp>
        <p:nvSpPr>
          <p:cNvPr id="10" name="Text 7"/>
          <p:cNvSpPr txBox="1"/>
          <p:nvPr/>
        </p:nvSpPr>
        <p:spPr>
          <a:xfrm>
            <a:off x="8503920" y="4709160"/>
            <a:ext cx="3017520" cy="13716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This is the bar the AI now has to clear — no longer stock rules.</a:t>
            </a:r>
            <a:endParaRPr lang="en-US" sz="1400" dirty="0"/>
          </a:p>
        </p:txBody>
      </p:sp>
      <p:sp>
        <p:nvSpPr>
          <p:cNvPr id="11" name="Text 8"/>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Six development captures (17 Feb 2015), 14,935 TCP/UDP attack events. Extra rulesets: Snort Community, Stamus lateral, PT Open, Nmap (Nmap later dropped: it wrecked CIC precision).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Where a signature IDS still misses</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Baseline v2 detection by attack category — most attack events are still missed in every category</a:t>
            </a:r>
            <a:endParaRPr lang="en-US" sz="1600" dirty="0"/>
          </a:p>
        </p:txBody>
      </p:sp>
      <p:pic>
        <p:nvPicPr>
          <p:cNvPr id="4" name="Image 0" descr="/home/bigyan/capstone-ids/docs/figures/fig4-6_category_ceiling.png">    </p:cNvPr>
          <p:cNvPicPr>
            <a:picLocks noChangeAspect="1"/>
          </p:cNvPicPr>
          <p:nvPr/>
        </p:nvPicPr>
        <p:blipFill>
          <a:blip r:embed="rId1"/>
          <a:stretch>
            <a:fillRect/>
          </a:stretch>
        </p:blipFill>
        <p:spPr>
          <a:xfrm>
            <a:off x="548640" y="1880222"/>
            <a:ext cx="7315200" cy="3829076"/>
          </a:xfrm>
          <a:prstGeom prst="rect">
            <a:avLst/>
          </a:prstGeom>
        </p:spPr>
      </p:pic>
      <p:sp>
        <p:nvSpPr>
          <p:cNvPr id="5" name="Text 2"/>
          <p:cNvSpPr txBox="1"/>
          <p:nvPr/>
        </p:nvSpPr>
        <p:spPr>
          <a:xfrm>
            <a:off x="8138160" y="1554480"/>
            <a:ext cx="3520440" cy="44805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Roughly a quarter to a third caught in the big categories: Exploits 29%, Fuzzers 32%, Reconnaissance 25%</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Weakest: Generic 7% of 2,677 events, Analysis 0%, DoS 20%</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Most missed events are one-off attempts generated with varying content — a rule written for one instance rarely matches the next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AI rounds on the strong baseline: the topology trap</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Rule-writing rounds on captures 3, 1, 10; scored on all six. Gains attributed only to events no other alert caught.</a:t>
            </a:r>
            <a:endParaRPr lang="en-US" sz="1600" dirty="0"/>
          </a:p>
        </p:txBody>
      </p:sp>
      <p:pic>
        <p:nvPicPr>
          <p:cNvPr id="4" name="Image 0" descr="/home/bigyan/capstone-ids/docs/figures/fig5-7_rounds_attribution.png">    </p:cNvPr>
          <p:cNvPicPr>
            <a:picLocks noChangeAspect="1"/>
          </p:cNvPicPr>
          <p:nvPr/>
        </p:nvPicPr>
        <p:blipFill>
          <a:blip r:embed="rId1"/>
          <a:stretch>
            <a:fillRect/>
          </a:stretch>
        </p:blipFill>
        <p:spPr>
          <a:xfrm>
            <a:off x="548640" y="1470942"/>
            <a:ext cx="6949440" cy="3687516"/>
          </a:xfrm>
          <a:prstGeom prst="rect">
            <a:avLst/>
          </a:prstGeom>
        </p:spPr>
      </p:pic>
      <p:pic>
        <p:nvPicPr>
          <p:cNvPr id="5" name="Image 1" descr="/home/bigyan/capstone-ids/docs/figures/fig5-8_rule_classes.png">    </p:cNvPr>
          <p:cNvPicPr>
            <a:picLocks noChangeAspect="1"/>
          </p:cNvPicPr>
          <p:nvPr/>
        </p:nvPicPr>
        <p:blipFill>
          <a:blip r:embed="rId2"/>
          <a:stretch>
            <a:fillRect/>
          </a:stretch>
        </p:blipFill>
        <p:spPr>
          <a:xfrm>
            <a:off x="7589520" y="1840786"/>
            <a:ext cx="4069080" cy="1713388"/>
          </a:xfrm>
          <a:prstGeom prst="rect">
            <a:avLst/>
          </a:prstGeom>
        </p:spPr>
      </p:pic>
      <p:sp>
        <p:nvSpPr>
          <p:cNvPr id="6" name="Shape 2"/>
          <p:cNvSpPr/>
          <p:nvPr/>
        </p:nvSpPr>
        <p:spPr>
          <a:xfrm>
            <a:off x="7589520" y="4069080"/>
            <a:ext cx="4069080" cy="2103120"/>
          </a:xfrm>
          <a:prstGeom prst="roundRect">
            <a:avLst>
              <a:gd name="adj" fmla="val 3478"/>
            </a:avLst>
          </a:prstGeom>
          <a:solidFill>
            <a:srgbClr val="EEF3F8"/>
          </a:solidFill>
          <a:ln w="12700">
            <a:solidFill>
              <a:srgbClr val="EEF3F8"/>
            </a:solidFill>
            <a:prstDash val="solid"/>
          </a:ln>
        </p:spPr>
      </p:sp>
      <p:sp>
        <p:nvSpPr>
          <p:cNvPr id="7" name="Text 3"/>
          <p:cNvSpPr txBox="1"/>
          <p:nvPr/>
        </p:nvSpPr>
        <p:spPr>
          <a:xfrm>
            <a:off x="7772400" y="4160520"/>
            <a:ext cx="3749040" cy="1920240"/>
          </a:xfrm>
          <a:prstGeom prst="rect">
            <a:avLst/>
          </a:prstGeom>
          <a:noFill/>
          <a:ln/>
        </p:spPr>
        <p:txBody>
          <a:bodyPr wrap="square" lIns="0" tIns="0" rIns="0" bIns="0" rtlCol="0" anchor="t"/>
          <a:lstStyle/>
          <a:p>
            <a:pPr indent="0" marL="0">
              <a:buNone/>
            </a:pPr>
            <a:r>
              <a:rPr lang="en-US" sz="1250" dirty="0">
                <a:solidFill>
                  <a:srgbClr val="0F2533"/>
                </a:solidFill>
                <a:latin typeface="Calibri" pitchFamily="34" charset="0"/>
                <a:ea typeface="Calibri" pitchFamily="34" charset="-122"/>
                <a:cs typeface="Calibri" pitchFamily="34" charset="-120"/>
              </a:rPr>
              <a:t>Topology rule = ordinary activity from outside HOME_NET (SMTP MAIL FROM, POP3 login, SIP REGISTER). In UNSW every external host is an attacker, so these score perfectly here — and would alert on every customer on a real network.</a:t>
            </a:r>
            <a:endParaRPr lang="en-US" sz="1250" dirty="0"/>
          </a:p>
        </p:txBody>
      </p:sp>
      <p:sp>
        <p:nvSpPr>
          <p:cNvPr id="8" name="Shape 4"/>
          <p:cNvSpPr/>
          <p:nvPr/>
        </p:nvSpPr>
        <p:spPr>
          <a:xfrm>
            <a:off x="548640" y="5349240"/>
            <a:ext cx="6949440" cy="777240"/>
          </a:xfrm>
          <a:prstGeom prst="roundRect">
            <a:avLst>
              <a:gd name="adj" fmla="val 9412"/>
            </a:avLst>
          </a:prstGeom>
          <a:solidFill>
            <a:srgbClr val="0F2533"/>
          </a:solidFill>
          <a:ln w="12700">
            <a:solidFill>
              <a:srgbClr val="0F2533"/>
            </a:solidFill>
            <a:prstDash val="solid"/>
          </a:ln>
        </p:spPr>
      </p:sp>
      <p:sp>
        <p:nvSpPr>
          <p:cNvPr id="9" name="Text 5"/>
          <p:cNvSpPr txBox="1"/>
          <p:nvPr/>
        </p:nvSpPr>
        <p:spPr>
          <a:xfrm>
            <a:off x="731520" y="5349240"/>
            <a:ext cx="658368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Plain R2 looked like +11.3 pts, genuine +0.08. Research: +0.33. Hunt / hunt2: +1.21 / +0.91 — the only gains clearly above noise.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Replicating a real detection engineer</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Hunt condition: the detection-engineering lifecycle, encoded as the agent's procedure</a:t>
            </a:r>
            <a:endParaRPr lang="en-US" sz="1600" dirty="0"/>
          </a:p>
        </p:txBody>
      </p:sp>
      <p:pic>
        <p:nvPicPr>
          <p:cNvPr id="4" name="Image 0" descr="/home/bigyan/capstone-ids/docs/figures/fig3-6_hunt_workflow.png">    </p:cNvPr>
          <p:cNvPicPr>
            <a:picLocks noChangeAspect="1"/>
          </p:cNvPicPr>
          <p:nvPr/>
        </p:nvPicPr>
        <p:blipFill>
          <a:blip r:embed="rId1"/>
          <a:stretch>
            <a:fillRect/>
          </a:stretch>
        </p:blipFill>
        <p:spPr>
          <a:xfrm>
            <a:off x="548640" y="1473847"/>
            <a:ext cx="7680960" cy="3910307"/>
          </a:xfrm>
          <a:prstGeom prst="rect">
            <a:avLst/>
          </a:prstGeom>
        </p:spPr>
      </p:pic>
      <p:sp>
        <p:nvSpPr>
          <p:cNvPr id="5" name="Shape 2"/>
          <p:cNvSpPr/>
          <p:nvPr/>
        </p:nvSpPr>
        <p:spPr>
          <a:xfrm>
            <a:off x="8458200" y="1463040"/>
            <a:ext cx="3200400" cy="896112"/>
          </a:xfrm>
          <a:prstGeom prst="roundRect">
            <a:avLst>
              <a:gd name="adj" fmla="val 8163"/>
            </a:avLst>
          </a:prstGeom>
          <a:solidFill>
            <a:srgbClr val="EEF3F8"/>
          </a:solidFill>
          <a:ln w="12700">
            <a:solidFill>
              <a:srgbClr val="EEF3F8"/>
            </a:solidFill>
            <a:prstDash val="solid"/>
          </a:ln>
        </p:spPr>
      </p:sp>
      <p:sp>
        <p:nvSpPr>
          <p:cNvPr id="6" name="Text 3"/>
          <p:cNvSpPr txBox="1"/>
          <p:nvPr/>
        </p:nvSpPr>
        <p:spPr>
          <a:xfrm>
            <a:off x="8595360" y="1536192"/>
            <a:ext cx="2926080" cy="320040"/>
          </a:xfrm>
          <a:prstGeom prst="rect">
            <a:avLst/>
          </a:prstGeom>
          <a:noFill/>
          <a:ln/>
        </p:spPr>
        <p:txBody>
          <a:bodyPr wrap="square" lIns="0" tIns="0" rIns="0" bIns="0" rtlCol="0" anchor="t"/>
          <a:lstStyle/>
          <a:p>
            <a:pPr indent="0" marL="0">
              <a:buNone/>
            </a:pPr>
            <a:r>
              <a:rPr lang="en-US" sz="1350" b="1" dirty="0">
                <a:solidFill>
                  <a:srgbClr val="1F4E79"/>
                </a:solidFill>
                <a:latin typeface="Calibri" pitchFamily="34" charset="0"/>
                <a:ea typeface="Calibri" pitchFamily="34" charset="-122"/>
                <a:cs typeface="Calibri" pitchFamily="34" charset="-120"/>
              </a:rPr>
              <a:t>Palantir ADS</a:t>
            </a:r>
            <a:endParaRPr lang="en-US" sz="1350" dirty="0"/>
          </a:p>
        </p:txBody>
      </p:sp>
      <p:sp>
        <p:nvSpPr>
          <p:cNvPr id="7" name="Text 4"/>
          <p:cNvSpPr txBox="1"/>
          <p:nvPr/>
        </p:nvSpPr>
        <p:spPr>
          <a:xfrm>
            <a:off x="8595360" y="1874520"/>
            <a:ext cx="2926080" cy="45720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every rule documents goal, blind spots, false positives</a:t>
            </a:r>
            <a:endParaRPr lang="en-US" sz="1150" dirty="0"/>
          </a:p>
        </p:txBody>
      </p:sp>
      <p:sp>
        <p:nvSpPr>
          <p:cNvPr id="8" name="Shape 5"/>
          <p:cNvSpPr/>
          <p:nvPr/>
        </p:nvSpPr>
        <p:spPr>
          <a:xfrm>
            <a:off x="8458200" y="2487168"/>
            <a:ext cx="3200400" cy="896112"/>
          </a:xfrm>
          <a:prstGeom prst="roundRect">
            <a:avLst>
              <a:gd name="adj" fmla="val 8163"/>
            </a:avLst>
          </a:prstGeom>
          <a:solidFill>
            <a:srgbClr val="EEF3F8"/>
          </a:solidFill>
          <a:ln w="12700">
            <a:solidFill>
              <a:srgbClr val="EEF3F8"/>
            </a:solidFill>
            <a:prstDash val="solid"/>
          </a:ln>
        </p:spPr>
      </p:sp>
      <p:sp>
        <p:nvSpPr>
          <p:cNvPr id="9" name="Text 6"/>
          <p:cNvSpPr txBox="1"/>
          <p:nvPr/>
        </p:nvSpPr>
        <p:spPr>
          <a:xfrm>
            <a:off x="8595360" y="2560320"/>
            <a:ext cx="2926080" cy="320040"/>
          </a:xfrm>
          <a:prstGeom prst="rect">
            <a:avLst/>
          </a:prstGeom>
          <a:noFill/>
          <a:ln/>
        </p:spPr>
        <p:txBody>
          <a:bodyPr wrap="square" lIns="0" tIns="0" rIns="0" bIns="0" rtlCol="0" anchor="t"/>
          <a:lstStyle/>
          <a:p>
            <a:pPr indent="0" marL="0">
              <a:buNone/>
            </a:pPr>
            <a:r>
              <a:rPr lang="en-US" sz="1350" b="1" dirty="0">
                <a:solidFill>
                  <a:srgbClr val="1F4E79"/>
                </a:solidFill>
                <a:latin typeface="Calibri" pitchFamily="34" charset="0"/>
                <a:ea typeface="Calibri" pitchFamily="34" charset="-122"/>
                <a:cs typeface="Calibri" pitchFamily="34" charset="-120"/>
              </a:rPr>
              <a:t>SpecterOps</a:t>
            </a:r>
            <a:endParaRPr lang="en-US" sz="1350" dirty="0"/>
          </a:p>
        </p:txBody>
      </p:sp>
      <p:sp>
        <p:nvSpPr>
          <p:cNvPr id="10" name="Text 7"/>
          <p:cNvSpPr txBox="1"/>
          <p:nvPr/>
        </p:nvSpPr>
        <p:spPr>
          <a:xfrm>
            <a:off x="8595360" y="2898648"/>
            <a:ext cx="2926080" cy="45720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detect the technique, not the tool's surface strings</a:t>
            </a:r>
            <a:endParaRPr lang="en-US" sz="1150" dirty="0"/>
          </a:p>
        </p:txBody>
      </p:sp>
      <p:sp>
        <p:nvSpPr>
          <p:cNvPr id="11" name="Shape 8"/>
          <p:cNvSpPr/>
          <p:nvPr/>
        </p:nvSpPr>
        <p:spPr>
          <a:xfrm>
            <a:off x="8458200" y="3511296"/>
            <a:ext cx="3200400" cy="896112"/>
          </a:xfrm>
          <a:prstGeom prst="roundRect">
            <a:avLst>
              <a:gd name="adj" fmla="val 8163"/>
            </a:avLst>
          </a:prstGeom>
          <a:solidFill>
            <a:srgbClr val="EEF3F8"/>
          </a:solidFill>
          <a:ln w="12700">
            <a:solidFill>
              <a:srgbClr val="EEF3F8"/>
            </a:solidFill>
            <a:prstDash val="solid"/>
          </a:ln>
        </p:spPr>
      </p:sp>
      <p:sp>
        <p:nvSpPr>
          <p:cNvPr id="12" name="Text 9"/>
          <p:cNvSpPr txBox="1"/>
          <p:nvPr/>
        </p:nvSpPr>
        <p:spPr>
          <a:xfrm>
            <a:off x="8595360" y="3584448"/>
            <a:ext cx="2926080" cy="320040"/>
          </a:xfrm>
          <a:prstGeom prst="rect">
            <a:avLst/>
          </a:prstGeom>
          <a:noFill/>
          <a:ln/>
        </p:spPr>
        <p:txBody>
          <a:bodyPr wrap="square" lIns="0" tIns="0" rIns="0" bIns="0" rtlCol="0" anchor="t"/>
          <a:lstStyle/>
          <a:p>
            <a:pPr indent="0" marL="0">
              <a:buNone/>
            </a:pPr>
            <a:r>
              <a:rPr lang="en-US" sz="1350" b="1" dirty="0">
                <a:solidFill>
                  <a:srgbClr val="1F4E79"/>
                </a:solidFill>
                <a:latin typeface="Calibri" pitchFamily="34" charset="0"/>
                <a:ea typeface="Calibri" pitchFamily="34" charset="-122"/>
                <a:cs typeface="Calibri" pitchFamily="34" charset="-120"/>
              </a:rPr>
              <a:t>Stack counting</a:t>
            </a:r>
            <a:endParaRPr lang="en-US" sz="1350" dirty="0"/>
          </a:p>
        </p:txBody>
      </p:sp>
      <p:sp>
        <p:nvSpPr>
          <p:cNvPr id="13" name="Text 10"/>
          <p:cNvSpPr txBox="1"/>
          <p:nvPr/>
        </p:nvSpPr>
        <p:spPr>
          <a:xfrm>
            <a:off x="8595360" y="3922776"/>
            <a:ext cx="2926080" cy="45720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rare values first — no ML, no training period</a:t>
            </a:r>
            <a:endParaRPr lang="en-US" sz="1150" dirty="0"/>
          </a:p>
        </p:txBody>
      </p:sp>
      <p:sp>
        <p:nvSpPr>
          <p:cNvPr id="14" name="Shape 11"/>
          <p:cNvSpPr/>
          <p:nvPr/>
        </p:nvSpPr>
        <p:spPr>
          <a:xfrm>
            <a:off x="8458200" y="4535424"/>
            <a:ext cx="3200400" cy="896112"/>
          </a:xfrm>
          <a:prstGeom prst="roundRect">
            <a:avLst>
              <a:gd name="adj" fmla="val 8163"/>
            </a:avLst>
          </a:prstGeom>
          <a:solidFill>
            <a:srgbClr val="EEF3F8"/>
          </a:solidFill>
          <a:ln w="12700">
            <a:solidFill>
              <a:srgbClr val="EEF3F8"/>
            </a:solidFill>
            <a:prstDash val="solid"/>
          </a:ln>
        </p:spPr>
      </p:sp>
      <p:sp>
        <p:nvSpPr>
          <p:cNvPr id="15" name="Text 12"/>
          <p:cNvSpPr txBox="1"/>
          <p:nvPr/>
        </p:nvSpPr>
        <p:spPr>
          <a:xfrm>
            <a:off x="8595360" y="4608576"/>
            <a:ext cx="2926080" cy="320040"/>
          </a:xfrm>
          <a:prstGeom prst="rect">
            <a:avLst/>
          </a:prstGeom>
          <a:noFill/>
          <a:ln/>
        </p:spPr>
        <p:txBody>
          <a:bodyPr wrap="square" lIns="0" tIns="0" rIns="0" bIns="0" rtlCol="0" anchor="t"/>
          <a:lstStyle/>
          <a:p>
            <a:pPr indent="0" marL="0">
              <a:buNone/>
            </a:pPr>
            <a:r>
              <a:rPr lang="en-US" sz="1350" b="1" dirty="0">
                <a:solidFill>
                  <a:srgbClr val="1F4E79"/>
                </a:solidFill>
                <a:latin typeface="Calibri" pitchFamily="34" charset="0"/>
                <a:ea typeface="Calibri" pitchFamily="34" charset="-122"/>
                <a:cs typeface="Calibri" pitchFamily="34" charset="-120"/>
              </a:rPr>
              <a:t>RuleAutoPilot (2026)</a:t>
            </a:r>
            <a:endParaRPr lang="en-US" sz="1350" dirty="0"/>
          </a:p>
        </p:txBody>
      </p:sp>
      <p:sp>
        <p:nvSpPr>
          <p:cNvPr id="16" name="Text 13"/>
          <p:cNvSpPr txBox="1"/>
          <p:nvPr/>
        </p:nvSpPr>
        <p:spPr>
          <a:xfrm>
            <a:off x="8595360" y="4946904"/>
            <a:ext cx="2926080" cy="45720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execution-grounded validation: F1 0.443 → 0.539</a:t>
            </a:r>
            <a:endParaRPr lang="en-US" sz="1150" dirty="0"/>
          </a:p>
        </p:txBody>
      </p:sp>
      <p:sp>
        <p:nvSpPr>
          <p:cNvPr id="17" name="Shape 14"/>
          <p:cNvSpPr/>
          <p:nvPr/>
        </p:nvSpPr>
        <p:spPr>
          <a:xfrm>
            <a:off x="548640" y="5532120"/>
            <a:ext cx="11094415" cy="640080"/>
          </a:xfrm>
          <a:prstGeom prst="roundRect">
            <a:avLst>
              <a:gd name="adj" fmla="val 11429"/>
            </a:avLst>
          </a:prstGeom>
          <a:solidFill>
            <a:srgbClr val="0F2533"/>
          </a:solidFill>
          <a:ln w="12700">
            <a:solidFill>
              <a:srgbClr val="0F2533"/>
            </a:solidFill>
            <a:prstDash val="solid"/>
          </a:ln>
        </p:spPr>
      </p:sp>
      <p:sp>
        <p:nvSpPr>
          <p:cNvPr id="18" name="Text 15"/>
          <p:cNvSpPr txBox="1"/>
          <p:nvPr/>
        </p:nvSpPr>
        <p:spPr>
          <a:xfrm>
            <a:off x="731520" y="5532120"/>
            <a:ext cx="10728655"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attacker range in the prompt. Two new tools: stack_values (rare-first counting) and test_rule. The engine refuses to save any rule that has not passed test_rule in exactly that form.</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The anti-topology gate</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Replay the rule as written, then widened to any → any. If it fires between internal hosts, it is matching normal activity.</a:t>
            </a:r>
            <a:endParaRPr lang="en-US" sz="1600" dirty="0"/>
          </a:p>
        </p:txBody>
      </p:sp>
      <p:pic>
        <p:nvPicPr>
          <p:cNvPr id="4" name="Image 0" descr="/home/bigyan/capstone-ids/docs/figures/fig3-7_test_rule_gate.png">    </p:cNvPr>
          <p:cNvPicPr>
            <a:picLocks noChangeAspect="1"/>
          </p:cNvPicPr>
          <p:nvPr/>
        </p:nvPicPr>
        <p:blipFill>
          <a:blip r:embed="rId1"/>
          <a:stretch>
            <a:fillRect/>
          </a:stretch>
        </p:blipFill>
        <p:spPr>
          <a:xfrm>
            <a:off x="548640" y="1705772"/>
            <a:ext cx="6675120" cy="2852097"/>
          </a:xfrm>
          <a:prstGeom prst="rect">
            <a:avLst/>
          </a:prstGeom>
        </p:spPr>
      </p:pic>
      <p:pic>
        <p:nvPicPr>
          <p:cNvPr id="5" name="Image 1" descr="/home/bigyan/capstone-ids/docs/figures/fig5-9_gate_coverage.png">    </p:cNvPr>
          <p:cNvPicPr>
            <a:picLocks noChangeAspect="1"/>
          </p:cNvPicPr>
          <p:nvPr/>
        </p:nvPicPr>
        <p:blipFill>
          <a:blip r:embed="rId2"/>
          <a:stretch>
            <a:fillRect/>
          </a:stretch>
        </p:blipFill>
        <p:spPr>
          <a:xfrm>
            <a:off x="7360920" y="1891847"/>
            <a:ext cx="4297680" cy="2159905"/>
          </a:xfrm>
          <a:prstGeom prst="rect">
            <a:avLst/>
          </a:prstGeom>
        </p:spPr>
      </p:pic>
      <p:sp>
        <p:nvSpPr>
          <p:cNvPr id="6" name="Text 2"/>
          <p:cNvSpPr txBox="1"/>
          <p:nvPr/>
        </p:nvSpPr>
        <p:spPr>
          <a:xfrm>
            <a:off x="548640" y="5029200"/>
            <a:ext cx="11094415" cy="118872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Known-good = internal clients → servers (testbed documentation: servers 1 and 3 generate normal traffic)</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20 s per test on a 2 GB capture — cheap enough for the agent to iterate</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Limitation: blind on POP3, SIP and SMB — no internal host uses them in UNSW</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We found a bug by watching the agent fail</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Capture 1, first attempt: 100 turns, 8.4M tokens, rules passed the gate — and nothing was saved</a:t>
            </a:r>
            <a:endParaRPr lang="en-US" sz="1600" dirty="0"/>
          </a:p>
        </p:txBody>
      </p:sp>
      <p:sp>
        <p:nvSpPr>
          <p:cNvPr id="4" name="Shape 2"/>
          <p:cNvSpPr/>
          <p:nvPr/>
        </p:nvSpPr>
        <p:spPr>
          <a:xfrm>
            <a:off x="548640" y="1463040"/>
            <a:ext cx="11094415" cy="987552"/>
          </a:xfrm>
          <a:prstGeom prst="roundRect">
            <a:avLst>
              <a:gd name="adj" fmla="val 7407"/>
            </a:avLst>
          </a:prstGeom>
          <a:solidFill>
            <a:srgbClr val="EEF3F8"/>
          </a:solidFill>
          <a:ln w="12700">
            <a:solidFill>
              <a:srgbClr val="EEF3F8"/>
            </a:solidFill>
            <a:prstDash val="solid"/>
          </a:ln>
        </p:spPr>
      </p:sp>
      <p:sp>
        <p:nvSpPr>
          <p:cNvPr id="5" name="Shape 3"/>
          <p:cNvSpPr/>
          <p:nvPr/>
        </p:nvSpPr>
        <p:spPr>
          <a:xfrm>
            <a:off x="777240" y="1664208"/>
            <a:ext cx="566928" cy="566928"/>
          </a:xfrm>
          <a:prstGeom prst="ellipse">
            <a:avLst/>
          </a:prstGeom>
          <a:solidFill>
            <a:srgbClr val="1F4E79"/>
          </a:solidFill>
          <a:ln w="12700">
            <a:solidFill>
              <a:srgbClr val="1F4E79"/>
            </a:solidFill>
            <a:prstDash val="solid"/>
          </a:ln>
        </p:spPr>
      </p:sp>
      <p:pic>
        <p:nvPicPr>
          <p:cNvPr id="6" name="Image 0" descr="preencoded.png">    </p:cNvPr>
          <p:cNvPicPr>
            <a:picLocks noChangeAspect="1"/>
          </p:cNvPicPr>
          <p:nvPr/>
        </p:nvPicPr>
        <p:blipFill>
          <a:blip r:embed="rId1"/>
          <a:stretch>
            <a:fillRect/>
          </a:stretch>
        </p:blipFill>
        <p:spPr>
          <a:xfrm>
            <a:off x="913303" y="1800271"/>
            <a:ext cx="294803" cy="294803"/>
          </a:xfrm>
          <a:prstGeom prst="rect">
            <a:avLst/>
          </a:prstGeom>
        </p:spPr>
      </p:pic>
      <p:sp>
        <p:nvSpPr>
          <p:cNvPr id="7" name="Text 4"/>
          <p:cNvSpPr txBox="1"/>
          <p:nvPr/>
        </p:nvSpPr>
        <p:spPr>
          <a:xfrm>
            <a:off x="1554480" y="1554480"/>
            <a:ext cx="2011680" cy="777240"/>
          </a:xfrm>
          <a:prstGeom prst="rect">
            <a:avLst/>
          </a:prstGeom>
          <a:noFill/>
          <a:ln/>
        </p:spPr>
        <p:txBody>
          <a:bodyPr wrap="square" lIns="0" tIns="0" rIns="0" bIns="0" rtlCol="0" anchor="ctr"/>
          <a:lstStyle/>
          <a:p>
            <a:pPr indent="0" marL="0">
              <a:buNone/>
            </a:pPr>
            <a:r>
              <a:rPr lang="en-US" sz="1800" b="1" dirty="0">
                <a:solidFill>
                  <a:srgbClr val="0F2533"/>
                </a:solidFill>
                <a:latin typeface="Cambria" pitchFamily="34" charset="0"/>
                <a:ea typeface="Cambria" pitchFamily="34" charset="-122"/>
                <a:cs typeface="Cambria" pitchFamily="34" charset="-120"/>
              </a:rPr>
              <a:t>Symptom</a:t>
            </a:r>
            <a:endParaRPr lang="en-US" sz="1800" dirty="0"/>
          </a:p>
        </p:txBody>
      </p:sp>
      <p:sp>
        <p:nvSpPr>
          <p:cNvPr id="8" name="Text 5"/>
          <p:cNvSpPr txBox="1"/>
          <p:nvPr/>
        </p:nvSpPr>
        <p:spPr>
          <a:xfrm>
            <a:off x="3474720" y="1554480"/>
            <a:ext cx="7894015" cy="804672"/>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Re-tested rules that had already passed, never saved, hit the 100-turn limit. The UI showed tool calls but no reasoning at all.</a:t>
            </a:r>
            <a:endParaRPr lang="en-US" sz="1400" dirty="0"/>
          </a:p>
        </p:txBody>
      </p:sp>
      <p:sp>
        <p:nvSpPr>
          <p:cNvPr id="9" name="Shape 6"/>
          <p:cNvSpPr/>
          <p:nvPr/>
        </p:nvSpPr>
        <p:spPr>
          <a:xfrm>
            <a:off x="548640" y="2578608"/>
            <a:ext cx="11094415" cy="987552"/>
          </a:xfrm>
          <a:prstGeom prst="roundRect">
            <a:avLst>
              <a:gd name="adj" fmla="val 7407"/>
            </a:avLst>
          </a:prstGeom>
          <a:solidFill>
            <a:srgbClr val="EEF3F8"/>
          </a:solidFill>
          <a:ln w="12700">
            <a:solidFill>
              <a:srgbClr val="EEF3F8"/>
            </a:solidFill>
            <a:prstDash val="solid"/>
          </a:ln>
        </p:spPr>
      </p:sp>
      <p:sp>
        <p:nvSpPr>
          <p:cNvPr id="10" name="Shape 7"/>
          <p:cNvSpPr/>
          <p:nvPr/>
        </p:nvSpPr>
        <p:spPr>
          <a:xfrm>
            <a:off x="777240" y="2779776"/>
            <a:ext cx="566928" cy="566928"/>
          </a:xfrm>
          <a:prstGeom prst="ellipse">
            <a:avLst/>
          </a:prstGeom>
          <a:solidFill>
            <a:srgbClr val="1F4E79"/>
          </a:solidFill>
          <a:ln w="12700">
            <a:solidFill>
              <a:srgbClr val="1F4E79"/>
            </a:solidFill>
            <a:prstDash val="solid"/>
          </a:ln>
        </p:spPr>
      </p:sp>
      <p:pic>
        <p:nvPicPr>
          <p:cNvPr id="11" name="Image 1" descr="preencoded.png">    </p:cNvPr>
          <p:cNvPicPr>
            <a:picLocks noChangeAspect="1"/>
          </p:cNvPicPr>
          <p:nvPr/>
        </p:nvPicPr>
        <p:blipFill>
          <a:blip r:embed="rId2"/>
          <a:stretch>
            <a:fillRect/>
          </a:stretch>
        </p:blipFill>
        <p:spPr>
          <a:xfrm>
            <a:off x="913303" y="2915839"/>
            <a:ext cx="294803" cy="294803"/>
          </a:xfrm>
          <a:prstGeom prst="rect">
            <a:avLst/>
          </a:prstGeom>
        </p:spPr>
      </p:pic>
      <p:sp>
        <p:nvSpPr>
          <p:cNvPr id="12" name="Text 8"/>
          <p:cNvSpPr txBox="1"/>
          <p:nvPr/>
        </p:nvSpPr>
        <p:spPr>
          <a:xfrm>
            <a:off x="1554480" y="2670048"/>
            <a:ext cx="2011680" cy="777240"/>
          </a:xfrm>
          <a:prstGeom prst="rect">
            <a:avLst/>
          </a:prstGeom>
          <a:noFill/>
          <a:ln/>
        </p:spPr>
        <p:txBody>
          <a:bodyPr wrap="square" lIns="0" tIns="0" rIns="0" bIns="0" rtlCol="0" anchor="ctr"/>
          <a:lstStyle/>
          <a:p>
            <a:pPr indent="0" marL="0">
              <a:buNone/>
            </a:pPr>
            <a:r>
              <a:rPr lang="en-US" sz="1800" b="1" dirty="0">
                <a:solidFill>
                  <a:srgbClr val="0F2533"/>
                </a:solidFill>
                <a:latin typeface="Cambria" pitchFamily="34" charset="0"/>
                <a:ea typeface="Cambria" pitchFamily="34" charset="-122"/>
                <a:cs typeface="Cambria" pitchFamily="34" charset="-120"/>
              </a:rPr>
              <a:t>Diagnosis</a:t>
            </a:r>
            <a:endParaRPr lang="en-US" sz="1800" dirty="0"/>
          </a:p>
        </p:txBody>
      </p:sp>
      <p:sp>
        <p:nvSpPr>
          <p:cNvPr id="13" name="Text 9"/>
          <p:cNvSpPr txBox="1"/>
          <p:nvPr/>
        </p:nvSpPr>
        <p:spPr>
          <a:xfrm>
            <a:off x="3474720" y="2670048"/>
            <a:ext cx="7894015" cy="804672"/>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Engine, server and browser all passed text through. The raw API did not: DeepSeek V4 Pro answered in thinking mode — reasoning in reasoning_content, content empty.</a:t>
            </a:r>
            <a:endParaRPr lang="en-US" sz="1400" dirty="0"/>
          </a:p>
        </p:txBody>
      </p:sp>
      <p:sp>
        <p:nvSpPr>
          <p:cNvPr id="14" name="Shape 10"/>
          <p:cNvSpPr/>
          <p:nvPr/>
        </p:nvSpPr>
        <p:spPr>
          <a:xfrm>
            <a:off x="548640" y="3694176"/>
            <a:ext cx="11094415" cy="987552"/>
          </a:xfrm>
          <a:prstGeom prst="roundRect">
            <a:avLst>
              <a:gd name="adj" fmla="val 7407"/>
            </a:avLst>
          </a:prstGeom>
          <a:solidFill>
            <a:srgbClr val="EEF3F8"/>
          </a:solidFill>
          <a:ln w="12700">
            <a:solidFill>
              <a:srgbClr val="EEF3F8"/>
            </a:solidFill>
            <a:prstDash val="solid"/>
          </a:ln>
        </p:spPr>
      </p:sp>
      <p:sp>
        <p:nvSpPr>
          <p:cNvPr id="15" name="Shape 11"/>
          <p:cNvSpPr/>
          <p:nvPr/>
        </p:nvSpPr>
        <p:spPr>
          <a:xfrm>
            <a:off x="777240" y="3895344"/>
            <a:ext cx="566928" cy="566928"/>
          </a:xfrm>
          <a:prstGeom prst="ellipse">
            <a:avLst/>
          </a:prstGeom>
          <a:solidFill>
            <a:srgbClr val="B03A2E"/>
          </a:solidFill>
          <a:ln w="12700">
            <a:solidFill>
              <a:srgbClr val="B03A2E"/>
            </a:solidFill>
            <a:prstDash val="solid"/>
          </a:ln>
        </p:spPr>
      </p:sp>
      <p:pic>
        <p:nvPicPr>
          <p:cNvPr id="16" name="Image 2" descr="preencoded.png">    </p:cNvPr>
          <p:cNvPicPr>
            <a:picLocks noChangeAspect="1"/>
          </p:cNvPicPr>
          <p:nvPr/>
        </p:nvPicPr>
        <p:blipFill>
          <a:blip r:embed="rId3"/>
          <a:stretch>
            <a:fillRect/>
          </a:stretch>
        </p:blipFill>
        <p:spPr>
          <a:xfrm>
            <a:off x="913303" y="4031407"/>
            <a:ext cx="294803" cy="294803"/>
          </a:xfrm>
          <a:prstGeom prst="rect">
            <a:avLst/>
          </a:prstGeom>
        </p:spPr>
      </p:pic>
      <p:sp>
        <p:nvSpPr>
          <p:cNvPr id="17" name="Text 12"/>
          <p:cNvSpPr txBox="1"/>
          <p:nvPr/>
        </p:nvSpPr>
        <p:spPr>
          <a:xfrm>
            <a:off x="1554480" y="3785616"/>
            <a:ext cx="2011680" cy="777240"/>
          </a:xfrm>
          <a:prstGeom prst="rect">
            <a:avLst/>
          </a:prstGeom>
          <a:noFill/>
          <a:ln/>
        </p:spPr>
        <p:txBody>
          <a:bodyPr wrap="square" lIns="0" tIns="0" rIns="0" bIns="0" rtlCol="0" anchor="ctr"/>
          <a:lstStyle/>
          <a:p>
            <a:pPr indent="0" marL="0">
              <a:buNone/>
            </a:pPr>
            <a:r>
              <a:rPr lang="en-US" sz="1800" b="1" dirty="0">
                <a:solidFill>
                  <a:srgbClr val="0F2533"/>
                </a:solidFill>
                <a:latin typeface="Cambria" pitchFamily="34" charset="0"/>
                <a:ea typeface="Cambria" pitchFamily="34" charset="-122"/>
                <a:cs typeface="Cambria" pitchFamily="34" charset="-120"/>
              </a:rPr>
              <a:t>Root cause</a:t>
            </a:r>
            <a:endParaRPr lang="en-US" sz="1800" dirty="0"/>
          </a:p>
        </p:txBody>
      </p:sp>
      <p:sp>
        <p:nvSpPr>
          <p:cNvPr id="18" name="Text 13"/>
          <p:cNvSpPr txBox="1"/>
          <p:nvPr/>
        </p:nvSpPr>
        <p:spPr>
          <a:xfrm>
            <a:off x="3474720" y="3785616"/>
            <a:ext cx="7894015" cy="804672"/>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Our adapter read only content. The model's reasoning was never logged and never sent back, so every turn it started again without its own plan.</a:t>
            </a:r>
            <a:endParaRPr lang="en-US" sz="1400" dirty="0"/>
          </a:p>
        </p:txBody>
      </p:sp>
      <p:sp>
        <p:nvSpPr>
          <p:cNvPr id="19" name="Shape 14"/>
          <p:cNvSpPr/>
          <p:nvPr/>
        </p:nvSpPr>
        <p:spPr>
          <a:xfrm>
            <a:off x="548640" y="4809744"/>
            <a:ext cx="11094415" cy="987552"/>
          </a:xfrm>
          <a:prstGeom prst="roundRect">
            <a:avLst>
              <a:gd name="adj" fmla="val 7407"/>
            </a:avLst>
          </a:prstGeom>
          <a:solidFill>
            <a:srgbClr val="EEF3F8"/>
          </a:solidFill>
          <a:ln w="12700">
            <a:solidFill>
              <a:srgbClr val="EEF3F8"/>
            </a:solidFill>
            <a:prstDash val="solid"/>
          </a:ln>
        </p:spPr>
      </p:sp>
      <p:sp>
        <p:nvSpPr>
          <p:cNvPr id="20" name="Shape 15"/>
          <p:cNvSpPr/>
          <p:nvPr/>
        </p:nvSpPr>
        <p:spPr>
          <a:xfrm>
            <a:off x="777240" y="5010912"/>
            <a:ext cx="566928" cy="566928"/>
          </a:xfrm>
          <a:prstGeom prst="ellipse">
            <a:avLst/>
          </a:prstGeom>
          <a:solidFill>
            <a:srgbClr val="2E7D32"/>
          </a:solidFill>
          <a:ln w="12700">
            <a:solidFill>
              <a:srgbClr val="2E7D32"/>
            </a:solidFill>
            <a:prstDash val="solid"/>
          </a:ln>
        </p:spPr>
      </p:sp>
      <p:pic>
        <p:nvPicPr>
          <p:cNvPr id="21" name="Image 3" descr="preencoded.png">    </p:cNvPr>
          <p:cNvPicPr>
            <a:picLocks noChangeAspect="1"/>
          </p:cNvPicPr>
          <p:nvPr/>
        </p:nvPicPr>
        <p:blipFill>
          <a:blip r:embed="rId4"/>
          <a:stretch>
            <a:fillRect/>
          </a:stretch>
        </p:blipFill>
        <p:spPr>
          <a:xfrm>
            <a:off x="913303" y="5146975"/>
            <a:ext cx="294803" cy="294803"/>
          </a:xfrm>
          <a:prstGeom prst="rect">
            <a:avLst/>
          </a:prstGeom>
        </p:spPr>
      </p:pic>
      <p:sp>
        <p:nvSpPr>
          <p:cNvPr id="22" name="Text 16"/>
          <p:cNvSpPr txBox="1"/>
          <p:nvPr/>
        </p:nvSpPr>
        <p:spPr>
          <a:xfrm>
            <a:off x="1554480" y="4901184"/>
            <a:ext cx="2011680" cy="777240"/>
          </a:xfrm>
          <a:prstGeom prst="rect">
            <a:avLst/>
          </a:prstGeom>
          <a:noFill/>
          <a:ln/>
        </p:spPr>
        <p:txBody>
          <a:bodyPr wrap="square" lIns="0" tIns="0" rIns="0" bIns="0" rtlCol="0" anchor="ctr"/>
          <a:lstStyle/>
          <a:p>
            <a:pPr indent="0" marL="0">
              <a:buNone/>
            </a:pPr>
            <a:r>
              <a:rPr lang="en-US" sz="1800" b="1" dirty="0">
                <a:solidFill>
                  <a:srgbClr val="0F2533"/>
                </a:solidFill>
                <a:latin typeface="Cambria" pitchFamily="34" charset="0"/>
                <a:ea typeface="Cambria" pitchFamily="34" charset="-122"/>
                <a:cs typeface="Cambria" pitchFamily="34" charset="-120"/>
              </a:rPr>
              <a:t>Fix</a:t>
            </a:r>
            <a:endParaRPr lang="en-US" sz="1800" dirty="0"/>
          </a:p>
        </p:txBody>
      </p:sp>
      <p:sp>
        <p:nvSpPr>
          <p:cNvPr id="23" name="Text 17"/>
          <p:cNvSpPr txBox="1"/>
          <p:nvPr/>
        </p:nvSpPr>
        <p:spPr>
          <a:xfrm>
            <a:off x="3474720" y="4901184"/>
            <a:ext cx="7894015" cy="804672"/>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Stream reasoning to the UI and transcript, and return it with each turn. Re-run: finished in 90 turns, 9 rules saved, 5.2M tokens.</a:t>
            </a:r>
            <a:endParaRPr lang="en-US" sz="1400" dirty="0"/>
          </a:p>
        </p:txBody>
      </p:sp>
      <p:sp>
        <p:nvSpPr>
          <p:cNvPr id="24" name="Text 18"/>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Every earlier DeepSeek run carried the same defect whenever the model used thinking mode; most also wrote visible text, so they were affected less. Stated as a threat to validity.</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Hunt result: technique rules that transfer</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25 rules from captures 3, 1, 10 — capture 3 ran before the fix, captures 1 and 10 after it</a:t>
            </a:r>
            <a:endParaRPr lang="en-US" sz="1600" dirty="0"/>
          </a:p>
        </p:txBody>
      </p:sp>
      <p:pic>
        <p:nvPicPr>
          <p:cNvPr id="4" name="Image 0" descr="/home/bigyan/capstone-ids/docs/figures/fig5-10_hunt_transfer.png">    </p:cNvPr>
          <p:cNvPicPr>
            <a:picLocks noChangeAspect="1"/>
          </p:cNvPicPr>
          <p:nvPr/>
        </p:nvPicPr>
        <p:blipFill>
          <a:blip r:embed="rId1"/>
          <a:stretch>
            <a:fillRect/>
          </a:stretch>
        </p:blipFill>
        <p:spPr>
          <a:xfrm>
            <a:off x="754049" y="1371600"/>
            <a:ext cx="6812943" cy="4846320"/>
          </a:xfrm>
          <a:prstGeom prst="rect">
            <a:avLst/>
          </a:prstGeom>
        </p:spPr>
      </p:pic>
      <p:sp>
        <p:nvSpPr>
          <p:cNvPr id="5" name="Text 2"/>
          <p:cNvSpPr txBox="1"/>
          <p:nvPr/>
        </p:nvSpPr>
        <p:spPr>
          <a:xfrm>
            <a:off x="8001000" y="1325880"/>
            <a:ext cx="3657600" cy="777240"/>
          </a:xfrm>
          <a:prstGeom prst="rect">
            <a:avLst/>
          </a:prstGeom>
          <a:noFill/>
          <a:ln/>
        </p:spPr>
        <p:txBody>
          <a:bodyPr wrap="square" lIns="0" tIns="0" rIns="0" bIns="0" rtlCol="0" anchor="b"/>
          <a:lstStyle/>
          <a:p>
            <a:pPr indent="0" marL="0">
              <a:buNone/>
            </a:pPr>
            <a:r>
              <a:rPr lang="en-US" sz="3400" b="1" dirty="0">
                <a:solidFill>
                  <a:srgbClr val="1F4E79"/>
                </a:solidFill>
                <a:latin typeface="Cambria" pitchFamily="34" charset="0"/>
                <a:ea typeface="Cambria" pitchFamily="34" charset="-122"/>
                <a:cs typeface="Cambria" pitchFamily="34" charset="-120"/>
              </a:rPr>
              <a:t>+1.21 pts</a:t>
            </a:r>
            <a:endParaRPr lang="en-US" sz="3400" dirty="0"/>
          </a:p>
        </p:txBody>
      </p:sp>
      <p:sp>
        <p:nvSpPr>
          <p:cNvPr id="6" name="Text 3"/>
          <p:cNvSpPr txBox="1"/>
          <p:nvPr/>
        </p:nvSpPr>
        <p:spPr>
          <a:xfrm>
            <a:off x="8001000" y="210312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genuine detection on the 6 dev captures (+180 events no other rule caught)</a:t>
            </a:r>
            <a:endParaRPr lang="en-US" sz="1300" dirty="0"/>
          </a:p>
        </p:txBody>
      </p:sp>
      <p:sp>
        <p:nvSpPr>
          <p:cNvPr id="7" name="Text 4"/>
          <p:cNvSpPr txBox="1"/>
          <p:nvPr/>
        </p:nvSpPr>
        <p:spPr>
          <a:xfrm>
            <a:off x="8001000" y="2743200"/>
            <a:ext cx="3657600" cy="777240"/>
          </a:xfrm>
          <a:prstGeom prst="rect">
            <a:avLst/>
          </a:prstGeom>
          <a:noFill/>
          <a:ln/>
        </p:spPr>
        <p:txBody>
          <a:bodyPr wrap="square" lIns="0" tIns="0" rIns="0" bIns="0" rtlCol="0" anchor="b"/>
          <a:lstStyle/>
          <a:p>
            <a:pPr indent="0" marL="0">
              <a:buNone/>
            </a:pPr>
            <a:r>
              <a:rPr lang="en-US" sz="3800" b="1" dirty="0">
                <a:solidFill>
                  <a:srgbClr val="D9822B"/>
                </a:solidFill>
                <a:latin typeface="Cambria" pitchFamily="34" charset="0"/>
                <a:ea typeface="Cambria" pitchFamily="34" charset="-122"/>
                <a:cs typeface="Cambria" pitchFamily="34" charset="-120"/>
              </a:rPr>
              <a:t>74%</a:t>
            </a:r>
            <a:endParaRPr lang="en-US" sz="3800" dirty="0"/>
          </a:p>
        </p:txBody>
      </p:sp>
      <p:sp>
        <p:nvSpPr>
          <p:cNvPr id="8" name="Text 5"/>
          <p:cNvSpPr txBox="1"/>
          <p:nvPr/>
        </p:nvSpPr>
        <p:spPr>
          <a:xfrm>
            <a:off x="8001000" y="352044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hunt-rule alerts match a labelled attack; 0 on normal hosts; 0 topology rules</a:t>
            </a:r>
            <a:endParaRPr lang="en-US" sz="1300" dirty="0"/>
          </a:p>
        </p:txBody>
      </p:sp>
      <p:sp>
        <p:nvSpPr>
          <p:cNvPr id="9" name="Text 6"/>
          <p:cNvSpPr txBox="1"/>
          <p:nvPr/>
        </p:nvSpPr>
        <p:spPr>
          <a:xfrm>
            <a:off x="8001000" y="4160520"/>
            <a:ext cx="3657600" cy="777240"/>
          </a:xfrm>
          <a:prstGeom prst="rect">
            <a:avLst/>
          </a:prstGeom>
          <a:noFill/>
          <a:ln/>
        </p:spPr>
        <p:txBody>
          <a:bodyPr wrap="square" lIns="0" tIns="0" rIns="0" bIns="0" rtlCol="0" anchor="b"/>
          <a:lstStyle/>
          <a:p>
            <a:pPr indent="0" marL="0">
              <a:buNone/>
            </a:pPr>
            <a:r>
              <a:rPr lang="en-US" sz="3400" b="1" dirty="0">
                <a:solidFill>
                  <a:srgbClr val="2E7D32"/>
                </a:solidFill>
                <a:latin typeface="Cambria" pitchFamily="34" charset="0"/>
                <a:ea typeface="Cambria" pitchFamily="34" charset="-122"/>
                <a:cs typeface="Cambria" pitchFamily="34" charset="-120"/>
              </a:rPr>
              <a:t>6 → 175</a:t>
            </a:r>
            <a:endParaRPr lang="en-US" sz="3400" dirty="0"/>
          </a:p>
        </p:txBody>
      </p:sp>
      <p:sp>
        <p:nvSpPr>
          <p:cNvPr id="10" name="Text 7"/>
          <p:cNvSpPr txBox="1"/>
          <p:nvPr/>
        </p:nvSpPr>
        <p:spPr>
          <a:xfrm>
            <a:off x="8001000" y="493776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events added by rules written before the fix (instances) vs after it (techniques)</a:t>
            </a:r>
            <a:endParaRPr lang="en-US" sz="1300" dirty="0"/>
          </a:p>
        </p:txBody>
      </p:sp>
      <p:sp>
        <p:nvSpPr>
          <p:cNvPr id="11" name="Text 8"/>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Top contributors: SMB fuzzed filenames (behavioural, +59), HTTP /../ traversal (+37), HP HPEinc file inclusion (+31), encoded XSS (+24). The SMB rule could not be gate-tested (no internal SMB); 0 alerts on benign hold-out captures.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Hold-out: traffic nobody had looked at</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UNSW 22 Jan 2015 — rule files frozen first, then replayed and scored once</a:t>
            </a:r>
            <a:endParaRPr lang="en-US" sz="1600" dirty="0"/>
          </a:p>
        </p:txBody>
      </p:sp>
      <p:pic>
        <p:nvPicPr>
          <p:cNvPr id="4" name="Image 0" descr="/home/bigyan/capstone-ids/docs/figures/fig5-12_generalisation.png">    </p:cNvPr>
          <p:cNvPicPr>
            <a:picLocks noChangeAspect="1"/>
          </p:cNvPicPr>
          <p:nvPr/>
        </p:nvPicPr>
        <p:blipFill>
          <a:blip r:embed="rId1"/>
          <a:stretch>
            <a:fillRect/>
          </a:stretch>
        </p:blipFill>
        <p:spPr>
          <a:xfrm>
            <a:off x="548640" y="1903253"/>
            <a:ext cx="7223760" cy="2868615"/>
          </a:xfrm>
          <a:prstGeom prst="rect">
            <a:avLst/>
          </a:prstGeom>
        </p:spPr>
      </p:pic>
      <p:sp>
        <p:nvSpPr>
          <p:cNvPr id="5" name="Text 2"/>
          <p:cNvSpPr txBox="1"/>
          <p:nvPr/>
        </p:nvSpPr>
        <p:spPr>
          <a:xfrm>
            <a:off x="8001000" y="1325880"/>
            <a:ext cx="3657600" cy="777240"/>
          </a:xfrm>
          <a:prstGeom prst="rect">
            <a:avLst/>
          </a:prstGeom>
          <a:noFill/>
          <a:ln/>
        </p:spPr>
        <p:txBody>
          <a:bodyPr wrap="square" lIns="0" tIns="0" rIns="0" bIns="0" rtlCol="0" anchor="b"/>
          <a:lstStyle/>
          <a:p>
            <a:pPr indent="0" marL="0">
              <a:buNone/>
            </a:pPr>
            <a:r>
              <a:rPr lang="en-US" sz="3400" b="1" dirty="0">
                <a:solidFill>
                  <a:srgbClr val="1F4E79"/>
                </a:solidFill>
                <a:latin typeface="Cambria" pitchFamily="34" charset="0"/>
                <a:ea typeface="Cambria" pitchFamily="34" charset="-122"/>
                <a:cs typeface="Cambria" pitchFamily="34" charset="-120"/>
              </a:rPr>
              <a:t>+1.53 pts</a:t>
            </a:r>
            <a:endParaRPr lang="en-US" sz="3400" dirty="0"/>
          </a:p>
        </p:txBody>
      </p:sp>
      <p:sp>
        <p:nvSpPr>
          <p:cNvPr id="6" name="Text 3"/>
          <p:cNvSpPr txBox="1"/>
          <p:nvPr/>
        </p:nvSpPr>
        <p:spPr>
          <a:xfrm>
            <a:off x="8001000" y="210312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hunt rules on the hold-out (+71 of 4,634 events) — larger than on the dev set</a:t>
            </a:r>
            <a:endParaRPr lang="en-US" sz="1300" dirty="0"/>
          </a:p>
        </p:txBody>
      </p:sp>
      <p:sp>
        <p:nvSpPr>
          <p:cNvPr id="7" name="Text 4"/>
          <p:cNvSpPr txBox="1"/>
          <p:nvPr/>
        </p:nvSpPr>
        <p:spPr>
          <a:xfrm>
            <a:off x="8001000" y="2743200"/>
            <a:ext cx="3657600" cy="777240"/>
          </a:xfrm>
          <a:prstGeom prst="rect">
            <a:avLst/>
          </a:prstGeom>
          <a:noFill/>
          <a:ln/>
        </p:spPr>
        <p:txBody>
          <a:bodyPr wrap="square" lIns="0" tIns="0" rIns="0" bIns="0" rtlCol="0" anchor="b"/>
          <a:lstStyle/>
          <a:p>
            <a:pPr indent="0" marL="0">
              <a:buNone/>
            </a:pPr>
            <a:r>
              <a:rPr lang="en-US" sz="4400" b="1" dirty="0">
                <a:solidFill>
                  <a:srgbClr val="2E7D32"/>
                </a:solidFill>
                <a:latin typeface="Cambria" pitchFamily="34" charset="0"/>
                <a:ea typeface="Cambria" pitchFamily="34" charset="-122"/>
                <a:cs typeface="Cambria" pitchFamily="34" charset="-120"/>
              </a:rPr>
              <a:t>0</a:t>
            </a:r>
            <a:endParaRPr lang="en-US" sz="4400" dirty="0"/>
          </a:p>
        </p:txBody>
      </p:sp>
      <p:sp>
        <p:nvSpPr>
          <p:cNvPr id="8" name="Text 5"/>
          <p:cNvSpPr txBox="1"/>
          <p:nvPr/>
        </p:nvSpPr>
        <p:spPr>
          <a:xfrm>
            <a:off x="8001000" y="352044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AI-rule alerts on the two benign-only hold-out captures, in every condition</a:t>
            </a:r>
            <a:endParaRPr lang="en-US" sz="1300" dirty="0"/>
          </a:p>
        </p:txBody>
      </p:sp>
      <p:sp>
        <p:nvSpPr>
          <p:cNvPr id="9" name="Text 6"/>
          <p:cNvSpPr txBox="1"/>
          <p:nvPr/>
        </p:nvSpPr>
        <p:spPr>
          <a:xfrm>
            <a:off x="8001000" y="4160520"/>
            <a:ext cx="3657600" cy="777240"/>
          </a:xfrm>
          <a:prstGeom prst="rect">
            <a:avLst/>
          </a:prstGeom>
          <a:noFill/>
          <a:ln/>
        </p:spPr>
        <p:txBody>
          <a:bodyPr wrap="square" lIns="0" tIns="0" rIns="0" bIns="0" rtlCol="0" anchor="b"/>
          <a:lstStyle/>
          <a:p>
            <a:pPr indent="0" marL="0">
              <a:buNone/>
            </a:pPr>
            <a:r>
              <a:rPr lang="en-US" sz="3400" b="1" dirty="0">
                <a:solidFill>
                  <a:srgbClr val="D9822B"/>
                </a:solidFill>
                <a:latin typeface="Cambria" pitchFamily="34" charset="0"/>
                <a:ea typeface="Cambria" pitchFamily="34" charset="-122"/>
                <a:cs typeface="Cambria" pitchFamily="34" charset="-120"/>
              </a:rPr>
              <a:t>29.5%</a:t>
            </a:r>
            <a:endParaRPr lang="en-US" sz="3400" dirty="0"/>
          </a:p>
        </p:txBody>
      </p:sp>
      <p:sp>
        <p:nvSpPr>
          <p:cNvPr id="10" name="Text 7"/>
          <p:cNvSpPr txBox="1"/>
          <p:nvPr/>
        </p:nvSpPr>
        <p:spPr>
          <a:xfrm>
            <a:off x="8001000" y="493776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detected by the frozen human baseline v2 alone (dev: 24.9%)</a:t>
            </a:r>
            <a:endParaRPr lang="en-US" sz="1300" dirty="0"/>
          </a:p>
        </p:txBody>
      </p:sp>
      <p:sp>
        <p:nvSpPr>
          <p:cNvPr id="11" name="Text 8"/>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Hunt2: +1.06 pts. All four conditions together: about +2.2 pts. Plain and research: +0.11 and +0.28 — their large raw gains were topology rules.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Hunt2: the keyword tool fixed errors, not detection</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Same workflow plus suricata_keywords (which rule keywords this Suricata supports); all runs after the fix</a:t>
            </a:r>
            <a:endParaRPr lang="en-US" sz="1600" dirty="0"/>
          </a:p>
        </p:txBody>
      </p:sp>
      <p:pic>
        <p:nvPicPr>
          <p:cNvPr id="4" name="Image 0" descr="/home/bigyan/capstone-ids/docs/figures/fig5-14_hunt_overlap.png">    </p:cNvPr>
          <p:cNvPicPr>
            <a:picLocks noChangeAspect="1"/>
          </p:cNvPicPr>
          <p:nvPr/>
        </p:nvPicPr>
        <p:blipFill>
          <a:blip r:embed="rId1"/>
          <a:stretch>
            <a:fillRect/>
          </a:stretch>
        </p:blipFill>
        <p:spPr>
          <a:xfrm>
            <a:off x="548640" y="1492436"/>
            <a:ext cx="7315200" cy="3141609"/>
          </a:xfrm>
          <a:prstGeom prst="rect">
            <a:avLst/>
          </a:prstGeom>
        </p:spPr>
      </p:pic>
      <p:sp>
        <p:nvSpPr>
          <p:cNvPr id="5" name="Text 2"/>
          <p:cNvSpPr txBox="1"/>
          <p:nvPr/>
        </p:nvSpPr>
        <p:spPr>
          <a:xfrm>
            <a:off x="8092440" y="1325880"/>
            <a:ext cx="3566160" cy="777240"/>
          </a:xfrm>
          <a:prstGeom prst="rect">
            <a:avLst/>
          </a:prstGeom>
          <a:noFill/>
          <a:ln/>
        </p:spPr>
        <p:txBody>
          <a:bodyPr wrap="square" lIns="0" tIns="0" rIns="0" bIns="0" rtlCol="0" anchor="b"/>
          <a:lstStyle/>
          <a:p>
            <a:pPr indent="0" marL="0">
              <a:buNone/>
            </a:pPr>
            <a:r>
              <a:rPr lang="en-US" sz="4000" b="1" dirty="0">
                <a:solidFill>
                  <a:srgbClr val="2E7D32"/>
                </a:solidFill>
                <a:latin typeface="Cambria" pitchFamily="34" charset="0"/>
                <a:ea typeface="Cambria" pitchFamily="34" charset="-122"/>
                <a:cs typeface="Cambria" pitchFamily="34" charset="-120"/>
              </a:rPr>
              <a:t>0</a:t>
            </a:r>
            <a:endParaRPr lang="en-US" sz="4000" dirty="0"/>
          </a:p>
        </p:txBody>
      </p:sp>
      <p:sp>
        <p:nvSpPr>
          <p:cNvPr id="6" name="Text 3"/>
          <p:cNvSpPr txBox="1"/>
          <p:nvPr/>
        </p:nvSpPr>
        <p:spPr>
          <a:xfrm>
            <a:off x="8092440" y="2103120"/>
            <a:ext cx="356616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rules that failed to load (hunt capture 10: 2); proper buffers instead of raw-byte regexes</a:t>
            </a:r>
            <a:endParaRPr lang="en-US" sz="1300" dirty="0"/>
          </a:p>
        </p:txBody>
      </p:sp>
      <p:sp>
        <p:nvSpPr>
          <p:cNvPr id="7" name="Text 4"/>
          <p:cNvSpPr txBox="1"/>
          <p:nvPr/>
        </p:nvSpPr>
        <p:spPr>
          <a:xfrm>
            <a:off x="8092440" y="2743200"/>
            <a:ext cx="3566160" cy="777240"/>
          </a:xfrm>
          <a:prstGeom prst="rect">
            <a:avLst/>
          </a:prstGeom>
          <a:noFill/>
          <a:ln/>
        </p:spPr>
        <p:txBody>
          <a:bodyPr wrap="square" lIns="0" tIns="0" rIns="0" bIns="0" rtlCol="0" anchor="b"/>
          <a:lstStyle/>
          <a:p>
            <a:pPr indent="0" marL="0">
              <a:buNone/>
            </a:pPr>
            <a:r>
              <a:rPr lang="en-US" sz="2800" b="1" dirty="0">
                <a:solidFill>
                  <a:srgbClr val="1F4E79"/>
                </a:solidFill>
                <a:latin typeface="Cambria" pitchFamily="34" charset="0"/>
                <a:ea typeface="Cambria" pitchFamily="34" charset="-122"/>
                <a:cs typeface="Cambria" pitchFamily="34" charset="-120"/>
              </a:rPr>
              <a:t>+0.91 / +0.92 / +1.06</a:t>
            </a:r>
            <a:endParaRPr lang="en-US" sz="2800" dirty="0"/>
          </a:p>
        </p:txBody>
      </p:sp>
      <p:sp>
        <p:nvSpPr>
          <p:cNvPr id="8" name="Text 5"/>
          <p:cNvSpPr txBox="1"/>
          <p:nvPr/>
        </p:nvSpPr>
        <p:spPr>
          <a:xfrm>
            <a:off x="8092440" y="3520440"/>
            <a:ext cx="356616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genuine pts: dev / dev 4-5-14 / hold-out (hunt: +1.21 / +1.38 / +1.53)</a:t>
            </a:r>
            <a:endParaRPr lang="en-US" sz="1300" dirty="0"/>
          </a:p>
        </p:txBody>
      </p:sp>
      <p:sp>
        <p:nvSpPr>
          <p:cNvPr id="9" name="Text 6"/>
          <p:cNvSpPr txBox="1"/>
          <p:nvPr/>
        </p:nvSpPr>
        <p:spPr>
          <a:xfrm>
            <a:off x="8092440" y="4160520"/>
            <a:ext cx="3566160" cy="777240"/>
          </a:xfrm>
          <a:prstGeom prst="rect">
            <a:avLst/>
          </a:prstGeom>
          <a:noFill/>
          <a:ln/>
        </p:spPr>
        <p:txBody>
          <a:bodyPr wrap="square" lIns="0" tIns="0" rIns="0" bIns="0" rtlCol="0" anchor="b"/>
          <a:lstStyle/>
          <a:p>
            <a:pPr indent="0" marL="0">
              <a:buNone/>
            </a:pPr>
            <a:r>
              <a:rPr lang="en-US" sz="3000" b="1" dirty="0">
                <a:solidFill>
                  <a:srgbClr val="D9822B"/>
                </a:solidFill>
                <a:latin typeface="Cambria" pitchFamily="34" charset="0"/>
                <a:ea typeface="Cambria" pitchFamily="34" charset="-122"/>
                <a:cs typeface="Cambria" pitchFamily="34" charset="-120"/>
              </a:rPr>
              <a:t>82 shared</a:t>
            </a:r>
            <a:endParaRPr lang="en-US" sz="3000" dirty="0"/>
          </a:p>
        </p:txBody>
      </p:sp>
      <p:sp>
        <p:nvSpPr>
          <p:cNvPr id="10" name="Text 7"/>
          <p:cNvSpPr txBox="1"/>
          <p:nvPr/>
        </p:nvSpPr>
        <p:spPr>
          <a:xfrm>
            <a:off x="8092440" y="4937760"/>
            <a:ext cx="356616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180 (hunt) and 136 (hunt2) events: runs of the same workflow find different attacks</a:t>
            </a:r>
            <a:endParaRPr lang="en-US" sz="1300" dirty="0"/>
          </a:p>
        </p:txBody>
      </p:sp>
      <p:sp>
        <p:nvSpPr>
          <p:cNvPr id="11" name="Text 8"/>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Expected beforehand: +1.2 to +2.0 pts. Got less. What a run detects depends on which attack families it chooses to hunt — run-to-run variation is larger than the tool's effect.</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Is 25% unfair to a signature IDS?</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Measured against attacks a rule could plausibly see — not every labelled event</a:t>
            </a:r>
            <a:endParaRPr lang="en-US" sz="1600" dirty="0"/>
          </a:p>
        </p:txBody>
      </p:sp>
      <p:pic>
        <p:nvPicPr>
          <p:cNvPr id="4" name="Image 0" descr="/home/bigyan/capstone-ids/docs/figures/fig5-13_detectability.png">    </p:cNvPr>
          <p:cNvPicPr>
            <a:picLocks noChangeAspect="1"/>
          </p:cNvPicPr>
          <p:nvPr/>
        </p:nvPicPr>
        <p:blipFill>
          <a:blip r:embed="rId1"/>
          <a:stretch>
            <a:fillRect/>
          </a:stretch>
        </p:blipFill>
        <p:spPr>
          <a:xfrm>
            <a:off x="548640" y="1591746"/>
            <a:ext cx="7680960" cy="3217308"/>
          </a:xfrm>
          <a:prstGeom prst="rect">
            <a:avLst/>
          </a:prstGeom>
        </p:spPr>
      </p:pic>
      <p:sp>
        <p:nvSpPr>
          <p:cNvPr id="5" name="Text 2"/>
          <p:cNvSpPr txBox="1"/>
          <p:nvPr/>
        </p:nvSpPr>
        <p:spPr>
          <a:xfrm>
            <a:off x="8458200" y="1325880"/>
            <a:ext cx="3200400" cy="777240"/>
          </a:xfrm>
          <a:prstGeom prst="rect">
            <a:avLst/>
          </a:prstGeom>
          <a:noFill/>
          <a:ln/>
        </p:spPr>
        <p:txBody>
          <a:bodyPr wrap="square" lIns="0" tIns="0" rIns="0" bIns="0" rtlCol="0" anchor="b"/>
          <a:lstStyle/>
          <a:p>
            <a:pPr indent="0" marL="0">
              <a:buNone/>
            </a:pPr>
            <a:r>
              <a:rPr lang="en-US" sz="4000" b="1" dirty="0">
                <a:solidFill>
                  <a:srgbClr val="1F4E79"/>
                </a:solidFill>
                <a:latin typeface="Cambria" pitchFamily="34" charset="0"/>
                <a:ea typeface="Cambria" pitchFamily="34" charset="-122"/>
                <a:cs typeface="Cambria" pitchFamily="34" charset="-120"/>
              </a:rPr>
              <a:t>79%</a:t>
            </a:r>
            <a:endParaRPr lang="en-US" sz="4000" dirty="0"/>
          </a:p>
        </p:txBody>
      </p:sp>
      <p:sp>
        <p:nvSpPr>
          <p:cNvPr id="6" name="Text 3"/>
          <p:cNvSpPr txBox="1"/>
          <p:nvPr/>
        </p:nvSpPr>
        <p:spPr>
          <a:xfrm>
            <a:off x="8458200" y="2103120"/>
            <a:ext cx="32004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attack events carried data a content rule could see</a:t>
            </a:r>
            <a:endParaRPr lang="en-US" sz="1300" dirty="0"/>
          </a:p>
        </p:txBody>
      </p:sp>
      <p:sp>
        <p:nvSpPr>
          <p:cNvPr id="7" name="Text 4"/>
          <p:cNvSpPr txBox="1"/>
          <p:nvPr/>
        </p:nvSpPr>
        <p:spPr>
          <a:xfrm>
            <a:off x="8458200" y="2743200"/>
            <a:ext cx="3200400" cy="777240"/>
          </a:xfrm>
          <a:prstGeom prst="rect">
            <a:avLst/>
          </a:prstGeom>
          <a:noFill/>
          <a:ln/>
        </p:spPr>
        <p:txBody>
          <a:bodyPr wrap="square" lIns="0" tIns="0" rIns="0" bIns="0" rtlCol="0" anchor="b"/>
          <a:lstStyle/>
          <a:p>
            <a:pPr indent="0" marL="0">
              <a:buNone/>
            </a:pPr>
            <a:r>
              <a:rPr lang="en-US" sz="4000" b="1" dirty="0">
                <a:solidFill>
                  <a:srgbClr val="B03A2E"/>
                </a:solidFill>
                <a:latin typeface="Cambria" pitchFamily="34" charset="0"/>
                <a:ea typeface="Cambria" pitchFamily="34" charset="-122"/>
                <a:cs typeface="Cambria" pitchFamily="34" charset="-120"/>
              </a:rPr>
              <a:t>23.7%</a:t>
            </a:r>
            <a:endParaRPr lang="en-US" sz="4000" dirty="0"/>
          </a:p>
        </p:txBody>
      </p:sp>
      <p:sp>
        <p:nvSpPr>
          <p:cNvPr id="8" name="Text 5"/>
          <p:cNvSpPr txBox="1"/>
          <p:nvPr/>
        </p:nvSpPr>
        <p:spPr>
          <a:xfrm>
            <a:off x="8458200" y="3520440"/>
            <a:ext cx="32004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those the tuned baseline detects — the gap is unwritten signatures</a:t>
            </a:r>
            <a:endParaRPr lang="en-US" sz="1300" dirty="0"/>
          </a:p>
        </p:txBody>
      </p:sp>
      <p:sp>
        <p:nvSpPr>
          <p:cNvPr id="9" name="Text 6"/>
          <p:cNvSpPr txBox="1"/>
          <p:nvPr/>
        </p:nvSpPr>
        <p:spPr>
          <a:xfrm>
            <a:off x="8458200" y="4160520"/>
            <a:ext cx="3200400" cy="777240"/>
          </a:xfrm>
          <a:prstGeom prst="rect">
            <a:avLst/>
          </a:prstGeom>
          <a:noFill/>
          <a:ln/>
        </p:spPr>
        <p:txBody>
          <a:bodyPr wrap="square" lIns="0" tIns="0" rIns="0" bIns="0" rtlCol="0" anchor="b"/>
          <a:lstStyle/>
          <a:p>
            <a:pPr indent="0" marL="0">
              <a:buNone/>
            </a:pPr>
            <a:r>
              <a:rPr lang="en-US" sz="3400" b="1" dirty="0">
                <a:solidFill>
                  <a:srgbClr val="D9822B"/>
                </a:solidFill>
                <a:latin typeface="Cambria" pitchFamily="34" charset="0"/>
                <a:ea typeface="Cambria" pitchFamily="34" charset="-122"/>
                <a:cs typeface="Cambria" pitchFamily="34" charset="-120"/>
              </a:rPr>
              <a:t>+4.8 pts</a:t>
            </a:r>
            <a:endParaRPr lang="en-US" sz="3400" dirty="0"/>
          </a:p>
        </p:txBody>
      </p:sp>
      <p:sp>
        <p:nvSpPr>
          <p:cNvPr id="10" name="Text 7"/>
          <p:cNvSpPr txBox="1"/>
          <p:nvPr/>
        </p:nvSpPr>
        <p:spPr>
          <a:xfrm>
            <a:off x="8458200" y="4937760"/>
            <a:ext cx="32004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hunt gain measured against everything any configuration caught (hold-out)</a:t>
            </a:r>
            <a:endParaRPr lang="en-US" sz="1300" dirty="0"/>
          </a:p>
        </p:txBody>
      </p:sp>
      <p:sp>
        <p:nvSpPr>
          <p:cNvPr id="11" name="Text 8"/>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Content-detectable: attacker sent more bytes than headers account for (PSH flag unusable: the generator omits it). Ever-detected: caught by any configuration we ran — a circular ceiling.</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Why the agent did not write a rule</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Attack-like activity the hunt reports left without a rule, grouped by cause</a:t>
            </a:r>
            <a:endParaRPr lang="en-US" sz="1600" dirty="0"/>
          </a:p>
        </p:txBody>
      </p:sp>
      <p:pic>
        <p:nvPicPr>
          <p:cNvPr id="4" name="Image 0" descr="/home/bigyan/capstone-ids/docs/figures/fig5-15_agent_limits.png">    </p:cNvPr>
          <p:cNvPicPr>
            <a:picLocks noChangeAspect="1"/>
          </p:cNvPicPr>
          <p:nvPr/>
        </p:nvPicPr>
        <p:blipFill>
          <a:blip r:embed="rId1"/>
          <a:stretch>
            <a:fillRect/>
          </a:stretch>
        </p:blipFill>
        <p:spPr>
          <a:xfrm>
            <a:off x="1821028" y="1371600"/>
            <a:ext cx="8549640" cy="46634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Conclusions</a:t>
            </a:r>
            <a:endParaRPr lang="en-US" sz="3400" dirty="0"/>
          </a:p>
        </p:txBody>
      </p:sp>
      <p:sp>
        <p:nvSpPr>
          <p:cNvPr id="3" name="Shape 1"/>
          <p:cNvSpPr/>
          <p:nvPr/>
        </p:nvSpPr>
        <p:spPr>
          <a:xfrm>
            <a:off x="548640" y="1234440"/>
            <a:ext cx="11094415" cy="1371600"/>
          </a:xfrm>
          <a:prstGeom prst="roundRect">
            <a:avLst>
              <a:gd name="adj" fmla="val 5333"/>
            </a:avLst>
          </a:prstGeom>
          <a:solidFill>
            <a:srgbClr val="0F2533"/>
          </a:solidFill>
          <a:ln w="12700">
            <a:solidFill>
              <a:srgbClr val="0F2533"/>
            </a:solidFill>
            <a:prstDash val="solid"/>
          </a:ln>
        </p:spPr>
      </p:sp>
      <p:sp>
        <p:nvSpPr>
          <p:cNvPr id="4" name="Text 2"/>
          <p:cNvSpPr txBox="1"/>
          <p:nvPr/>
        </p:nvSpPr>
        <p:spPr>
          <a:xfrm>
            <a:off x="914400" y="1234440"/>
            <a:ext cx="10362895" cy="1371600"/>
          </a:xfrm>
          <a:prstGeom prst="rect">
            <a:avLst/>
          </a:prstGeom>
          <a:noFill/>
          <a:ln/>
        </p:spPr>
        <p:txBody>
          <a:bodyPr wrap="square" lIns="0" tIns="0" rIns="0" bIns="0" rtlCol="0" anchor="ctr"/>
          <a:lstStyle/>
          <a:p>
            <a:pPr indent="0" marL="0">
              <a:buNone/>
            </a:pPr>
            <a:r>
              <a:rPr lang="en-US" sz="1650" b="1" dirty="0">
                <a:solidFill>
                  <a:srgbClr val="D9822B"/>
                </a:solidFill>
                <a:latin typeface="Calibri" pitchFamily="34" charset="0"/>
                <a:ea typeface="Calibri" pitchFamily="34" charset="-122"/>
                <a:cs typeface="Calibri" pitchFamily="34" charset="-120"/>
              </a:rPr>
              <a:t>Answer — a split claim: </a:t>
            </a:r>
            <a:pPr indent="0" marL="0">
              <a:buNone/>
            </a:pPr>
            <a:r>
              <a:rPr lang="en-US" sz="1650" dirty="0">
                <a:solidFill>
                  <a:srgbClr val="FFFFFF"/>
                </a:solidFill>
                <a:latin typeface="Calibri" pitchFamily="34" charset="0"/>
                <a:ea typeface="Calibri" pitchFamily="34" charset="-122"/>
                <a:cs typeface="Calibri" pitchFamily="34" charset="-120"/>
              </a:rPr>
              <a:t>yes for triage: with sensor context the model investigates end to end (13/14 CIC, 8/9 UNSW categories) and establishes outcomes. Partly for detection: against a strong human-tuned baseline, triage-driven rules added a fraction of a point; the detection-engineering workflow, with the model's reasoning carried across turns, added +1.2–1.5 pts (hunt2: ~+1.0) that held on unseen traffic with no false alarms — real, but modest against the ~70% still missed.</a:t>
            </a:r>
            <a:endParaRPr lang="en-US" sz="1650" dirty="0"/>
          </a:p>
        </p:txBody>
      </p:sp>
      <p:sp>
        <p:nvSpPr>
          <p:cNvPr id="5" name="Shape 3"/>
          <p:cNvSpPr/>
          <p:nvPr/>
        </p:nvSpPr>
        <p:spPr>
          <a:xfrm>
            <a:off x="548640" y="2926080"/>
            <a:ext cx="5349240" cy="1371600"/>
          </a:xfrm>
          <a:prstGeom prst="roundRect">
            <a:avLst>
              <a:gd name="adj" fmla="val 5333"/>
            </a:avLst>
          </a:prstGeom>
          <a:solidFill>
            <a:srgbClr val="EEF3F8"/>
          </a:solidFill>
          <a:ln w="12700">
            <a:solidFill>
              <a:srgbClr val="EEF3F8"/>
            </a:solidFill>
            <a:prstDash val="solid"/>
          </a:ln>
        </p:spPr>
      </p:sp>
      <p:sp>
        <p:nvSpPr>
          <p:cNvPr id="6" name="Shape 4"/>
          <p:cNvSpPr/>
          <p:nvPr/>
        </p:nvSpPr>
        <p:spPr>
          <a:xfrm>
            <a:off x="822960" y="3310128"/>
            <a:ext cx="603504" cy="603504"/>
          </a:xfrm>
          <a:prstGeom prst="ellipse">
            <a:avLst/>
          </a:prstGeom>
          <a:solidFill>
            <a:srgbClr val="1F4E79"/>
          </a:solidFill>
          <a:ln w="12700">
            <a:solidFill>
              <a:srgbClr val="1F4E79"/>
            </a:solidFill>
            <a:prstDash val="solid"/>
          </a:ln>
        </p:spPr>
      </p:sp>
      <p:pic>
        <p:nvPicPr>
          <p:cNvPr id="7" name="Image 0" descr="preencoded.png">    </p:cNvPr>
          <p:cNvPicPr>
            <a:picLocks noChangeAspect="1"/>
          </p:cNvPicPr>
          <p:nvPr/>
        </p:nvPicPr>
        <p:blipFill>
          <a:blip r:embed="rId1"/>
          <a:stretch>
            <a:fillRect/>
          </a:stretch>
        </p:blipFill>
        <p:spPr>
          <a:xfrm>
            <a:off x="967801" y="3454969"/>
            <a:ext cx="313822" cy="313822"/>
          </a:xfrm>
          <a:prstGeom prst="rect">
            <a:avLst/>
          </a:prstGeom>
        </p:spPr>
      </p:pic>
      <p:sp>
        <p:nvSpPr>
          <p:cNvPr id="8" name="Text 5"/>
          <p:cNvSpPr txBox="1"/>
          <p:nvPr/>
        </p:nvSpPr>
        <p:spPr>
          <a:xfrm>
            <a:off x="1645920" y="3108960"/>
            <a:ext cx="4069080" cy="457200"/>
          </a:xfrm>
          <a:prstGeom prst="rect">
            <a:avLst/>
          </a:prstGeom>
          <a:noFill/>
          <a:ln/>
        </p:spPr>
        <p:txBody>
          <a:bodyPr wrap="square" lIns="0" tIns="0" rIns="0" bIns="0" rtlCol="0" anchor="ctr"/>
          <a:lstStyle/>
          <a:p>
            <a:pPr indent="0" marL="0">
              <a:buNone/>
            </a:pPr>
            <a:r>
              <a:rPr lang="en-US" sz="1600" b="1" dirty="0">
                <a:solidFill>
                  <a:srgbClr val="0F2533"/>
                </a:solidFill>
                <a:latin typeface="Cambria" pitchFamily="34" charset="0"/>
                <a:ea typeface="Cambria" pitchFamily="34" charset="-122"/>
                <a:cs typeface="Cambria" pitchFamily="34" charset="-120"/>
              </a:rPr>
              <a:t>Tools and procedure shape the agent</a:t>
            </a:r>
            <a:endParaRPr lang="en-US" sz="1600" dirty="0"/>
          </a:p>
        </p:txBody>
      </p:sp>
      <p:sp>
        <p:nvSpPr>
          <p:cNvPr id="9" name="Text 6"/>
          <p:cNvSpPr txBox="1"/>
          <p:nvPr/>
        </p:nvSpPr>
        <p:spPr>
          <a:xfrm>
            <a:off x="1645920" y="3611880"/>
            <a:ext cx="406908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count_by fixed a failing model; the hunt procedure removed topology rules</a:t>
            </a:r>
            <a:endParaRPr lang="en-US" sz="1400" dirty="0"/>
          </a:p>
        </p:txBody>
      </p:sp>
      <p:sp>
        <p:nvSpPr>
          <p:cNvPr id="10" name="Shape 7"/>
          <p:cNvSpPr/>
          <p:nvPr/>
        </p:nvSpPr>
        <p:spPr>
          <a:xfrm>
            <a:off x="6217920" y="2926080"/>
            <a:ext cx="5349240" cy="1371600"/>
          </a:xfrm>
          <a:prstGeom prst="roundRect">
            <a:avLst>
              <a:gd name="adj" fmla="val 5333"/>
            </a:avLst>
          </a:prstGeom>
          <a:solidFill>
            <a:srgbClr val="EEF3F8"/>
          </a:solidFill>
          <a:ln w="12700">
            <a:solidFill>
              <a:srgbClr val="EEF3F8"/>
            </a:solidFill>
            <a:prstDash val="solid"/>
          </a:ln>
        </p:spPr>
      </p:sp>
      <p:sp>
        <p:nvSpPr>
          <p:cNvPr id="11" name="Shape 8"/>
          <p:cNvSpPr/>
          <p:nvPr/>
        </p:nvSpPr>
        <p:spPr>
          <a:xfrm>
            <a:off x="6492240" y="3310128"/>
            <a:ext cx="603504" cy="603504"/>
          </a:xfrm>
          <a:prstGeom prst="ellipse">
            <a:avLst/>
          </a:prstGeom>
          <a:solidFill>
            <a:srgbClr val="D9822B"/>
          </a:solidFill>
          <a:ln w="12700">
            <a:solidFill>
              <a:srgbClr val="D9822B"/>
            </a:solidFill>
            <a:prstDash val="solid"/>
          </a:ln>
        </p:spPr>
      </p:sp>
      <p:pic>
        <p:nvPicPr>
          <p:cNvPr id="12" name="Image 1" descr="preencoded.png">    </p:cNvPr>
          <p:cNvPicPr>
            <a:picLocks noChangeAspect="1"/>
          </p:cNvPicPr>
          <p:nvPr/>
        </p:nvPicPr>
        <p:blipFill>
          <a:blip r:embed="rId2"/>
          <a:stretch>
            <a:fillRect/>
          </a:stretch>
        </p:blipFill>
        <p:spPr>
          <a:xfrm>
            <a:off x="6637081" y="3454969"/>
            <a:ext cx="313822" cy="313822"/>
          </a:xfrm>
          <a:prstGeom prst="rect">
            <a:avLst/>
          </a:prstGeom>
        </p:spPr>
      </p:pic>
      <p:sp>
        <p:nvSpPr>
          <p:cNvPr id="13" name="Text 9"/>
          <p:cNvSpPr txBox="1"/>
          <p:nvPr/>
        </p:nvSpPr>
        <p:spPr>
          <a:xfrm>
            <a:off x="7315200" y="3108960"/>
            <a:ext cx="4069080" cy="457200"/>
          </a:xfrm>
          <a:prstGeom prst="rect">
            <a:avLst/>
          </a:prstGeom>
          <a:noFill/>
          <a:ln/>
        </p:spPr>
        <p:txBody>
          <a:bodyPr wrap="square" lIns="0" tIns="0" rIns="0" bIns="0" rtlCol="0" anchor="ctr"/>
          <a:lstStyle/>
          <a:p>
            <a:pPr indent="0" marL="0">
              <a:buNone/>
            </a:pPr>
            <a:r>
              <a:rPr lang="en-US" sz="1600" b="1" dirty="0">
                <a:solidFill>
                  <a:srgbClr val="0F2533"/>
                </a:solidFill>
                <a:latin typeface="Cambria" pitchFamily="34" charset="0"/>
                <a:ea typeface="Cambria" pitchFamily="34" charset="-122"/>
                <a:cs typeface="Cambria" pitchFamily="34" charset="-120"/>
              </a:rPr>
              <a:t>Carry the model's reasoning</a:t>
            </a:r>
            <a:endParaRPr lang="en-US" sz="1600" dirty="0"/>
          </a:p>
        </p:txBody>
      </p:sp>
      <p:sp>
        <p:nvSpPr>
          <p:cNvPr id="14" name="Text 10"/>
          <p:cNvSpPr txBox="1"/>
          <p:nvPr/>
        </p:nvSpPr>
        <p:spPr>
          <a:xfrm>
            <a:off x="7315200" y="3611880"/>
            <a:ext cx="406908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Dropping it made the agent loop; returning it fixed the hunt</a:t>
            </a:r>
            <a:endParaRPr lang="en-US" sz="1400" dirty="0"/>
          </a:p>
        </p:txBody>
      </p:sp>
      <p:sp>
        <p:nvSpPr>
          <p:cNvPr id="15" name="Shape 11"/>
          <p:cNvSpPr/>
          <p:nvPr/>
        </p:nvSpPr>
        <p:spPr>
          <a:xfrm>
            <a:off x="548640" y="4526280"/>
            <a:ext cx="5349240" cy="1371600"/>
          </a:xfrm>
          <a:prstGeom prst="roundRect">
            <a:avLst>
              <a:gd name="adj" fmla="val 5333"/>
            </a:avLst>
          </a:prstGeom>
          <a:solidFill>
            <a:srgbClr val="EEF3F8"/>
          </a:solidFill>
          <a:ln w="12700">
            <a:solidFill>
              <a:srgbClr val="EEF3F8"/>
            </a:solidFill>
            <a:prstDash val="solid"/>
          </a:ln>
        </p:spPr>
      </p:sp>
      <p:sp>
        <p:nvSpPr>
          <p:cNvPr id="16" name="Shape 12"/>
          <p:cNvSpPr/>
          <p:nvPr/>
        </p:nvSpPr>
        <p:spPr>
          <a:xfrm>
            <a:off x="822960" y="4910328"/>
            <a:ext cx="603504" cy="603504"/>
          </a:xfrm>
          <a:prstGeom prst="ellipse">
            <a:avLst/>
          </a:prstGeom>
          <a:solidFill>
            <a:srgbClr val="1F4E79"/>
          </a:solidFill>
          <a:ln w="12700">
            <a:solidFill>
              <a:srgbClr val="1F4E79"/>
            </a:solidFill>
            <a:prstDash val="solid"/>
          </a:ln>
        </p:spPr>
      </p:sp>
      <p:pic>
        <p:nvPicPr>
          <p:cNvPr id="17" name="Image 2" descr="preencoded.png">    </p:cNvPr>
          <p:cNvPicPr>
            <a:picLocks noChangeAspect="1"/>
          </p:cNvPicPr>
          <p:nvPr/>
        </p:nvPicPr>
        <p:blipFill>
          <a:blip r:embed="rId3"/>
          <a:stretch>
            <a:fillRect/>
          </a:stretch>
        </p:blipFill>
        <p:spPr>
          <a:xfrm>
            <a:off x="967801" y="5055169"/>
            <a:ext cx="313822" cy="313822"/>
          </a:xfrm>
          <a:prstGeom prst="rect">
            <a:avLst/>
          </a:prstGeom>
        </p:spPr>
      </p:pic>
      <p:sp>
        <p:nvSpPr>
          <p:cNvPr id="18" name="Text 13"/>
          <p:cNvSpPr txBox="1"/>
          <p:nvPr/>
        </p:nvSpPr>
        <p:spPr>
          <a:xfrm>
            <a:off x="1645920" y="4709160"/>
            <a:ext cx="4069080" cy="457200"/>
          </a:xfrm>
          <a:prstGeom prst="rect">
            <a:avLst/>
          </a:prstGeom>
          <a:noFill/>
          <a:ln/>
        </p:spPr>
        <p:txBody>
          <a:bodyPr wrap="square" lIns="0" tIns="0" rIns="0" bIns="0" rtlCol="0" anchor="ctr"/>
          <a:lstStyle/>
          <a:p>
            <a:pPr indent="0" marL="0">
              <a:buNone/>
            </a:pPr>
            <a:r>
              <a:rPr lang="en-US" sz="1600" b="1" dirty="0">
                <a:solidFill>
                  <a:srgbClr val="0F2533"/>
                </a:solidFill>
                <a:latin typeface="Cambria" pitchFamily="34" charset="0"/>
                <a:ea typeface="Cambria" pitchFamily="34" charset="-122"/>
                <a:cs typeface="Cambria" pitchFamily="34" charset="-120"/>
              </a:rPr>
              <a:t>Measure what the AI alone caught</a:t>
            </a:r>
            <a:endParaRPr lang="en-US" sz="1600" dirty="0"/>
          </a:p>
        </p:txBody>
      </p:sp>
      <p:sp>
        <p:nvSpPr>
          <p:cNvPr id="19" name="Text 14"/>
          <p:cNvSpPr txBox="1"/>
          <p:nvPr/>
        </p:nvSpPr>
        <p:spPr>
          <a:xfrm>
            <a:off x="1645920" y="5212080"/>
            <a:ext cx="406908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Replay variance and topology rules both inflated our early numbers</a:t>
            </a:r>
            <a:endParaRPr lang="en-US" sz="1400" dirty="0"/>
          </a:p>
        </p:txBody>
      </p:sp>
      <p:sp>
        <p:nvSpPr>
          <p:cNvPr id="20" name="Shape 15"/>
          <p:cNvSpPr/>
          <p:nvPr/>
        </p:nvSpPr>
        <p:spPr>
          <a:xfrm>
            <a:off x="6217920" y="4526280"/>
            <a:ext cx="5349240" cy="1371600"/>
          </a:xfrm>
          <a:prstGeom prst="roundRect">
            <a:avLst>
              <a:gd name="adj" fmla="val 5333"/>
            </a:avLst>
          </a:prstGeom>
          <a:solidFill>
            <a:srgbClr val="EEF3F8"/>
          </a:solidFill>
          <a:ln w="12700">
            <a:solidFill>
              <a:srgbClr val="EEF3F8"/>
            </a:solidFill>
            <a:prstDash val="solid"/>
          </a:ln>
        </p:spPr>
      </p:sp>
      <p:sp>
        <p:nvSpPr>
          <p:cNvPr id="21" name="Shape 16"/>
          <p:cNvSpPr/>
          <p:nvPr/>
        </p:nvSpPr>
        <p:spPr>
          <a:xfrm>
            <a:off x="6492240" y="4910328"/>
            <a:ext cx="603504" cy="603504"/>
          </a:xfrm>
          <a:prstGeom prst="ellipse">
            <a:avLst/>
          </a:prstGeom>
          <a:solidFill>
            <a:srgbClr val="1F4E79"/>
          </a:solidFill>
          <a:ln w="12700">
            <a:solidFill>
              <a:srgbClr val="1F4E79"/>
            </a:solidFill>
            <a:prstDash val="solid"/>
          </a:ln>
        </p:spPr>
      </p:sp>
      <p:pic>
        <p:nvPicPr>
          <p:cNvPr id="22" name="Image 3" descr="preencoded.png">    </p:cNvPr>
          <p:cNvPicPr>
            <a:picLocks noChangeAspect="1"/>
          </p:cNvPicPr>
          <p:nvPr/>
        </p:nvPicPr>
        <p:blipFill>
          <a:blip r:embed="rId4"/>
          <a:stretch>
            <a:fillRect/>
          </a:stretch>
        </p:blipFill>
        <p:spPr>
          <a:xfrm>
            <a:off x="6637081" y="5055169"/>
            <a:ext cx="313822" cy="313822"/>
          </a:xfrm>
          <a:prstGeom prst="rect">
            <a:avLst/>
          </a:prstGeom>
        </p:spPr>
      </p:pic>
      <p:sp>
        <p:nvSpPr>
          <p:cNvPr id="23" name="Text 17"/>
          <p:cNvSpPr txBox="1"/>
          <p:nvPr/>
        </p:nvSpPr>
        <p:spPr>
          <a:xfrm>
            <a:off x="7315200" y="4709160"/>
            <a:ext cx="4069080" cy="457200"/>
          </a:xfrm>
          <a:prstGeom prst="rect">
            <a:avLst/>
          </a:prstGeom>
          <a:noFill/>
          <a:ln/>
        </p:spPr>
        <p:txBody>
          <a:bodyPr wrap="square" lIns="0" tIns="0" rIns="0" bIns="0" rtlCol="0" anchor="ctr"/>
          <a:lstStyle/>
          <a:p>
            <a:pPr indent="0" marL="0">
              <a:buNone/>
            </a:pPr>
            <a:r>
              <a:rPr lang="en-US" sz="1600" b="1" dirty="0">
                <a:solidFill>
                  <a:srgbClr val="0F2533"/>
                </a:solidFill>
                <a:latin typeface="Cambria" pitchFamily="34" charset="0"/>
                <a:ea typeface="Cambria" pitchFamily="34" charset="-122"/>
                <a:cs typeface="Cambria" pitchFamily="34" charset="-120"/>
              </a:rPr>
              <a:t>Techniques transfer, instances don't</a:t>
            </a:r>
            <a:endParaRPr lang="en-US" sz="1600" dirty="0"/>
          </a:p>
        </p:txBody>
      </p:sp>
      <p:sp>
        <p:nvSpPr>
          <p:cNvPr id="24" name="Text 18"/>
          <p:cNvSpPr txBox="1"/>
          <p:nvPr/>
        </p:nvSpPr>
        <p:spPr>
          <a:xfrm>
            <a:off x="7315200" y="5212080"/>
            <a:ext cx="406908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Per-exploit rules fired once; traversal, XSS and fuzzing rules held on the hold-out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2533"/>
        </a:solidFill>
      </p:bgPr>
    </p:bg>
    <p:spTree>
      <p:nvGrpSpPr>
        <p:cNvPr id="1" name=""/>
        <p:cNvGrpSpPr/>
        <p:nvPr/>
      </p:nvGrpSpPr>
      <p:grpSpPr>
        <a:xfrm>
          <a:off x="0" y="0"/>
          <a:ext cx="0" cy="0"/>
          <a:chOff x="0" y="0"/>
          <a:chExt cx="0" cy="0"/>
        </a:xfrm>
      </p:grpSpPr>
      <p:sp>
        <p:nvSpPr>
          <p:cNvPr id="2" name="Text 0"/>
          <p:cNvSpPr txBox="1"/>
          <p:nvPr/>
        </p:nvSpPr>
        <p:spPr>
          <a:xfrm>
            <a:off x="548640" y="548640"/>
            <a:ext cx="64008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Next steps</a:t>
            </a:r>
            <a:endParaRPr lang="en-US" sz="3600" dirty="0"/>
          </a:p>
        </p:txBody>
      </p:sp>
      <p:sp>
        <p:nvSpPr>
          <p:cNvPr id="3" name="Shape 1"/>
          <p:cNvSpPr/>
          <p:nvPr/>
        </p:nvSpPr>
        <p:spPr>
          <a:xfrm>
            <a:off x="548640" y="1554480"/>
            <a:ext cx="603504" cy="603504"/>
          </a:xfrm>
          <a:prstGeom prst="ellipse">
            <a:avLst/>
          </a:prstGeom>
          <a:solidFill>
            <a:srgbClr val="D9822B"/>
          </a:solidFill>
          <a:ln w="12700">
            <a:solidFill>
              <a:srgbClr val="D9822B"/>
            </a:solidFill>
            <a:prstDash val="solid"/>
          </a:ln>
        </p:spPr>
      </p:sp>
      <p:pic>
        <p:nvPicPr>
          <p:cNvPr id="4" name="Image 0" descr="preencoded.png">    </p:cNvPr>
          <p:cNvPicPr>
            <a:picLocks noChangeAspect="1"/>
          </p:cNvPicPr>
          <p:nvPr/>
        </p:nvPicPr>
        <p:blipFill>
          <a:blip r:embed="rId1"/>
          <a:stretch>
            <a:fillRect/>
          </a:stretch>
        </p:blipFill>
        <p:spPr>
          <a:xfrm>
            <a:off x="693481" y="1699321"/>
            <a:ext cx="313822" cy="313822"/>
          </a:xfrm>
          <a:prstGeom prst="rect">
            <a:avLst/>
          </a:prstGeom>
        </p:spPr>
      </p:pic>
      <p:sp>
        <p:nvSpPr>
          <p:cNvPr id="5" name="Text 2"/>
          <p:cNvSpPr txBox="1"/>
          <p:nvPr/>
        </p:nvSpPr>
        <p:spPr>
          <a:xfrm>
            <a:off x="1417320" y="1536192"/>
            <a:ext cx="5852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Separate workflow from fix</a:t>
            </a:r>
            <a:endParaRPr lang="en-US" sz="1800" dirty="0"/>
          </a:p>
        </p:txBody>
      </p:sp>
      <p:sp>
        <p:nvSpPr>
          <p:cNvPr id="6" name="Text 3"/>
          <p:cNvSpPr txBox="1"/>
          <p:nvPr/>
        </p:nvSpPr>
        <p:spPr>
          <a:xfrm>
            <a:off x="1417320" y="1901952"/>
            <a:ext cx="58521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Re-run plain and research with reasoning carried, to isolate what the hunt workflow adds</a:t>
            </a:r>
            <a:endParaRPr lang="en-US" sz="1400" dirty="0"/>
          </a:p>
        </p:txBody>
      </p:sp>
      <p:sp>
        <p:nvSpPr>
          <p:cNvPr id="7" name="Shape 4"/>
          <p:cNvSpPr/>
          <p:nvPr/>
        </p:nvSpPr>
        <p:spPr>
          <a:xfrm>
            <a:off x="548640" y="2651760"/>
            <a:ext cx="603504" cy="603504"/>
          </a:xfrm>
          <a:prstGeom prst="ellipse">
            <a:avLst/>
          </a:prstGeom>
          <a:solidFill>
            <a:srgbClr val="D9822B"/>
          </a:solidFill>
          <a:ln w="12700">
            <a:solidFill>
              <a:srgbClr val="D9822B"/>
            </a:solidFill>
            <a:prstDash val="solid"/>
          </a:ln>
        </p:spPr>
      </p:sp>
      <p:pic>
        <p:nvPicPr>
          <p:cNvPr id="8" name="Image 1" descr="preencoded.png">    </p:cNvPr>
          <p:cNvPicPr>
            <a:picLocks noChangeAspect="1"/>
          </p:cNvPicPr>
          <p:nvPr/>
        </p:nvPicPr>
        <p:blipFill>
          <a:blip r:embed="rId2"/>
          <a:stretch>
            <a:fillRect/>
          </a:stretch>
        </p:blipFill>
        <p:spPr>
          <a:xfrm>
            <a:off x="693481" y="2796601"/>
            <a:ext cx="313822" cy="313822"/>
          </a:xfrm>
          <a:prstGeom prst="rect">
            <a:avLst/>
          </a:prstGeom>
        </p:spPr>
      </p:pic>
      <p:sp>
        <p:nvSpPr>
          <p:cNvPr id="9" name="Text 5"/>
          <p:cNvSpPr txBox="1"/>
          <p:nvPr/>
        </p:nvSpPr>
        <p:spPr>
          <a:xfrm>
            <a:off x="1417320" y="2633472"/>
            <a:ext cx="5852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Technique-level hunting</a:t>
            </a:r>
            <a:endParaRPr lang="en-US" sz="1800" dirty="0"/>
          </a:p>
        </p:txBody>
      </p:sp>
      <p:sp>
        <p:nvSpPr>
          <p:cNvPr id="10" name="Text 6"/>
          <p:cNvSpPr txBox="1"/>
          <p:nvPr/>
        </p:nvSpPr>
        <p:spPr>
          <a:xfrm>
            <a:off x="1417320" y="2999232"/>
            <a:ext cx="58521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Require technique rules and test each on a second capture before saving</a:t>
            </a:r>
            <a:endParaRPr lang="en-US" sz="1400" dirty="0"/>
          </a:p>
        </p:txBody>
      </p:sp>
      <p:sp>
        <p:nvSpPr>
          <p:cNvPr id="11" name="Shape 7"/>
          <p:cNvSpPr/>
          <p:nvPr/>
        </p:nvSpPr>
        <p:spPr>
          <a:xfrm>
            <a:off x="548640" y="3749040"/>
            <a:ext cx="603504" cy="603504"/>
          </a:xfrm>
          <a:prstGeom prst="ellipse">
            <a:avLst/>
          </a:prstGeom>
          <a:solidFill>
            <a:srgbClr val="D9822B"/>
          </a:solidFill>
          <a:ln w="12700">
            <a:solidFill>
              <a:srgbClr val="D9822B"/>
            </a:solidFill>
            <a:prstDash val="solid"/>
          </a:ln>
        </p:spPr>
      </p:sp>
      <p:pic>
        <p:nvPicPr>
          <p:cNvPr id="12" name="Image 2" descr="preencoded.png">    </p:cNvPr>
          <p:cNvPicPr>
            <a:picLocks noChangeAspect="1"/>
          </p:cNvPicPr>
          <p:nvPr/>
        </p:nvPicPr>
        <p:blipFill>
          <a:blip r:embed="rId3"/>
          <a:stretch>
            <a:fillRect/>
          </a:stretch>
        </p:blipFill>
        <p:spPr>
          <a:xfrm>
            <a:off x="693481" y="3893881"/>
            <a:ext cx="313822" cy="313822"/>
          </a:xfrm>
          <a:prstGeom prst="rect">
            <a:avLst/>
          </a:prstGeom>
        </p:spPr>
      </p:pic>
      <p:sp>
        <p:nvSpPr>
          <p:cNvPr id="13" name="Text 8"/>
          <p:cNvSpPr txBox="1"/>
          <p:nvPr/>
        </p:nvSpPr>
        <p:spPr>
          <a:xfrm>
            <a:off x="1417320" y="3730752"/>
            <a:ext cx="5852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Several runs per capture</a:t>
            </a:r>
            <a:endParaRPr lang="en-US" sz="1800" dirty="0"/>
          </a:p>
        </p:txBody>
      </p:sp>
      <p:sp>
        <p:nvSpPr>
          <p:cNvPr id="14" name="Text 9"/>
          <p:cNvSpPr txBox="1"/>
          <p:nvPr/>
        </p:nvSpPr>
        <p:spPr>
          <a:xfrm>
            <a:off x="1417320" y="4096512"/>
            <a:ext cx="58521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Runs find different attacks: keep the union, measure the spread</a:t>
            </a:r>
            <a:endParaRPr lang="en-US" sz="1400" dirty="0"/>
          </a:p>
        </p:txBody>
      </p:sp>
      <p:sp>
        <p:nvSpPr>
          <p:cNvPr id="15" name="Shape 10"/>
          <p:cNvSpPr/>
          <p:nvPr/>
        </p:nvSpPr>
        <p:spPr>
          <a:xfrm>
            <a:off x="548640" y="4846320"/>
            <a:ext cx="603504" cy="603504"/>
          </a:xfrm>
          <a:prstGeom prst="ellipse">
            <a:avLst/>
          </a:prstGeom>
          <a:solidFill>
            <a:srgbClr val="D9822B"/>
          </a:solidFill>
          <a:ln w="12700">
            <a:solidFill>
              <a:srgbClr val="D9822B"/>
            </a:solidFill>
            <a:prstDash val="solid"/>
          </a:ln>
        </p:spPr>
      </p:sp>
      <p:pic>
        <p:nvPicPr>
          <p:cNvPr id="16" name="Image 3" descr="preencoded.png">    </p:cNvPr>
          <p:cNvPicPr>
            <a:picLocks noChangeAspect="1"/>
          </p:cNvPicPr>
          <p:nvPr/>
        </p:nvPicPr>
        <p:blipFill>
          <a:blip r:embed="rId4"/>
          <a:stretch>
            <a:fillRect/>
          </a:stretch>
        </p:blipFill>
        <p:spPr>
          <a:xfrm>
            <a:off x="693481" y="4991161"/>
            <a:ext cx="313822" cy="313822"/>
          </a:xfrm>
          <a:prstGeom prst="rect">
            <a:avLst/>
          </a:prstGeom>
        </p:spPr>
      </p:pic>
      <p:sp>
        <p:nvSpPr>
          <p:cNvPr id="17" name="Text 11"/>
          <p:cNvSpPr txBox="1"/>
          <p:nvPr/>
        </p:nvSpPr>
        <p:spPr>
          <a:xfrm>
            <a:off x="1417320" y="4828032"/>
            <a:ext cx="5852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Live deployment</a:t>
            </a:r>
            <a:endParaRPr lang="en-US" sz="1800" dirty="0"/>
          </a:p>
        </p:txBody>
      </p:sp>
      <p:sp>
        <p:nvSpPr>
          <p:cNvPr id="18" name="Text 12"/>
          <p:cNvSpPr txBox="1"/>
          <p:nvPr/>
        </p:nvSpPr>
        <p:spPr>
          <a:xfrm>
            <a:off x="1417320" y="5193792"/>
            <a:ext cx="58521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Time-windowed alert batches and live rule reload via the Suricata socket</a:t>
            </a:r>
            <a:endParaRPr lang="en-US" sz="1400" dirty="0"/>
          </a:p>
        </p:txBody>
      </p:sp>
      <p:pic>
        <p:nvPicPr>
          <p:cNvPr id="19" name="Image 4" descr="preencoded.png">    </p:cNvPr>
          <p:cNvPicPr>
            <a:picLocks noChangeAspect="1"/>
          </p:cNvPicPr>
          <p:nvPr/>
        </p:nvPicPr>
        <p:blipFill>
          <a:blip r:embed="rId5"/>
          <a:stretch>
            <a:fillRect/>
          </a:stretch>
        </p:blipFill>
        <p:spPr>
          <a:xfrm>
            <a:off x="8778240" y="1463040"/>
            <a:ext cx="2194560" cy="2194560"/>
          </a:xfrm>
          <a:prstGeom prst="rect">
            <a:avLst/>
          </a:prstGeom>
        </p:spPr>
      </p:pic>
      <p:sp>
        <p:nvSpPr>
          <p:cNvPr id="20" name="Text 13"/>
          <p:cNvSpPr txBox="1"/>
          <p:nvPr/>
        </p:nvSpPr>
        <p:spPr>
          <a:xfrm>
            <a:off x="7589520" y="4023360"/>
            <a:ext cx="4206240" cy="822960"/>
          </a:xfrm>
          <a:prstGeom prst="rect">
            <a:avLst/>
          </a:prstGeom>
          <a:noFill/>
          <a:ln/>
        </p:spPr>
        <p:txBody>
          <a:bodyPr wrap="square" lIns="0" tIns="0" rIns="0" bIns="0" rtlCol="0" anchor="ctr"/>
          <a:lstStyle/>
          <a:p>
            <a:pPr algn="ctr" indent="0" marL="0">
              <a:buNone/>
            </a:pPr>
            <a:r>
              <a:rPr lang="en-US" sz="4000" b="1" dirty="0">
                <a:solidFill>
                  <a:srgbClr val="D9822B"/>
                </a:solidFill>
                <a:latin typeface="Cambria" pitchFamily="34" charset="0"/>
                <a:ea typeface="Cambria" pitchFamily="34" charset="-122"/>
                <a:cs typeface="Cambria" pitchFamily="34" charset="-120"/>
              </a:rPr>
              <a:t>Questions?</a:t>
            </a:r>
            <a:endParaRPr lang="en-US" sz="4000" dirty="0"/>
          </a:p>
        </p:txBody>
      </p:sp>
      <p:sp>
        <p:nvSpPr>
          <p:cNvPr id="21" name="Text 14"/>
          <p:cNvSpPr txBox="1"/>
          <p:nvPr/>
        </p:nvSpPr>
        <p:spPr>
          <a:xfrm>
            <a:off x="7315200" y="4937760"/>
            <a:ext cx="4572000" cy="73152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Code, rules, transcripts and evaluation scripts:</a:t>
            </a:r>
            <a:endParaRPr lang="en-US" sz="1300" dirty="0"/>
          </a:p>
          <a:p>
            <a:pPr algn="ctr" indent="0" marL="0">
              <a:buNone/>
            </a:pPr>
            <a:r>
              <a:rPr lang="en-US" sz="1300" dirty="0">
                <a:solidFill>
                  <a:srgbClr val="CADCFC"/>
                </a:solidFill>
                <a:latin typeface="Calibri" pitchFamily="34" charset="0"/>
                <a:ea typeface="Calibri" pitchFamily="34" charset="-122"/>
                <a:cs typeface="Calibri" pitchFamily="34" charset="-120"/>
              </a:rPr>
              <a:t>github.com/bigyan-siwakoti/Intrusion_Detection_System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an LLM Replace the IDS Analyst? — Group 13</dc:title>
  <dc:subject>PptxGenJS Presentation</dc:subject>
  <dc:creator>PptxGenJS</dc:creator>
  <cp:lastModifiedBy>PptxGenJS</cp:lastModifiedBy>
  <cp:revision>1</cp:revision>
  <dcterms:created xsi:type="dcterms:W3CDTF">2026-10-04T12:19:36Z</dcterms:created>
  <dcterms:modified xsi:type="dcterms:W3CDTF">2026-10-04T12:19:36Z</dcterms:modified>
</cp:coreProperties>
</file>