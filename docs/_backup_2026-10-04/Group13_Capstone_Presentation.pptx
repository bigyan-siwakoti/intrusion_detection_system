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533"/>
                </a:solidFill>
                <a:latin typeface="Calibri"/>
              </a:defRPr>
            </a:pPr>
            <a:r>
              <a:rPr sz="1400" b="0" i="0" u="none" strike="noStrike">
                <a:solidFill>
                  <a:srgbClr val="0F2533"/>
                </a:solidFill>
                <a:latin typeface="Calibri"/>
              </a:rPr>
              <a:t>Precision: share of label-matched alerts on attack flows</a:t>
            </a:r>
          </a:p>
        </c:rich>
      </c:tx>
      <c:layout/>
      <c:overlay val="0"/>
    </c:title>
    <c:autoTitleDeleted val="0"/>
    <c:plotArea>
      <c:layout/>
      <c:barChart>
        <c:barDir val="col"/>
        <c:grouping val="clustered"/>
        <c:varyColors val="0"/>
        <c:ser>
          <c:idx val="0"/>
          <c:order val="0"/>
          <c:tx>
            <c:strRef>
              <c:f>Sheet1!$B$1</c:f>
              <c:strCache>
                <c:ptCount val="1"/>
                <c:pt idx="0">
                  <c:v>Stock ET Open</c:v>
                </c:pt>
              </c:strCache>
            </c:strRef>
          </c:tx>
          <c:spPr>
            <a:solidFill>
              <a:srgbClr val="9AA3AD"/>
            </a:solidFill>
            <a:effectLst/>
          </c:spPr>
          <c:invertIfNegative val="0"/>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Wed + Fri (noisy raw)</c:v>
                  </c:pt>
                  <c:pt idx="1">
                    <c:v>All four days</c:v>
                  </c:pt>
                  <c:pt idx="2">
                    <c:v>All days, excl. one bad rule</c:v>
                  </c:pt>
                </c:lvl>
              </c:multiLvlStrCache>
            </c:multiLvlStrRef>
          </c:cat>
          <c:val>
            <c:numRef>
              <c:f>Sheet1!$B$2:$B$4</c:f>
              <c:numCache>
                <c:formatCode>General</c:formatCode>
                <c:ptCount val="3"/>
                <c:pt idx="0">
                  <c:v>6.1</c:v>
                </c:pt>
                <c:pt idx="1">
                  <c:v>81.2</c:v>
                </c:pt>
                <c:pt idx="2">
                  <c:v>81.2</c:v>
                </c:pt>
              </c:numCache>
            </c:numRef>
          </c:val>
        </c:ser>
        <c:ser>
          <c:idx val="1"/>
          <c:order val="1"/>
          <c:tx>
            <c:strRef>
              <c:f>Sheet1!$C$1</c:f>
              <c:strCache>
                <c:ptCount val="1"/>
                <c:pt idx="0">
                  <c:v>AI-authored rules</c:v>
                </c:pt>
              </c:strCache>
            </c:strRef>
          </c:tx>
          <c:spPr>
            <a:solidFill>
              <a:srgbClr val="1F4E79"/>
            </a:solidFill>
            <a:effectLst/>
          </c:spPr>
          <c:invertIfNegative val="0"/>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Sheet1!$A$2:$A$4</c:f>
              <c:multiLvlStrCache>
                <c:ptCount val="3"/>
                <c:lvl>
                  <c:pt idx="0">
                    <c:v>Wed + Fri (noisy raw)</c:v>
                  </c:pt>
                  <c:pt idx="1">
                    <c:v>All four days</c:v>
                  </c:pt>
                  <c:pt idx="2">
                    <c:v>All days, excl. one bad rule</c:v>
                  </c:pt>
                </c:lvl>
              </c:multiLvlStrCache>
            </c:multiLvlStrRef>
          </c:cat>
          <c:val>
            <c:numRef>
              <c:f>Sheet1!$C$2:$C$4</c:f>
              <c:numCache>
                <c:formatCode>General</c:formatCode>
                <c:ptCount val="3"/>
                <c:pt idx="0">
                  <c:v>99.4</c:v>
                </c:pt>
                <c:pt idx="1">
                  <c:v>78</c:v>
                </c:pt>
                <c:pt idx="2">
                  <c:v>99.6</c:v>
                </c:pt>
              </c:numCache>
            </c:numRef>
          </c:val>
        </c:ser>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l"/>
        <c:majorGridlines>
          <c:spPr>
            <a:ln w="9525"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0F25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533"/>
                </a:solidFill>
                <a:latin typeface="Calibri"/>
              </a:defRPr>
            </a:pPr>
            <a:r>
              <a:rPr sz="1400" b="0" i="0" u="none" strike="noStrike">
                <a:solidFill>
                  <a:srgbClr val="0F2533"/>
                </a:solidFill>
                <a:latin typeface="Calibri"/>
              </a:rPr>
              <a:t>TCP/UDP attack events detected, by category</a:t>
            </a:r>
          </a:p>
        </c:rich>
      </c:tx>
      <c:layout/>
      <c:overlay val="0"/>
    </c:title>
    <c:autoTitleDeleted val="0"/>
    <c:plotArea>
      <c:layout/>
      <c:barChart>
        <c:barDir val="bar"/>
        <c:grouping val="clustered"/>
        <c:varyColors val="0"/>
        <c:ser>
          <c:idx val="0"/>
          <c:order val="0"/>
          <c:tx>
            <c:strRef>
              <c:f>Sheet1!$B$1</c:f>
              <c:strCache>
                <c:ptCount val="1"/>
                <c:pt idx="0">
                  <c:v>Stock ET Open</c:v>
                </c:pt>
              </c:strCache>
            </c:strRef>
          </c:tx>
          <c:spPr>
            <a:solidFill>
              <a:srgbClr val="9AA3AD"/>
            </a:solidFill>
            <a:effectLst/>
          </c:spPr>
          <c:invertIfNegative val="0"/>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Analysis</c:v>
                  </c:pt>
                  <c:pt idx="1">
                    <c:v>Shellcode</c:v>
                  </c:pt>
                  <c:pt idx="2">
                    <c:v>Generic</c:v>
                  </c:pt>
                  <c:pt idx="3">
                    <c:v>Fuzzers</c:v>
                  </c:pt>
                  <c:pt idx="4">
                    <c:v>DoS</c:v>
                  </c:pt>
                  <c:pt idx="5">
                    <c:v>Worms</c:v>
                  </c:pt>
                  <c:pt idx="6">
                    <c:v>Exploits</c:v>
                  </c:pt>
                  <c:pt idx="7">
                    <c:v>Backdoor</c:v>
                  </c:pt>
                  <c:pt idx="8">
                    <c:v>Reconnaissance</c:v>
                  </c:pt>
                </c:lvl>
              </c:multiLvlStrCache>
            </c:multiLvlStrRef>
          </c:cat>
          <c:val>
            <c:numRef>
              <c:f>Sheet1!$B$2:$B$10</c:f>
              <c:numCache>
                <c:formatCode>General</c:formatCode>
                <c:ptCount val="9"/>
                <c:pt idx="0">
                  <c:v>0</c:v>
                </c:pt>
                <c:pt idx="1">
                  <c:v>1.4</c:v>
                </c:pt>
                <c:pt idx="2">
                  <c:v>2.8</c:v>
                </c:pt>
                <c:pt idx="3">
                  <c:v>7.6</c:v>
                </c:pt>
                <c:pt idx="4">
                  <c:v>10.9</c:v>
                </c:pt>
                <c:pt idx="5">
                  <c:v>15.6</c:v>
                </c:pt>
                <c:pt idx="6">
                  <c:v>9.9</c:v>
                </c:pt>
                <c:pt idx="7">
                  <c:v>16.2</c:v>
                </c:pt>
                <c:pt idx="8">
                  <c:v>18.7</c:v>
                </c:pt>
              </c:numCache>
            </c:numRef>
          </c:val>
        </c:ser>
        <c:ser>
          <c:idx val="1"/>
          <c:order val="1"/>
          <c:tx>
            <c:strRef>
              <c:f>Sheet1!$C$1</c:f>
              <c:strCache>
                <c:ptCount val="1"/>
                <c:pt idx="0">
                  <c:v>Stock + AI-authored rules</c:v>
                </c:pt>
              </c:strCache>
            </c:strRef>
          </c:tx>
          <c:spPr>
            <a:solidFill>
              <a:srgbClr val="1F4E79"/>
            </a:solidFill>
            <a:effectLst/>
          </c:spPr>
          <c:invertIfNegative val="0"/>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Sheet1!$A$2:$A$10</c:f>
              <c:multiLvlStrCache>
                <c:ptCount val="9"/>
                <c:lvl>
                  <c:pt idx="0">
                    <c:v>Analysis</c:v>
                  </c:pt>
                  <c:pt idx="1">
                    <c:v>Shellcode</c:v>
                  </c:pt>
                  <c:pt idx="2">
                    <c:v>Generic</c:v>
                  </c:pt>
                  <c:pt idx="3">
                    <c:v>Fuzzers</c:v>
                  </c:pt>
                  <c:pt idx="4">
                    <c:v>DoS</c:v>
                  </c:pt>
                  <c:pt idx="5">
                    <c:v>Worms</c:v>
                  </c:pt>
                  <c:pt idx="6">
                    <c:v>Exploits</c:v>
                  </c:pt>
                  <c:pt idx="7">
                    <c:v>Backdoor</c:v>
                  </c:pt>
                  <c:pt idx="8">
                    <c:v>Reconnaissance</c:v>
                  </c:pt>
                </c:lvl>
              </c:multiLvlStrCache>
            </c:multiLvlStrRef>
          </c:cat>
          <c:val>
            <c:numRef>
              <c:f>Sheet1!$C$2:$C$10</c:f>
              <c:numCache>
                <c:formatCode>General</c:formatCode>
                <c:ptCount val="9"/>
                <c:pt idx="0">
                  <c:v>0</c:v>
                </c:pt>
                <c:pt idx="1">
                  <c:v>1.4</c:v>
                </c:pt>
                <c:pt idx="2">
                  <c:v>4.4</c:v>
                </c:pt>
                <c:pt idx="3">
                  <c:v>9.1</c:v>
                </c:pt>
                <c:pt idx="4">
                  <c:v>11.5</c:v>
                </c:pt>
                <c:pt idx="5">
                  <c:v>15.6</c:v>
                </c:pt>
                <c:pt idx="6">
                  <c:v>19.1</c:v>
                </c:pt>
                <c:pt idx="7">
                  <c:v>20.3</c:v>
                </c:pt>
                <c:pt idx="8">
                  <c:v>36.2</c:v>
                </c:pt>
              </c:numCache>
            </c:numRef>
          </c:val>
        </c:ser>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max val="45"/>
          <c:min val="0"/>
        </c:scaling>
        <c:delete val="1"/>
        <c:axPos val="b"/>
        <c:majorGridlines>
          <c:spPr>
            <a:ln w="9525" cap="flat">
              <a:solidFill>
                <a:srgbClr val="E3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F25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533"/>
                </a:solidFill>
                <a:latin typeface="Calibri"/>
              </a:defRPr>
            </a:pPr>
            <a:r>
              <a:rPr sz="1300" b="0" i="0" u="none" strike="noStrike">
                <a:solidFill>
                  <a:srgbClr val="0F2533"/>
                </a:solidFill>
                <a:latin typeface="Calibri"/>
              </a:rPr>
              <a:t>GT events covered by findings</a:t>
            </a:r>
          </a:p>
        </c:rich>
      </c:tx>
      <c:layout/>
      <c:overlay val="0"/>
    </c:title>
    <c:autoTitleDeleted val="0"/>
    <c:plotArea>
      <c:layout/>
      <c:barChart>
        <c:barDir val="col"/>
        <c:grouping val="clustered"/>
        <c:varyColors val="0"/>
        <c:ser>
          <c:idx val="0"/>
          <c:order val="0"/>
          <c:tx>
            <c:strRef>
              <c:f>Sheet1!$B$1</c:f>
              <c:strCache>
                <c:ptCount val="1"/>
                <c:pt idx="0">
                  <c:v>Full context</c:v>
                </c:pt>
              </c:strCache>
            </c:strRef>
          </c:tx>
          <c:spPr>
            <a:solidFill>
              <a:srgbClr val="1F4E79"/>
            </a:solidFill>
            <a:effectLst/>
          </c:spPr>
          <c:invertIfNegative val="0"/>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Sheet1!$A$2:$A$2</c:f>
              <c:multiLvlStrCache>
                <c:ptCount val="1"/>
                <c:lvl>
                  <c:pt idx="0">
                    <c:v> </c:v>
                  </c:pt>
                </c:lvl>
              </c:multiLvlStrCache>
            </c:multiLvlStrRef>
          </c:cat>
          <c:val>
            <c:numRef>
              <c:f>Sheet1!$B$2:$B$2</c:f>
              <c:numCache>
                <c:formatCode>General</c:formatCode>
                <c:ptCount val="1"/>
                <c:pt idx="0">
                  <c:v>16.5</c:v>
                </c:pt>
              </c:numCache>
            </c:numRef>
          </c:val>
        </c:ser>
        <c:ser>
          <c:idx val="1"/>
          <c:order val="1"/>
          <c:tx>
            <c:strRef>
              <c:f>Sheet1!$C$1</c:f>
              <c:strCache>
                <c:ptCount val="1"/>
                <c:pt idx="0">
                  <c:v>Alerts only</c:v>
                </c:pt>
              </c:strCache>
            </c:strRef>
          </c:tx>
          <c:spPr>
            <a:solidFill>
              <a:srgbClr val="D9822B"/>
            </a:solidFill>
            <a:effectLst/>
          </c:spPr>
          <c:invertIfNegative val="0"/>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Sheet1!$A$2:$A$2</c:f>
              <c:multiLvlStrCache>
                <c:ptCount val="1"/>
                <c:lvl>
                  <c:pt idx="0">
                    <c:v> </c:v>
                  </c:pt>
                </c:lvl>
              </c:multiLvlStrCache>
            </c:multiLvlStrRef>
          </c:cat>
          <c:val>
            <c:numRef>
              <c:f>Sheet1!$C$2:$C$2</c:f>
              <c:numCache>
                <c:formatCode>General</c:formatCode>
                <c:ptCount val="1"/>
                <c:pt idx="0">
                  <c:v>28</c:v>
                </c:pt>
              </c:numCache>
            </c:numRef>
          </c:val>
        </c:ser>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max val="36"/>
          <c:min val="0"/>
        </c:scaling>
        <c:delete val="1"/>
        <c:axPos val="l"/>
        <c:majorGridlines>
          <c:spPr>
            <a:ln w="9525"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0F25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533"/>
                </a:solidFill>
                <a:latin typeface="Calibri"/>
              </a:defRPr>
            </a:pPr>
            <a:r>
              <a:rPr sz="1300" b="0" i="0" u="none" strike="noStrike">
                <a:solidFill>
                  <a:srgbClr val="0F2533"/>
                </a:solidFill>
                <a:latin typeface="Calibri"/>
              </a:rPr>
              <a:t>Detection with own rules</a:t>
            </a:r>
          </a:p>
        </c:rich>
      </c:tx>
      <c:layout/>
      <c:overlay val="0"/>
    </c:title>
    <c:autoTitleDeleted val="0"/>
    <c:plotArea>
      <c:layout/>
      <c:barChart>
        <c:barDir val="col"/>
        <c:grouping val="clustered"/>
        <c:varyColors val="0"/>
        <c:ser>
          <c:idx val="0"/>
          <c:order val="0"/>
          <c:tx>
            <c:strRef>
              <c:f>Sheet1!$B$1</c:f>
              <c:strCache>
                <c:ptCount val="1"/>
                <c:pt idx="0">
                  <c:v>Full context</c:v>
                </c:pt>
              </c:strCache>
            </c:strRef>
          </c:tx>
          <c:spPr>
            <a:solidFill>
              <a:srgbClr val="1F4E79"/>
            </a:solidFill>
            <a:effectLst/>
          </c:spPr>
          <c:invertIfNegative val="0"/>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Sheet1!$A$2:$A$2</c:f>
              <c:multiLvlStrCache>
                <c:ptCount val="1"/>
                <c:lvl>
                  <c:pt idx="0">
                    <c:v> </c:v>
                  </c:pt>
                </c:lvl>
              </c:multiLvlStrCache>
            </c:multiLvlStrRef>
          </c:cat>
          <c:val>
            <c:numRef>
              <c:f>Sheet1!$B$2:$B$2</c:f>
              <c:numCache>
                <c:formatCode>General</c:formatCode>
                <c:ptCount val="1"/>
                <c:pt idx="0">
                  <c:v>8.9</c:v>
                </c:pt>
              </c:numCache>
            </c:numRef>
          </c:val>
        </c:ser>
        <c:ser>
          <c:idx val="1"/>
          <c:order val="1"/>
          <c:tx>
            <c:strRef>
              <c:f>Sheet1!$C$1</c:f>
              <c:strCache>
                <c:ptCount val="1"/>
                <c:pt idx="0">
                  <c:v>Alerts only</c:v>
                </c:pt>
              </c:strCache>
            </c:strRef>
          </c:tx>
          <c:spPr>
            <a:solidFill>
              <a:srgbClr val="D9822B"/>
            </a:solidFill>
            <a:effectLst/>
          </c:spPr>
          <c:invertIfNegative val="0"/>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Sheet1!$A$2:$A$2</c:f>
              <c:multiLvlStrCache>
                <c:ptCount val="1"/>
                <c:lvl>
                  <c:pt idx="0">
                    <c:v> </c:v>
                  </c:pt>
                </c:lvl>
              </c:multiLvlStrCache>
            </c:multiLvlStrRef>
          </c:cat>
          <c:val>
            <c:numRef>
              <c:f>Sheet1!$C$2:$C$2</c:f>
              <c:numCache>
                <c:formatCode>General</c:formatCode>
                <c:ptCount val="1"/>
                <c:pt idx="0">
                  <c:v>12.2</c:v>
                </c:pt>
              </c:numCache>
            </c:numRef>
          </c:val>
        </c:ser>
        <c:dLbls>
          <c:numFmt formatCode="0.0&quot;%&quot;"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max val="16"/>
          <c:min val="0"/>
        </c:scaling>
        <c:delete val="1"/>
        <c:axPos val="l"/>
        <c:majorGridlines>
          <c:spPr>
            <a:ln w="9525"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0F25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F2533"/>
                </a:solidFill>
                <a:latin typeface="Calibri"/>
              </a:defRPr>
            </a:pPr>
            <a:r>
              <a:rPr sz="1300" b="0" i="0" u="none" strike="noStrike">
                <a:solidFill>
                  <a:srgbClr val="0F2533"/>
                </a:solidFill>
                <a:latin typeface="Calibri"/>
              </a:rPr>
              <a:t>Evidence-backed outcome statements</a:t>
            </a:r>
          </a:p>
        </c:rich>
      </c:tx>
      <c:layout/>
      <c:overlay val="0"/>
    </c:title>
    <c:autoTitleDeleted val="0"/>
    <c:plotArea>
      <c:layout/>
      <c:barChart>
        <c:barDir val="col"/>
        <c:grouping val="clustered"/>
        <c:varyColors val="0"/>
        <c:ser>
          <c:idx val="0"/>
          <c:order val="0"/>
          <c:tx>
            <c:strRef>
              <c:f>Sheet1!$B$1</c:f>
              <c:strCache>
                <c:ptCount val="1"/>
                <c:pt idx="0">
                  <c:v>Full context</c:v>
                </c:pt>
              </c:strCache>
            </c:strRef>
          </c:tx>
          <c:spPr>
            <a:solidFill>
              <a:srgbClr val="1F4E79"/>
            </a:solidFill>
            <a:effectLst/>
          </c:spPr>
          <c:invertIfNegative val="0"/>
          <c:dLbls>
            <c:numFmt formatCode="0"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Sheet1!$A$2:$A$2</c:f>
              <c:multiLvlStrCache>
                <c:ptCount val="1"/>
                <c:lvl>
                  <c:pt idx="0">
                    <c:v> </c:v>
                  </c:pt>
                </c:lvl>
              </c:multiLvlStrCache>
            </c:multiLvlStrRef>
          </c:cat>
          <c:val>
            <c:numRef>
              <c:f>Sheet1!$B$2:$B$2</c:f>
              <c:numCache>
                <c:formatCode>General</c:formatCode>
                <c:ptCount val="1"/>
                <c:pt idx="0">
                  <c:v>52</c:v>
                </c:pt>
              </c:numCache>
            </c:numRef>
          </c:val>
        </c:ser>
        <c:ser>
          <c:idx val="1"/>
          <c:order val="1"/>
          <c:tx>
            <c:strRef>
              <c:f>Sheet1!$C$1</c:f>
              <c:strCache>
                <c:ptCount val="1"/>
                <c:pt idx="0">
                  <c:v>Alerts only</c:v>
                </c:pt>
              </c:strCache>
            </c:strRef>
          </c:tx>
          <c:spPr>
            <a:solidFill>
              <a:srgbClr val="D9822B"/>
            </a:solidFill>
            <a:effectLst/>
          </c:spPr>
          <c:invertIfNegative val="0"/>
          <c:dLbls>
            <c:numFmt formatCode="0"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cat>
            <c:multiLvlStrRef>
              <c:f>Sheet1!$A$2:$A$2</c:f>
              <c:multiLvlStrCache>
                <c:ptCount val="1"/>
                <c:lvl>
                  <c:pt idx="0">
                    <c:v> </c:v>
                  </c:pt>
                </c:lvl>
              </c:multiLvlStrCache>
            </c:multiLvlStrRef>
          </c:cat>
          <c:val>
            <c:numRef>
              <c:f>Sheet1!$C$2:$C$2</c:f>
              <c:numCache>
                <c:formatCode>General</c:formatCode>
                <c:ptCount val="1"/>
                <c:pt idx="0">
                  <c:v>9</c:v>
                </c:pt>
              </c:numCache>
            </c:numRef>
          </c:val>
        </c:ser>
        <c:dLbls>
          <c:numFmt formatCode="0" sourceLinked="0"/>
          <c:txPr>
            <a:bodyPr/>
            <a:lstStyle/>
            <a:p>
              <a:pPr>
                <a:defRPr b="0" i="0" strike="noStrike" sz="1000" u="none">
                  <a:solidFill>
                    <a:srgbClr val="0F2533"/>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max val="65"/>
          <c:min val="0"/>
        </c:scaling>
        <c:delete val="1"/>
        <c:axPos val="l"/>
        <c:majorGridlines>
          <c:spPr>
            <a:ln w="9525" cap="flat">
              <a:solidFill>
                <a:srgbClr val="E3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0F25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2533"/>
                </a:solidFill>
                <a:latin typeface="Calibri"/>
              </a:defRPr>
            </a:pPr>
            <a:r>
              <a:rPr sz="1400" b="0" i="0" u="none" strike="noStrike">
                <a:solidFill>
                  <a:srgbClr val="0F2533"/>
                </a:solidFill>
                <a:latin typeface="Calibri"/>
              </a:rPr>
              <a:t>Audit of every AI-authored rule (50)</a:t>
            </a:r>
          </a:p>
        </c:rich>
      </c:tx>
      <c:layout/>
      <c:overlay val="0"/>
    </c:title>
    <c:autoTitleDeleted val="0"/>
    <c:plotArea>
      <c:layout/>
      <c:barChart>
        <c:barDir val="bar"/>
        <c:grouping val="stacked"/>
        <c:varyColors val="0"/>
        <c:ser>
          <c:idx val="0"/>
          <c:order val="0"/>
          <c:tx>
            <c:strRef>
              <c:f>Sheet1!$B$1</c:f>
              <c:strCache>
                <c:ptCount val="1"/>
                <c:pt idx="0">
                  <c:v>Fired on replay</c:v>
                </c:pt>
              </c:strCache>
            </c:strRef>
          </c:tx>
          <c:spPr>
            <a:solidFill>
              <a:srgbClr val="1F4E79"/>
            </a:solidFill>
            <a:effectLst/>
          </c:spPr>
          <c:invertIfNegative val="0"/>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CIC-IDS2017</c:v>
                  </c:pt>
                  <c:pt idx="1">
                    <c:v>UNSW-NB15</c:v>
                  </c:pt>
                </c:lvl>
              </c:multiLvlStrCache>
            </c:multiLvlStrRef>
          </c:cat>
          <c:val>
            <c:numRef>
              <c:f>Sheet1!$B$2:$B$3</c:f>
              <c:numCache>
                <c:formatCode>General</c:formatCode>
                <c:ptCount val="2"/>
                <c:pt idx="0">
                  <c:v>16</c:v>
                </c:pt>
                <c:pt idx="1">
                  <c:v>18</c:v>
                </c:pt>
              </c:numCache>
            </c:numRef>
          </c:val>
        </c:ser>
        <c:ser>
          <c:idx val="1"/>
          <c:order val="1"/>
          <c:tx>
            <c:strRef>
              <c:f>Sheet1!$C$1</c:f>
              <c:strCache>
                <c:ptCount val="1"/>
                <c:pt idx="0">
                  <c:v>Replayed, never fired</c:v>
                </c:pt>
              </c:strCache>
            </c:strRef>
          </c:tx>
          <c:spPr>
            <a:solidFill>
              <a:srgbClr val="7FA7C9"/>
            </a:solidFill>
            <a:effectLst/>
          </c:spPr>
          <c:invertIfNegative val="0"/>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CIC-IDS2017</c:v>
                  </c:pt>
                  <c:pt idx="1">
                    <c:v>UNSW-NB15</c:v>
                  </c:pt>
                </c:lvl>
              </c:multiLvlStrCache>
            </c:multiLvlStrRef>
          </c:cat>
          <c:val>
            <c:numRef>
              <c:f>Sheet1!$C$2:$C$3</c:f>
              <c:numCache>
                <c:formatCode>General</c:formatCode>
                <c:ptCount val="2"/>
                <c:pt idx="0">
                  <c:v>4</c:v>
                </c:pt>
                <c:pt idx="1">
                  <c:v>0</c:v>
                </c:pt>
              </c:numCache>
            </c:numRef>
          </c:val>
        </c:ser>
        <c:ser>
          <c:idx val="2"/>
          <c:order val="2"/>
          <c:tx>
            <c:strRef>
              <c:f>Sheet1!$D$1</c:f>
              <c:strCache>
                <c:ptCount val="1"/>
                <c:pt idx="0">
                  <c:v>Never replayed</c:v>
                </c:pt>
              </c:strCache>
            </c:strRef>
          </c:tx>
          <c:spPr>
            <a:solidFill>
              <a:srgbClr val="CFD6DD"/>
            </a:solidFill>
            <a:effectLst/>
          </c:spPr>
          <c:invertIfNegative val="0"/>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CIC-IDS2017</c:v>
                  </c:pt>
                  <c:pt idx="1">
                    <c:v>UNSW-NB15</c:v>
                  </c:pt>
                </c:lvl>
              </c:multiLvlStrCache>
            </c:multiLvlStrRef>
          </c:cat>
          <c:val>
            <c:numRef>
              <c:f>Sheet1!$D$2:$D$3</c:f>
              <c:numCache>
                <c:formatCode>General</c:formatCode>
                <c:ptCount val="2"/>
                <c:pt idx="0">
                  <c:v>6</c:v>
                </c:pt>
                <c:pt idx="1">
                  <c:v>0</c:v>
                </c:pt>
              </c:numCache>
            </c:numRef>
          </c:val>
        </c:ser>
        <c:ser>
          <c:idx val="3"/>
          <c:order val="3"/>
          <c:tx>
            <c:strRef>
              <c:f>Sheet1!$E$1</c:f>
              <c:strCache>
                <c:ptCount val="1"/>
                <c:pt idx="0">
                  <c:v>Cannot fire / fails to load</c:v>
                </c:pt>
              </c:strCache>
            </c:strRef>
          </c:tx>
          <c:spPr>
            <a:solidFill>
              <a:srgbClr val="B03A2E"/>
            </a:solidFill>
            <a:effectLst/>
          </c:spPr>
          <c:invertIfNegative val="0"/>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CIC-IDS2017</c:v>
                  </c:pt>
                  <c:pt idx="1">
                    <c:v>UNSW-NB15</c:v>
                  </c:pt>
                </c:lvl>
              </c:multiLvlStrCache>
            </c:multiLvlStrRef>
          </c:cat>
          <c:val>
            <c:numRef>
              <c:f>Sheet1!$E$2:$E$3</c:f>
              <c:numCache>
                <c:formatCode>General</c:formatCode>
                <c:ptCount val="2"/>
                <c:pt idx="0">
                  <c:v>4</c:v>
                </c:pt>
                <c:pt idx="1">
                  <c:v>0</c:v>
                </c:pt>
              </c:numCache>
            </c:numRef>
          </c:val>
        </c:ser>
        <c:ser>
          <c:idx val="4"/>
          <c:order val="4"/>
          <c:tx>
            <c:strRef>
              <c:f>Sheet1!$F$1</c:f>
              <c:strCache>
                <c:ptCount val="1"/>
                <c:pt idx="0">
                  <c:v>Deleted by model</c:v>
                </c:pt>
              </c:strCache>
            </c:strRef>
          </c:tx>
          <c:spPr>
            <a:solidFill>
              <a:srgbClr val="555555"/>
            </a:solidFill>
            <a:effectLst/>
          </c:spPr>
          <c:invertIfNegative val="0"/>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CIC-IDS2017</c:v>
                  </c:pt>
                  <c:pt idx="1">
                    <c:v>UNSW-NB15</c:v>
                  </c:pt>
                </c:lvl>
              </c:multiLvlStrCache>
            </c:multiLvlStrRef>
          </c:cat>
          <c:val>
            <c:numRef>
              <c:f>Sheet1!$F$2:$F$3</c:f>
              <c:numCache>
                <c:formatCode>General</c:formatCode>
                <c:ptCount val="2"/>
                <c:pt idx="0">
                  <c:v>2</c:v>
                </c:pt>
                <c:pt idx="1">
                  <c:v>0</c:v>
                </c:pt>
              </c:numCache>
            </c:numRef>
          </c:val>
        </c:ser>
        <c:dLbls>
          <c:numFmt formatCode="0;;;" sourceLinked="0"/>
          <c:txPr>
            <a:bodyPr/>
            <a:lstStyle/>
            <a:p>
              <a:pPr>
                <a:defRPr b="0" i="0" strike="noStrike" sz="1000" u="none">
                  <a:solidFill>
                    <a:srgbClr val="FFFFFF"/>
                  </a:solidFill>
                  <a:latin typeface="Calibri"/>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B7A"/>
                </a:solidFill>
                <a:latin typeface="Calibri"/>
              </a:defRPr>
            </a:pPr>
            <a:endParaRPr lang="en-US"/>
          </a:p>
        </c:txPr>
        <c:crossAx val="2094734552"/>
        <c:crosses val="autoZero"/>
        <c:auto val="1"/>
        <c:lblAlgn val="ctr"/>
        <c:noMultiLvlLbl val="1"/>
      </c:catAx>
      <c:valAx>
        <c:axId val="2094734552"/>
        <c:scaling>
          <c:orientation val="minMax"/>
        </c:scaling>
        <c:delete val="1"/>
        <c:axPos val="b"/>
        <c:majorGridlines>
          <c:spPr>
            <a:ln w="9525" cap="flat">
              <a:solidFill>
                <a:srgbClr val="E3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7A"/>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0F25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Bigyan (≈0:30). Introduce the team and the question in one sentence: we tested whether a large language model can do the job of the analyst who sits between an intrusion detection system and its rules — investigating alerts and writing new detection rules — without replacing the rule-based engine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Bigyan (≈0:50). The bottleneck is not the detection engine, it is the human loop around it. Emphasise that we keep detection rule-based and inspectable on purpose — the supervisor's constraint was no machine-learning detector. The AI's job is to do the analyst's work: investigate and author rules the engine then evaluates.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Bigyan (≈0:45). Read the question, then the three aims. Stress the second half of the question — 'what context does it need' — because Experiment 1 answers 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Bigyan (≈0:50). Walk left to right. Detection: stock community rules plus a baseline built on the benign Monday capture, like a real SOC would tune a sensor. Triage: the model does the analyst's investigation. Output: two exits — detection rules deploy automatically, suppressions need a human (explained shortly). Hand over to Binay for how the system is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Binay (≈1:00). Follow the arrows: pcap → Suricata → eve.json → triage engine. The provider adapter lets Claude and DeepSeek run the identical loop with identical tools, so models can be swapped. Rules the model writes go to rules/generated and are loaded into the next Suricata replay (dashed line) — that is how the model validates its own rules. The web UI streams every tool call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Binay (≈1:05). A hosted model can only produce text. The loop turns it into an agent: each turn it can request one of eight tools; our engine checks the request (paths are allowlisted, writes only into rules/generated) and returns the result. The model decides what to investigate and in what order. Key lesson: V3 kept failing on jq aggregation over NDJSON; one purpose-built aggregation tool fixed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Binay (≈1:00). Left: the asymmetry — the one design choice that protected us. Tell the Cisco exploit story briefly. Right: be upfront that we audited our own evaluation, found that some early runs could see answer-revealing file names and one run read our notes, and locked the tools down. This is why the Tuesday model comparison is reported as compromised. Hand over to Irab for data and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Irab (≈0:40). CIC-IDS2017 is the development dataset: labelled flows for every attack. The supervisor asked us to try a second dataset in Week 9 — UNSW-NB15 — which the system had never seen. Every number that follows is measured against these labels, not taken from the model's own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Irab (≈1:05). Three headline numbers. 13 of 14 attack types identified. Rules: stock ET caught 8 categories, adding the AI's rules takes it to 12. Precision: on the noisy captures almost every stock alert fell on normal traffic, almost every AI-rule alert on a real attack. Be honest about the middle bars — over all four days it is 81 vs 78 because of one bad AI rule; remove it and the AI rules are 99.6%.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Irab (≈1:00). Four short stories. FAKEVERB shows reasoning about the engine itself. Hulk: an attack class the 52,000-rule set had no dedicated rule for. ARES: listed as undetected in our interim report — found later by the model and confirmed by labels. SSH: a precise fingerprint rule that took detection from 1% to 28% with no false positives.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Irab (≈1:05). Same engine, unchanged, on a dataset it never saw. Detection rises from 9.2% to 15.5%; recon and exploits roughly double. IF ASKED WHY RECALL IS LOW: it is low for the professional stock rules too — UNSW fires thousands of one-off exploit attempts, many with no signature anywhere — so the claim is the improvement over human-written rules, achieved with zero alerts on benign hosts. Rules also transferred between captures. Hand over to Shashwat.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Shashwat (≈1:15). This answers the second half of the research question, and the result surprised us. Without context the model was just as good — even slightly better — at spotting attacks. What context buys is depth: whether the attack actually worked, which decides the analyst's response. Caveats: one run per condition, and alert records still carry some flow counters.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Shashwat (≈1:00). Be candid — this is a strength of the evaluation, not a weakness of the talk. The errors are confident: the model reported success each time. The rule audit on the right covers all 50 AI-authored rules: 16 of the 32 CIC rules were proven by replay, all 18 UNSW rules. The pattern: on CIC many rules were never really tested because the configuration did not load their files; on UNSW, where it did, every rule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Shashwat (≈1:00). Give the one-line answer, then the four lessons. Mention that model-agnosticism is a design property here, not a proven result — the Tuesday comparison was compromised by the label leakage we found.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Shashwat (≈0:30), then all four for questions. Likely questions: (1) Why is recall low? — low for the human-written stock rules too; we measure improvement. (2) Why DeepSeek for most runs? — cost; the adapter makes the model swappable. (3) Could the model have seen the answers? — we found and fixed that; UNSW runs had zero label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6" Type="http://schemas.openxmlformats.org/officeDocument/2006/relationships/chart" Target="/ppt/charts/chart6.xml"/><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7" Type="http://schemas.openxmlformats.org/officeDocument/2006/relationships/slideLayout" Target="../slideLayouts/slideLayout1.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5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052560" y="1280160"/>
            <a:ext cx="2377440" cy="2377440"/>
          </a:xfrm>
          <a:prstGeom prst="rect">
            <a:avLst/>
          </a:prstGeom>
        </p:spPr>
      </p:pic>
      <p:sp>
        <p:nvSpPr>
          <p:cNvPr id="3" name="Text 0"/>
          <p:cNvSpPr txBox="1"/>
          <p:nvPr/>
        </p:nvSpPr>
        <p:spPr>
          <a:xfrm>
            <a:off x="548640" y="1234440"/>
            <a:ext cx="8138160" cy="15544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Can an LLM replace the IDS analyst?</a:t>
            </a:r>
            <a:endParaRPr lang="en-US" sz="4400" dirty="0"/>
          </a:p>
        </p:txBody>
      </p:sp>
      <p:sp>
        <p:nvSpPr>
          <p:cNvPr id="4" name="Text 1"/>
          <p:cNvSpPr txBox="1"/>
          <p:nvPr/>
        </p:nvSpPr>
        <p:spPr>
          <a:xfrm>
            <a:off x="548640" y="2880360"/>
            <a:ext cx="7863840" cy="822960"/>
          </a:xfrm>
          <a:prstGeom prst="rect">
            <a:avLst/>
          </a:prstGeom>
          <a:noFill/>
          <a:ln/>
        </p:spPr>
        <p:txBody>
          <a:bodyPr wrap="square" lIns="0" tIns="0" rIns="0" bIns="0" rtlCol="0" anchor="t"/>
          <a:lstStyle/>
          <a:p>
            <a:pPr indent="0" marL="0">
              <a:buNone/>
            </a:pPr>
            <a:r>
              <a:rPr lang="en-US" sz="2000" dirty="0">
                <a:solidFill>
                  <a:srgbClr val="D9822B"/>
                </a:solidFill>
                <a:latin typeface="Calibri" pitchFamily="34" charset="0"/>
                <a:ea typeface="Calibri" pitchFamily="34" charset="-122"/>
                <a:cs typeface="Calibri" pitchFamily="34" charset="-120"/>
              </a:rPr>
              <a:t>Automated generation of intrusion detection rules using generative AI in a rule-based IDS deployment</a:t>
            </a:r>
            <a:endParaRPr lang="en-US" sz="2000" dirty="0"/>
          </a:p>
        </p:txBody>
      </p:sp>
      <p:sp>
        <p:nvSpPr>
          <p:cNvPr id="5" name="Text 2"/>
          <p:cNvSpPr txBox="1"/>
          <p:nvPr/>
        </p:nvSpPr>
        <p:spPr>
          <a:xfrm>
            <a:off x="548640" y="5120640"/>
            <a:ext cx="11094415" cy="731520"/>
          </a:xfrm>
          <a:prstGeom prst="rect">
            <a:avLst/>
          </a:prstGeom>
          <a:noFill/>
          <a:ln/>
        </p:spPr>
        <p:txBody>
          <a:bodyPr wrap="square" lIns="0" tIns="0" rIns="0" bIns="0" rtlCol="0" anchor="ctr"/>
          <a:lstStyle/>
          <a:p>
            <a:pPr indent="0" marL="0">
              <a:spcAft>
                <a:spcPts val="600"/>
              </a:spcAft>
              <a:buNone/>
            </a:pPr>
            <a:r>
              <a:rPr lang="en-US" sz="1500" dirty="0">
                <a:solidFill>
                  <a:srgbClr val="CADCFC"/>
                </a:solidFill>
                <a:latin typeface="Calibri" pitchFamily="34" charset="0"/>
                <a:ea typeface="Calibri" pitchFamily="34" charset="-122"/>
                <a:cs typeface="Calibri" pitchFamily="34" charset="-120"/>
              </a:rPr>
              <a:t>Group 13  ·  Bigyan Siwakoti  ·  Binay Siwakoti  ·  Irab Baral  ·  Shashwat Acharya</a:t>
            </a:r>
            <a:endParaRPr lang="en-US" sz="1500" dirty="0"/>
          </a:p>
          <a:p>
            <a:pPr indent="0" marL="0">
              <a:spcAft>
                <a:spcPts val="600"/>
              </a:spcAft>
              <a:buNone/>
            </a:pPr>
            <a:r>
              <a:rPr lang="en-US" sz="1500" dirty="0">
                <a:solidFill>
                  <a:srgbClr val="CADCFC"/>
                </a:solidFill>
                <a:latin typeface="Calibri" pitchFamily="34" charset="0"/>
                <a:ea typeface="Calibri" pitchFamily="34" charset="-122"/>
                <a:cs typeface="Calibri" pitchFamily="34" charset="-120"/>
              </a:rPr>
              <a:t>Supervisor: Prof. Bharanidharan Shanmugam  ·  Charles Darwin University  ·  October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Detection is only as good as its rules</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Signature-based IDS: deterministic and inspectable, but blind to anything without a rule</a:t>
            </a:r>
            <a:endParaRPr lang="en-US" sz="1600" dirty="0"/>
          </a:p>
        </p:txBody>
      </p:sp>
      <p:sp>
        <p:nvSpPr>
          <p:cNvPr id="4" name="Text 2"/>
          <p:cNvSpPr txBox="1"/>
          <p:nvPr/>
        </p:nvSpPr>
        <p:spPr>
          <a:xfrm>
            <a:off x="548640" y="1737360"/>
            <a:ext cx="5120640" cy="292608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0F2533"/>
                </a:solidFill>
                <a:latin typeface="Calibri" pitchFamily="34" charset="0"/>
                <a:ea typeface="Calibri" pitchFamily="34" charset="-122"/>
                <a:cs typeface="Calibri" pitchFamily="34" charset="-120"/>
              </a:rPr>
              <a:t>No rule, no detection — however capable the engine</a:t>
            </a:r>
            <a:endParaRPr lang="en-US" sz="1500" dirty="0"/>
          </a:p>
          <a:p>
            <a:pPr marL="203200" indent="-203200">
              <a:spcAft>
                <a:spcPts val="800"/>
              </a:spcAft>
              <a:buSzPct val="100000"/>
              <a:buChar char="•"/>
            </a:pPr>
            <a:r>
              <a:rPr lang="en-US" sz="1500" dirty="0">
                <a:solidFill>
                  <a:srgbClr val="0F2533"/>
                </a:solidFill>
                <a:latin typeface="Calibri" pitchFamily="34" charset="0"/>
                <a:ea typeface="Calibri" pitchFamily="34" charset="-122"/>
                <a:cs typeface="Calibri" pitchFamily="34" charset="-120"/>
              </a:rPr>
              <a:t>Turning an observed attack into a tested rule is manual work: investigate, identify invariants, write, validate, deploy</a:t>
            </a:r>
            <a:endParaRPr lang="en-US" sz="1500" dirty="0"/>
          </a:p>
          <a:p>
            <a:pPr marL="203200" indent="-203200">
              <a:spcAft>
                <a:spcPts val="800"/>
              </a:spcAft>
              <a:buSzPct val="100000"/>
              <a:buChar char="•"/>
            </a:pPr>
            <a:r>
              <a:rPr lang="en-US" sz="1500" dirty="0">
                <a:solidFill>
                  <a:srgbClr val="0F2533"/>
                </a:solidFill>
                <a:latin typeface="Calibri" pitchFamily="34" charset="0"/>
                <a:ea typeface="Calibri" pitchFamily="34" charset="-122"/>
                <a:cs typeface="Calibri" pitchFamily="34" charset="-120"/>
              </a:rPr>
              <a:t>Scarfone &amp; Mell (NIST SP 800-94) describe this cycle as taking hours to days of scarce expertise</a:t>
            </a:r>
            <a:endParaRPr lang="en-US" sz="1500" dirty="0"/>
          </a:p>
        </p:txBody>
      </p:sp>
      <p:sp>
        <p:nvSpPr>
          <p:cNvPr id="5" name="Shape 3"/>
          <p:cNvSpPr/>
          <p:nvPr/>
        </p:nvSpPr>
        <p:spPr>
          <a:xfrm>
            <a:off x="6080760" y="1965960"/>
            <a:ext cx="987552" cy="914400"/>
          </a:xfrm>
          <a:prstGeom prst="roundRect">
            <a:avLst>
              <a:gd name="adj" fmla="val 8000"/>
            </a:avLst>
          </a:prstGeom>
          <a:solidFill>
            <a:srgbClr val="EEF3F8"/>
          </a:solidFill>
          <a:ln w="12700">
            <a:solidFill>
              <a:srgbClr val="EEF3F8"/>
            </a:solidFill>
            <a:prstDash val="solid"/>
          </a:ln>
        </p:spPr>
      </p:sp>
      <p:sp>
        <p:nvSpPr>
          <p:cNvPr id="6" name="Text 4"/>
          <p:cNvSpPr txBox="1"/>
          <p:nvPr/>
        </p:nvSpPr>
        <p:spPr>
          <a:xfrm>
            <a:off x="6080760" y="1965960"/>
            <a:ext cx="987552" cy="914400"/>
          </a:xfrm>
          <a:prstGeom prst="rect">
            <a:avLst/>
          </a:prstGeom>
          <a:noFill/>
          <a:ln/>
        </p:spPr>
        <p:txBody>
          <a:bodyPr wrap="square" lIns="0" tIns="0" rIns="0" bIns="0" rtlCol="0" anchor="ctr"/>
          <a:lstStyle/>
          <a:p>
            <a:pPr algn="ctr" indent="0" marL="0">
              <a:buNone/>
            </a:pPr>
            <a:r>
              <a:rPr lang="en-US" sz="1150" b="1" dirty="0">
                <a:solidFill>
                  <a:srgbClr val="0F2533"/>
                </a:solidFill>
                <a:latin typeface="Calibri" pitchFamily="34" charset="0"/>
                <a:ea typeface="Calibri" pitchFamily="34" charset="-122"/>
                <a:cs typeface="Calibri" pitchFamily="34" charset="-120"/>
              </a:rPr>
              <a:t>Investigate</a:t>
            </a:r>
            <a:endParaRPr lang="en-US" sz="1150" dirty="0"/>
          </a:p>
        </p:txBody>
      </p:sp>
      <p:sp>
        <p:nvSpPr>
          <p:cNvPr id="7" name="Shape 5"/>
          <p:cNvSpPr/>
          <p:nvPr/>
        </p:nvSpPr>
        <p:spPr>
          <a:xfrm>
            <a:off x="7068312" y="2423160"/>
            <a:ext cx="146304" cy="0"/>
          </a:xfrm>
          <a:prstGeom prst="line">
            <a:avLst/>
          </a:prstGeom>
          <a:noFill/>
          <a:ln w="25400">
            <a:solidFill>
              <a:srgbClr val="5B6B7A"/>
            </a:solidFill>
            <a:prstDash val="solid"/>
            <a:tailEnd type="triangle"/>
          </a:ln>
        </p:spPr>
      </p:sp>
      <p:sp>
        <p:nvSpPr>
          <p:cNvPr id="8" name="Shape 6"/>
          <p:cNvSpPr/>
          <p:nvPr/>
        </p:nvSpPr>
        <p:spPr>
          <a:xfrm>
            <a:off x="7214616" y="1965960"/>
            <a:ext cx="987552" cy="914400"/>
          </a:xfrm>
          <a:prstGeom prst="roundRect">
            <a:avLst>
              <a:gd name="adj" fmla="val 8000"/>
            </a:avLst>
          </a:prstGeom>
          <a:solidFill>
            <a:srgbClr val="EEF3F8"/>
          </a:solidFill>
          <a:ln w="12700">
            <a:solidFill>
              <a:srgbClr val="EEF3F8"/>
            </a:solidFill>
            <a:prstDash val="solid"/>
          </a:ln>
        </p:spPr>
      </p:sp>
      <p:sp>
        <p:nvSpPr>
          <p:cNvPr id="9" name="Text 7"/>
          <p:cNvSpPr txBox="1"/>
          <p:nvPr/>
        </p:nvSpPr>
        <p:spPr>
          <a:xfrm>
            <a:off x="7214616" y="1965960"/>
            <a:ext cx="987552" cy="914400"/>
          </a:xfrm>
          <a:prstGeom prst="rect">
            <a:avLst/>
          </a:prstGeom>
          <a:noFill/>
          <a:ln/>
        </p:spPr>
        <p:txBody>
          <a:bodyPr wrap="square" lIns="0" tIns="0" rIns="0" bIns="0" rtlCol="0" anchor="ctr"/>
          <a:lstStyle/>
          <a:p>
            <a:pPr algn="ctr" indent="0" marL="0">
              <a:buNone/>
            </a:pPr>
            <a:r>
              <a:rPr lang="en-US" sz="1150" b="1" dirty="0">
                <a:solidFill>
                  <a:srgbClr val="0F2533"/>
                </a:solidFill>
                <a:latin typeface="Calibri" pitchFamily="34" charset="0"/>
                <a:ea typeface="Calibri" pitchFamily="34" charset="-122"/>
                <a:cs typeface="Calibri" pitchFamily="34" charset="-120"/>
              </a:rPr>
              <a:t>Identify</a:t>
            </a:r>
            <a:endParaRPr lang="en-US" sz="1150" dirty="0"/>
          </a:p>
        </p:txBody>
      </p:sp>
      <p:sp>
        <p:nvSpPr>
          <p:cNvPr id="10" name="Shape 8"/>
          <p:cNvSpPr/>
          <p:nvPr/>
        </p:nvSpPr>
        <p:spPr>
          <a:xfrm>
            <a:off x="8202168" y="2423160"/>
            <a:ext cx="146304" cy="0"/>
          </a:xfrm>
          <a:prstGeom prst="line">
            <a:avLst/>
          </a:prstGeom>
          <a:noFill/>
          <a:ln w="25400">
            <a:solidFill>
              <a:srgbClr val="5B6B7A"/>
            </a:solidFill>
            <a:prstDash val="solid"/>
            <a:tailEnd type="triangle"/>
          </a:ln>
        </p:spPr>
      </p:sp>
      <p:sp>
        <p:nvSpPr>
          <p:cNvPr id="11" name="Shape 9"/>
          <p:cNvSpPr/>
          <p:nvPr/>
        </p:nvSpPr>
        <p:spPr>
          <a:xfrm>
            <a:off x="8348472" y="1965960"/>
            <a:ext cx="987552" cy="914400"/>
          </a:xfrm>
          <a:prstGeom prst="roundRect">
            <a:avLst>
              <a:gd name="adj" fmla="val 8000"/>
            </a:avLst>
          </a:prstGeom>
          <a:solidFill>
            <a:srgbClr val="1F4E79"/>
          </a:solidFill>
          <a:ln w="12700">
            <a:solidFill>
              <a:srgbClr val="1F4E79"/>
            </a:solidFill>
            <a:prstDash val="solid"/>
          </a:ln>
        </p:spPr>
      </p:sp>
      <p:sp>
        <p:nvSpPr>
          <p:cNvPr id="12" name="Text 10"/>
          <p:cNvSpPr txBox="1"/>
          <p:nvPr/>
        </p:nvSpPr>
        <p:spPr>
          <a:xfrm>
            <a:off x="8348472" y="1965960"/>
            <a:ext cx="987552" cy="9144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Write rule</a:t>
            </a:r>
            <a:endParaRPr lang="en-US" sz="1150" dirty="0"/>
          </a:p>
        </p:txBody>
      </p:sp>
      <p:sp>
        <p:nvSpPr>
          <p:cNvPr id="13" name="Shape 11"/>
          <p:cNvSpPr/>
          <p:nvPr/>
        </p:nvSpPr>
        <p:spPr>
          <a:xfrm>
            <a:off x="9336024" y="2423160"/>
            <a:ext cx="146304" cy="0"/>
          </a:xfrm>
          <a:prstGeom prst="line">
            <a:avLst/>
          </a:prstGeom>
          <a:noFill/>
          <a:ln w="25400">
            <a:solidFill>
              <a:srgbClr val="5B6B7A"/>
            </a:solidFill>
            <a:prstDash val="solid"/>
            <a:tailEnd type="triangle"/>
          </a:ln>
        </p:spPr>
      </p:sp>
      <p:sp>
        <p:nvSpPr>
          <p:cNvPr id="14" name="Shape 12"/>
          <p:cNvSpPr/>
          <p:nvPr/>
        </p:nvSpPr>
        <p:spPr>
          <a:xfrm>
            <a:off x="9482328" y="1965960"/>
            <a:ext cx="987552" cy="914400"/>
          </a:xfrm>
          <a:prstGeom prst="roundRect">
            <a:avLst>
              <a:gd name="adj" fmla="val 8000"/>
            </a:avLst>
          </a:prstGeom>
          <a:solidFill>
            <a:srgbClr val="EEF3F8"/>
          </a:solidFill>
          <a:ln w="12700">
            <a:solidFill>
              <a:srgbClr val="EEF3F8"/>
            </a:solidFill>
            <a:prstDash val="solid"/>
          </a:ln>
        </p:spPr>
      </p:sp>
      <p:sp>
        <p:nvSpPr>
          <p:cNvPr id="15" name="Text 13"/>
          <p:cNvSpPr txBox="1"/>
          <p:nvPr/>
        </p:nvSpPr>
        <p:spPr>
          <a:xfrm>
            <a:off x="9482328" y="1965960"/>
            <a:ext cx="987552" cy="914400"/>
          </a:xfrm>
          <a:prstGeom prst="rect">
            <a:avLst/>
          </a:prstGeom>
          <a:noFill/>
          <a:ln/>
        </p:spPr>
        <p:txBody>
          <a:bodyPr wrap="square" lIns="0" tIns="0" rIns="0" bIns="0" rtlCol="0" anchor="ctr"/>
          <a:lstStyle/>
          <a:p>
            <a:pPr algn="ctr" indent="0" marL="0">
              <a:buNone/>
            </a:pPr>
            <a:r>
              <a:rPr lang="en-US" sz="1150" b="1" dirty="0">
                <a:solidFill>
                  <a:srgbClr val="0F2533"/>
                </a:solidFill>
                <a:latin typeface="Calibri" pitchFamily="34" charset="0"/>
                <a:ea typeface="Calibri" pitchFamily="34" charset="-122"/>
                <a:cs typeface="Calibri" pitchFamily="34" charset="-120"/>
              </a:rPr>
              <a:t>Validate</a:t>
            </a:r>
            <a:endParaRPr lang="en-US" sz="1150" dirty="0"/>
          </a:p>
        </p:txBody>
      </p:sp>
      <p:sp>
        <p:nvSpPr>
          <p:cNvPr id="16" name="Shape 14"/>
          <p:cNvSpPr/>
          <p:nvPr/>
        </p:nvSpPr>
        <p:spPr>
          <a:xfrm>
            <a:off x="10469880" y="2423160"/>
            <a:ext cx="146304" cy="0"/>
          </a:xfrm>
          <a:prstGeom prst="line">
            <a:avLst/>
          </a:prstGeom>
          <a:noFill/>
          <a:ln w="25400">
            <a:solidFill>
              <a:srgbClr val="5B6B7A"/>
            </a:solidFill>
            <a:prstDash val="solid"/>
            <a:tailEnd type="triangle"/>
          </a:ln>
        </p:spPr>
      </p:sp>
      <p:sp>
        <p:nvSpPr>
          <p:cNvPr id="17" name="Shape 15"/>
          <p:cNvSpPr/>
          <p:nvPr/>
        </p:nvSpPr>
        <p:spPr>
          <a:xfrm>
            <a:off x="10616184" y="1965960"/>
            <a:ext cx="987552" cy="914400"/>
          </a:xfrm>
          <a:prstGeom prst="roundRect">
            <a:avLst>
              <a:gd name="adj" fmla="val 8000"/>
            </a:avLst>
          </a:prstGeom>
          <a:solidFill>
            <a:srgbClr val="EEF3F8"/>
          </a:solidFill>
          <a:ln w="12700">
            <a:solidFill>
              <a:srgbClr val="EEF3F8"/>
            </a:solidFill>
            <a:prstDash val="solid"/>
          </a:ln>
        </p:spPr>
      </p:sp>
      <p:sp>
        <p:nvSpPr>
          <p:cNvPr id="18" name="Text 16"/>
          <p:cNvSpPr txBox="1"/>
          <p:nvPr/>
        </p:nvSpPr>
        <p:spPr>
          <a:xfrm>
            <a:off x="10616184" y="1965960"/>
            <a:ext cx="987552" cy="914400"/>
          </a:xfrm>
          <a:prstGeom prst="rect">
            <a:avLst/>
          </a:prstGeom>
          <a:noFill/>
          <a:ln/>
        </p:spPr>
        <p:txBody>
          <a:bodyPr wrap="square" lIns="0" tIns="0" rIns="0" bIns="0" rtlCol="0" anchor="ctr"/>
          <a:lstStyle/>
          <a:p>
            <a:pPr algn="ctr" indent="0" marL="0">
              <a:buNone/>
            </a:pPr>
            <a:r>
              <a:rPr lang="en-US" sz="1150" b="1" dirty="0">
                <a:solidFill>
                  <a:srgbClr val="0F2533"/>
                </a:solidFill>
                <a:latin typeface="Calibri" pitchFamily="34" charset="0"/>
                <a:ea typeface="Calibri" pitchFamily="34" charset="-122"/>
                <a:cs typeface="Calibri" pitchFamily="34" charset="-120"/>
              </a:rPr>
              <a:t>Deploy</a:t>
            </a:r>
            <a:endParaRPr lang="en-US" sz="1150" dirty="0"/>
          </a:p>
        </p:txBody>
      </p:sp>
      <p:sp>
        <p:nvSpPr>
          <p:cNvPr id="19" name="Shape 17"/>
          <p:cNvSpPr/>
          <p:nvPr/>
        </p:nvSpPr>
        <p:spPr>
          <a:xfrm>
            <a:off x="6080760" y="3246120"/>
            <a:ext cx="566928" cy="566928"/>
          </a:xfrm>
          <a:prstGeom prst="ellipse">
            <a:avLst/>
          </a:prstGeom>
          <a:solidFill>
            <a:srgbClr val="D9822B"/>
          </a:solidFill>
          <a:ln w="12700">
            <a:solidFill>
              <a:srgbClr val="D9822B"/>
            </a:solidFill>
            <a:prstDash val="solid"/>
          </a:ln>
        </p:spPr>
      </p:sp>
      <p:pic>
        <p:nvPicPr>
          <p:cNvPr id="20" name="Image 0" descr="preencoded.png">    </p:cNvPr>
          <p:cNvPicPr>
            <a:picLocks noChangeAspect="1"/>
          </p:cNvPicPr>
          <p:nvPr/>
        </p:nvPicPr>
        <p:blipFill>
          <a:blip r:embed="rId1"/>
          <a:stretch>
            <a:fillRect/>
          </a:stretch>
        </p:blipFill>
        <p:spPr>
          <a:xfrm>
            <a:off x="6216823" y="3382183"/>
            <a:ext cx="294803" cy="294803"/>
          </a:xfrm>
          <a:prstGeom prst="rect">
            <a:avLst/>
          </a:prstGeom>
        </p:spPr>
      </p:pic>
      <p:sp>
        <p:nvSpPr>
          <p:cNvPr id="21" name="Text 18"/>
          <p:cNvSpPr txBox="1"/>
          <p:nvPr/>
        </p:nvSpPr>
        <p:spPr>
          <a:xfrm>
            <a:off x="6766560" y="3291840"/>
            <a:ext cx="4754880" cy="548640"/>
          </a:xfrm>
          <a:prstGeom prst="rect">
            <a:avLst/>
          </a:prstGeom>
          <a:noFill/>
          <a:ln/>
        </p:spPr>
        <p:txBody>
          <a:bodyPr wrap="square" lIns="0" tIns="0" rIns="0" bIns="0" rtlCol="0" anchor="ctr"/>
          <a:lstStyle/>
          <a:p>
            <a:pPr indent="0" marL="0">
              <a:buNone/>
            </a:pPr>
            <a:r>
              <a:rPr lang="en-US" sz="1400" dirty="0">
                <a:solidFill>
                  <a:srgbClr val="5B6B7A"/>
                </a:solidFill>
                <a:latin typeface="Calibri" pitchFamily="34" charset="0"/>
                <a:ea typeface="Calibri" pitchFamily="34" charset="-122"/>
                <a:cs typeface="Calibri" pitchFamily="34" charset="-120"/>
              </a:rPr>
              <a:t>Today a human analyst performs every step, for every new attack</a:t>
            </a:r>
            <a:endParaRPr lang="en-US" sz="1400" dirty="0"/>
          </a:p>
        </p:txBody>
      </p:sp>
      <p:sp>
        <p:nvSpPr>
          <p:cNvPr id="22" name="Shape 19"/>
          <p:cNvSpPr/>
          <p:nvPr/>
        </p:nvSpPr>
        <p:spPr>
          <a:xfrm>
            <a:off x="548640" y="4800600"/>
            <a:ext cx="11094415" cy="1143000"/>
          </a:xfrm>
          <a:prstGeom prst="roundRect">
            <a:avLst>
              <a:gd name="adj" fmla="val 6400"/>
            </a:avLst>
          </a:prstGeom>
          <a:solidFill>
            <a:srgbClr val="0F2533"/>
          </a:solidFill>
          <a:ln w="12700">
            <a:solidFill>
              <a:srgbClr val="0F2533"/>
            </a:solidFill>
            <a:prstDash val="solid"/>
          </a:ln>
        </p:spPr>
      </p:sp>
      <p:sp>
        <p:nvSpPr>
          <p:cNvPr id="23" name="Text 20"/>
          <p:cNvSpPr txBox="1"/>
          <p:nvPr/>
        </p:nvSpPr>
        <p:spPr>
          <a:xfrm>
            <a:off x="914400" y="4800600"/>
            <a:ext cx="10362895" cy="1143000"/>
          </a:xfrm>
          <a:prstGeom prst="rect">
            <a:avLst/>
          </a:prstGeom>
          <a:noFill/>
          <a:ln/>
        </p:spPr>
        <p:txBody>
          <a:bodyPr wrap="square" lIns="0" tIns="0" rIns="0" bIns="0" rtlCol="0" anchor="ctr"/>
          <a:lstStyle/>
          <a:p>
            <a:pPr indent="0" marL="0">
              <a:buNone/>
            </a:pPr>
            <a:r>
              <a:rPr lang="en-US" sz="3600" b="1" dirty="0">
                <a:solidFill>
                  <a:srgbClr val="D9822B"/>
                </a:solidFill>
                <a:latin typeface="Cambria" pitchFamily="34" charset="0"/>
                <a:ea typeface="Cambria" pitchFamily="34" charset="-122"/>
                <a:cs typeface="Cambria" pitchFamily="34" charset="-120"/>
              </a:rPr>
              <a:t>52,647</a:t>
            </a:r>
            <a:pPr indent="0" marL="0">
              <a:buNone/>
            </a:pPr>
            <a:r>
              <a:rPr lang="en-US" sz="1500" dirty="0">
                <a:solidFill>
                  <a:srgbClr val="FFFFFF"/>
                </a:solidFill>
                <a:latin typeface="Calibri" pitchFamily="34" charset="0"/>
                <a:ea typeface="Calibri" pitchFamily="34" charset="-122"/>
                <a:cs typeface="Calibri" pitchFamily="34" charset="-120"/>
              </a:rPr>
              <a:t>   community rules in ET Open, and still whole attack categories went undetected</a:t>
            </a:r>
            <a:endParaRPr 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Research question</a:t>
            </a:r>
            <a:endParaRPr lang="en-US" sz="3400" dirty="0"/>
          </a:p>
        </p:txBody>
      </p:sp>
      <p:sp>
        <p:nvSpPr>
          <p:cNvPr id="3" name="Shape 1"/>
          <p:cNvSpPr/>
          <p:nvPr/>
        </p:nvSpPr>
        <p:spPr>
          <a:xfrm>
            <a:off x="548640" y="1234440"/>
            <a:ext cx="11094415" cy="1325880"/>
          </a:xfrm>
          <a:prstGeom prst="roundRect">
            <a:avLst>
              <a:gd name="adj" fmla="val 5517"/>
            </a:avLst>
          </a:prstGeom>
          <a:solidFill>
            <a:srgbClr val="EEF3F8"/>
          </a:solidFill>
          <a:ln w="12700">
            <a:solidFill>
              <a:srgbClr val="EEF3F8"/>
            </a:solidFill>
            <a:prstDash val="solid"/>
          </a:ln>
        </p:spPr>
      </p:sp>
      <p:sp>
        <p:nvSpPr>
          <p:cNvPr id="4" name="Text 2"/>
          <p:cNvSpPr txBox="1"/>
          <p:nvPr/>
        </p:nvSpPr>
        <p:spPr>
          <a:xfrm>
            <a:off x="914400" y="1234440"/>
            <a:ext cx="10362895" cy="1325880"/>
          </a:xfrm>
          <a:prstGeom prst="rect">
            <a:avLst/>
          </a:prstGeom>
          <a:noFill/>
          <a:ln/>
        </p:spPr>
        <p:txBody>
          <a:bodyPr wrap="square" lIns="0" tIns="0" rIns="0" bIns="0" rtlCol="0" anchor="ctr"/>
          <a:lstStyle/>
          <a:p>
            <a:pPr indent="0" marL="0">
              <a:buNone/>
            </a:pPr>
            <a:r>
              <a:rPr lang="en-US" sz="2200" i="1" dirty="0">
                <a:solidFill>
                  <a:srgbClr val="0F2533"/>
                </a:solidFill>
                <a:latin typeface="Cambria" pitchFamily="34" charset="0"/>
                <a:ea typeface="Cambria" pitchFamily="34" charset="-122"/>
                <a:cs typeface="Cambria" pitchFamily="34" charset="-120"/>
              </a:rPr>
              <a:t>Can a large language model take over the analyst's role in the alert-handling loop of a rule-based IDS — and what context does it need to do that job well?</a:t>
            </a:r>
            <a:endParaRPr lang="en-US" sz="2200" dirty="0"/>
          </a:p>
        </p:txBody>
      </p:sp>
      <p:sp>
        <p:nvSpPr>
          <p:cNvPr id="5" name="Shape 3"/>
          <p:cNvSpPr/>
          <p:nvPr/>
        </p:nvSpPr>
        <p:spPr>
          <a:xfrm>
            <a:off x="548640" y="2880360"/>
            <a:ext cx="3520440" cy="2377440"/>
          </a:xfrm>
          <a:prstGeom prst="roundRect">
            <a:avLst>
              <a:gd name="adj" fmla="val 3077"/>
            </a:avLst>
          </a:prstGeom>
          <a:solidFill>
            <a:srgbClr val="EEF3F8"/>
          </a:solidFill>
          <a:ln w="12700">
            <a:solidFill>
              <a:srgbClr val="EEF3F8"/>
            </a:solidFill>
            <a:prstDash val="solid"/>
          </a:ln>
        </p:spPr>
      </p:sp>
      <p:sp>
        <p:nvSpPr>
          <p:cNvPr id="6" name="Shape 4"/>
          <p:cNvSpPr/>
          <p:nvPr/>
        </p:nvSpPr>
        <p:spPr>
          <a:xfrm>
            <a:off x="822960" y="3108960"/>
            <a:ext cx="566928" cy="566928"/>
          </a:xfrm>
          <a:prstGeom prst="ellipse">
            <a:avLst/>
          </a:prstGeom>
          <a:solidFill>
            <a:srgbClr val="1F4E79"/>
          </a:solidFill>
          <a:ln w="12700">
            <a:solidFill>
              <a:srgbClr val="1F4E79"/>
            </a:solidFill>
            <a:prstDash val="solid"/>
          </a:ln>
        </p:spPr>
      </p:sp>
      <p:pic>
        <p:nvPicPr>
          <p:cNvPr id="7" name="Image 0" descr="preencoded.png">    </p:cNvPr>
          <p:cNvPicPr>
            <a:picLocks noChangeAspect="1"/>
          </p:cNvPicPr>
          <p:nvPr/>
        </p:nvPicPr>
        <p:blipFill>
          <a:blip r:embed="rId1"/>
          <a:stretch>
            <a:fillRect/>
          </a:stretch>
        </p:blipFill>
        <p:spPr>
          <a:xfrm>
            <a:off x="959023" y="3245023"/>
            <a:ext cx="294803" cy="294803"/>
          </a:xfrm>
          <a:prstGeom prst="rect">
            <a:avLst/>
          </a:prstGeom>
        </p:spPr>
      </p:pic>
      <p:sp>
        <p:nvSpPr>
          <p:cNvPr id="8" name="Text 5"/>
          <p:cNvSpPr txBox="1"/>
          <p:nvPr/>
        </p:nvSpPr>
        <p:spPr>
          <a:xfrm>
            <a:off x="1554480" y="3154680"/>
            <a:ext cx="2286000" cy="457200"/>
          </a:xfrm>
          <a:prstGeom prst="rect">
            <a:avLst/>
          </a:prstGeom>
          <a:noFill/>
          <a:ln/>
        </p:spPr>
        <p:txBody>
          <a:bodyPr wrap="square" lIns="0" tIns="0" rIns="0" bIns="0" rtlCol="0" anchor="ctr"/>
          <a:lstStyle/>
          <a:p>
            <a:pPr indent="0" marL="0">
              <a:buNone/>
            </a:pPr>
            <a:r>
              <a:rPr lang="en-US" sz="2000" b="1" dirty="0">
                <a:solidFill>
                  <a:srgbClr val="0F2533"/>
                </a:solidFill>
                <a:latin typeface="Cambria" pitchFamily="34" charset="0"/>
                <a:ea typeface="Cambria" pitchFamily="34" charset="-122"/>
                <a:cs typeface="Cambria" pitchFamily="34" charset="-120"/>
              </a:rPr>
              <a:t>Build</a:t>
            </a:r>
            <a:endParaRPr lang="en-US" sz="2000" dirty="0"/>
          </a:p>
        </p:txBody>
      </p:sp>
      <p:sp>
        <p:nvSpPr>
          <p:cNvPr id="9" name="Text 6"/>
          <p:cNvSpPr txBox="1"/>
          <p:nvPr/>
        </p:nvSpPr>
        <p:spPr>
          <a:xfrm>
            <a:off x="822960" y="3886200"/>
            <a:ext cx="2971800" cy="128016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An agentic triage engine that investigates Suricata alerts, writes detection rules and validates them by replay</a:t>
            </a:r>
            <a:endParaRPr lang="en-US" sz="1400" dirty="0"/>
          </a:p>
        </p:txBody>
      </p:sp>
      <p:sp>
        <p:nvSpPr>
          <p:cNvPr id="10" name="Shape 7"/>
          <p:cNvSpPr/>
          <p:nvPr/>
        </p:nvSpPr>
        <p:spPr>
          <a:xfrm>
            <a:off x="4297680" y="2880360"/>
            <a:ext cx="3520440" cy="2377440"/>
          </a:xfrm>
          <a:prstGeom prst="roundRect">
            <a:avLst>
              <a:gd name="adj" fmla="val 3077"/>
            </a:avLst>
          </a:prstGeom>
          <a:solidFill>
            <a:srgbClr val="EEF3F8"/>
          </a:solidFill>
          <a:ln w="12700">
            <a:solidFill>
              <a:srgbClr val="EEF3F8"/>
            </a:solidFill>
            <a:prstDash val="solid"/>
          </a:ln>
        </p:spPr>
      </p:sp>
      <p:sp>
        <p:nvSpPr>
          <p:cNvPr id="11" name="Shape 8"/>
          <p:cNvSpPr/>
          <p:nvPr/>
        </p:nvSpPr>
        <p:spPr>
          <a:xfrm>
            <a:off x="4572000" y="3108960"/>
            <a:ext cx="566928" cy="566928"/>
          </a:xfrm>
          <a:prstGeom prst="ellipse">
            <a:avLst/>
          </a:prstGeom>
          <a:solidFill>
            <a:srgbClr val="1F4E79"/>
          </a:solidFill>
          <a:ln w="12700">
            <a:solidFill>
              <a:srgbClr val="1F4E79"/>
            </a:solidFill>
            <a:prstDash val="solid"/>
          </a:ln>
        </p:spPr>
      </p:sp>
      <p:pic>
        <p:nvPicPr>
          <p:cNvPr id="12" name="Image 1" descr="preencoded.png">    </p:cNvPr>
          <p:cNvPicPr>
            <a:picLocks noChangeAspect="1"/>
          </p:cNvPicPr>
          <p:nvPr/>
        </p:nvPicPr>
        <p:blipFill>
          <a:blip r:embed="rId2"/>
          <a:stretch>
            <a:fillRect/>
          </a:stretch>
        </p:blipFill>
        <p:spPr>
          <a:xfrm>
            <a:off x="4708063" y="3245023"/>
            <a:ext cx="294803" cy="294803"/>
          </a:xfrm>
          <a:prstGeom prst="rect">
            <a:avLst/>
          </a:prstGeom>
        </p:spPr>
      </p:pic>
      <p:sp>
        <p:nvSpPr>
          <p:cNvPr id="13" name="Text 9"/>
          <p:cNvSpPr txBox="1"/>
          <p:nvPr/>
        </p:nvSpPr>
        <p:spPr>
          <a:xfrm>
            <a:off x="5303520" y="3154680"/>
            <a:ext cx="2286000" cy="457200"/>
          </a:xfrm>
          <a:prstGeom prst="rect">
            <a:avLst/>
          </a:prstGeom>
          <a:noFill/>
          <a:ln/>
        </p:spPr>
        <p:txBody>
          <a:bodyPr wrap="square" lIns="0" tIns="0" rIns="0" bIns="0" rtlCol="0" anchor="ctr"/>
          <a:lstStyle/>
          <a:p>
            <a:pPr indent="0" marL="0">
              <a:buNone/>
            </a:pPr>
            <a:r>
              <a:rPr lang="en-US" sz="2000" b="1" dirty="0">
                <a:solidFill>
                  <a:srgbClr val="0F2533"/>
                </a:solidFill>
                <a:latin typeface="Cambria" pitchFamily="34" charset="0"/>
                <a:ea typeface="Cambria" pitchFamily="34" charset="-122"/>
                <a:cs typeface="Cambria" pitchFamily="34" charset="-120"/>
              </a:rPr>
              <a:t>Measure</a:t>
            </a:r>
            <a:endParaRPr lang="en-US" sz="2000" dirty="0"/>
          </a:p>
        </p:txBody>
      </p:sp>
      <p:sp>
        <p:nvSpPr>
          <p:cNvPr id="14" name="Text 10"/>
          <p:cNvSpPr txBox="1"/>
          <p:nvPr/>
        </p:nvSpPr>
        <p:spPr>
          <a:xfrm>
            <a:off x="4572000" y="3886200"/>
            <a:ext cx="2971800" cy="128016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Every AI-authored rule against ground-truth labels, on two datasets — one the system was never tuned for</a:t>
            </a:r>
            <a:endParaRPr lang="en-US" sz="1400" dirty="0"/>
          </a:p>
        </p:txBody>
      </p:sp>
      <p:sp>
        <p:nvSpPr>
          <p:cNvPr id="15" name="Shape 11"/>
          <p:cNvSpPr/>
          <p:nvPr/>
        </p:nvSpPr>
        <p:spPr>
          <a:xfrm>
            <a:off x="8046720" y="2880360"/>
            <a:ext cx="3520440" cy="2377440"/>
          </a:xfrm>
          <a:prstGeom prst="roundRect">
            <a:avLst>
              <a:gd name="adj" fmla="val 3077"/>
            </a:avLst>
          </a:prstGeom>
          <a:solidFill>
            <a:srgbClr val="EEF3F8"/>
          </a:solidFill>
          <a:ln w="12700">
            <a:solidFill>
              <a:srgbClr val="EEF3F8"/>
            </a:solidFill>
            <a:prstDash val="solid"/>
          </a:ln>
        </p:spPr>
      </p:sp>
      <p:sp>
        <p:nvSpPr>
          <p:cNvPr id="16" name="Shape 12"/>
          <p:cNvSpPr/>
          <p:nvPr/>
        </p:nvSpPr>
        <p:spPr>
          <a:xfrm>
            <a:off x="8321040" y="3108960"/>
            <a:ext cx="566928" cy="566928"/>
          </a:xfrm>
          <a:prstGeom prst="ellipse">
            <a:avLst/>
          </a:prstGeom>
          <a:solidFill>
            <a:srgbClr val="1F4E79"/>
          </a:solidFill>
          <a:ln w="12700">
            <a:solidFill>
              <a:srgbClr val="1F4E79"/>
            </a:solidFill>
            <a:prstDash val="solid"/>
          </a:ln>
        </p:spPr>
      </p:sp>
      <p:pic>
        <p:nvPicPr>
          <p:cNvPr id="17" name="Image 2" descr="preencoded.png">    </p:cNvPr>
          <p:cNvPicPr>
            <a:picLocks noChangeAspect="1"/>
          </p:cNvPicPr>
          <p:nvPr/>
        </p:nvPicPr>
        <p:blipFill>
          <a:blip r:embed="rId3"/>
          <a:stretch>
            <a:fillRect/>
          </a:stretch>
        </p:blipFill>
        <p:spPr>
          <a:xfrm>
            <a:off x="8457103" y="3245023"/>
            <a:ext cx="294803" cy="294803"/>
          </a:xfrm>
          <a:prstGeom prst="rect">
            <a:avLst/>
          </a:prstGeom>
        </p:spPr>
      </p:pic>
      <p:sp>
        <p:nvSpPr>
          <p:cNvPr id="18" name="Text 13"/>
          <p:cNvSpPr txBox="1"/>
          <p:nvPr/>
        </p:nvSpPr>
        <p:spPr>
          <a:xfrm>
            <a:off x="9052560" y="3154680"/>
            <a:ext cx="2286000" cy="457200"/>
          </a:xfrm>
          <a:prstGeom prst="rect">
            <a:avLst/>
          </a:prstGeom>
          <a:noFill/>
          <a:ln/>
        </p:spPr>
        <p:txBody>
          <a:bodyPr wrap="square" lIns="0" tIns="0" rIns="0" bIns="0" rtlCol="0" anchor="ctr"/>
          <a:lstStyle/>
          <a:p>
            <a:pPr indent="0" marL="0">
              <a:buNone/>
            </a:pPr>
            <a:r>
              <a:rPr lang="en-US" sz="2000" b="1" dirty="0">
                <a:solidFill>
                  <a:srgbClr val="0F2533"/>
                </a:solidFill>
                <a:latin typeface="Cambria" pitchFamily="34" charset="0"/>
                <a:ea typeface="Cambria" pitchFamily="34" charset="-122"/>
                <a:cs typeface="Cambria" pitchFamily="34" charset="-120"/>
              </a:rPr>
              <a:t>Test context</a:t>
            </a:r>
            <a:endParaRPr lang="en-US" sz="2000" dirty="0"/>
          </a:p>
        </p:txBody>
      </p:sp>
      <p:sp>
        <p:nvSpPr>
          <p:cNvPr id="19" name="Text 14"/>
          <p:cNvSpPr txBox="1"/>
          <p:nvPr/>
        </p:nvSpPr>
        <p:spPr>
          <a:xfrm>
            <a:off x="8321040" y="3886200"/>
            <a:ext cx="2971800" cy="128016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Experiment 1: triage with alert events only versus full sensor context</a:t>
            </a:r>
            <a:endParaRPr lang="en-US" sz="1400" dirty="0"/>
          </a:p>
        </p:txBody>
      </p:sp>
      <p:sp>
        <p:nvSpPr>
          <p:cNvPr id="20" name="Text 15"/>
          <p:cNvSpPr txBox="1"/>
          <p:nvPr/>
        </p:nvSpPr>
        <p:spPr>
          <a:xfrm>
            <a:off x="548640" y="5623560"/>
            <a:ext cx="11094415" cy="36576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Constraints: open-source only  ·  no machine-learning detection  ·  the model authors rules, it never classifies traffic</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Keep the engine, automate the analyst</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Three stages — detection stays deterministic, the model works around it</a:t>
            </a:r>
            <a:endParaRPr lang="en-US" sz="1600" dirty="0"/>
          </a:p>
        </p:txBody>
      </p:sp>
      <p:sp>
        <p:nvSpPr>
          <p:cNvPr id="4" name="Shape 2"/>
          <p:cNvSpPr/>
          <p:nvPr/>
        </p:nvSpPr>
        <p:spPr>
          <a:xfrm>
            <a:off x="548640" y="1783080"/>
            <a:ext cx="3429000" cy="3931920"/>
          </a:xfrm>
          <a:prstGeom prst="roundRect">
            <a:avLst>
              <a:gd name="adj" fmla="val 2133"/>
            </a:avLst>
          </a:prstGeom>
          <a:solidFill>
            <a:srgbClr val="EEF3F8"/>
          </a:solidFill>
          <a:ln w="12700">
            <a:solidFill>
              <a:srgbClr val="EEF3F8"/>
            </a:solidFill>
            <a:prstDash val="solid"/>
          </a:ln>
        </p:spPr>
      </p:sp>
      <p:sp>
        <p:nvSpPr>
          <p:cNvPr id="5" name="Shape 3"/>
          <p:cNvSpPr/>
          <p:nvPr/>
        </p:nvSpPr>
        <p:spPr>
          <a:xfrm>
            <a:off x="822960" y="2011680"/>
            <a:ext cx="640080" cy="640080"/>
          </a:xfrm>
          <a:prstGeom prst="ellipse">
            <a:avLst/>
          </a:prstGeom>
          <a:solidFill>
            <a:srgbClr val="1F4E79"/>
          </a:solidFill>
          <a:ln w="12700">
            <a:solidFill>
              <a:srgbClr val="1F4E79"/>
            </a:solidFill>
            <a:prstDash val="solid"/>
          </a:ln>
        </p:spPr>
      </p:sp>
      <p:pic>
        <p:nvPicPr>
          <p:cNvPr id="6" name="Image 0" descr="preencoded.png">    </p:cNvPr>
          <p:cNvPicPr>
            <a:picLocks noChangeAspect="1"/>
          </p:cNvPicPr>
          <p:nvPr/>
        </p:nvPicPr>
        <p:blipFill>
          <a:blip r:embed="rId1"/>
          <a:stretch>
            <a:fillRect/>
          </a:stretch>
        </p:blipFill>
        <p:spPr>
          <a:xfrm>
            <a:off x="976579" y="2165299"/>
            <a:ext cx="332842" cy="332842"/>
          </a:xfrm>
          <a:prstGeom prst="rect">
            <a:avLst/>
          </a:prstGeom>
        </p:spPr>
      </p:pic>
      <p:sp>
        <p:nvSpPr>
          <p:cNvPr id="7" name="Text 4"/>
          <p:cNvSpPr txBox="1"/>
          <p:nvPr/>
        </p:nvSpPr>
        <p:spPr>
          <a:xfrm>
            <a:off x="1645920" y="2057400"/>
            <a:ext cx="2194560" cy="548640"/>
          </a:xfrm>
          <a:prstGeom prst="rect">
            <a:avLst/>
          </a:prstGeom>
          <a:noFill/>
          <a:ln/>
        </p:spPr>
        <p:txBody>
          <a:bodyPr wrap="square" lIns="0" tIns="0" rIns="0" bIns="0" rtlCol="0" anchor="ctr"/>
          <a:lstStyle/>
          <a:p>
            <a:pPr indent="0" marL="0">
              <a:buNone/>
            </a:pPr>
            <a:r>
              <a:rPr lang="en-US" sz="2100" b="1" dirty="0">
                <a:solidFill>
                  <a:srgbClr val="0F2533"/>
                </a:solidFill>
                <a:latin typeface="Cambria" pitchFamily="34" charset="0"/>
                <a:ea typeface="Cambria" pitchFamily="34" charset="-122"/>
                <a:cs typeface="Cambria" pitchFamily="34" charset="-120"/>
              </a:rPr>
              <a:t>1  Detection</a:t>
            </a:r>
            <a:endParaRPr lang="en-US" sz="2100" dirty="0"/>
          </a:p>
        </p:txBody>
      </p:sp>
      <p:sp>
        <p:nvSpPr>
          <p:cNvPr id="8" name="Text 5"/>
          <p:cNvSpPr txBox="1"/>
          <p:nvPr/>
        </p:nvSpPr>
        <p:spPr>
          <a:xfrm>
            <a:off x="822960" y="2880360"/>
            <a:ext cx="2926080" cy="26517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Suricata 8.0.6 replays pcap files</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ET Open ruleset, 52,647 rules</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Benign Monday baseline: 80 documented suppressions → 0 alerts</a:t>
            </a:r>
            <a:endParaRPr lang="en-US" sz="1400" dirty="0"/>
          </a:p>
        </p:txBody>
      </p:sp>
      <p:sp>
        <p:nvSpPr>
          <p:cNvPr id="9" name="Shape 6"/>
          <p:cNvSpPr/>
          <p:nvPr/>
        </p:nvSpPr>
        <p:spPr>
          <a:xfrm>
            <a:off x="3977640" y="3749040"/>
            <a:ext cx="365760" cy="0"/>
          </a:xfrm>
          <a:prstGeom prst="line">
            <a:avLst/>
          </a:prstGeom>
          <a:noFill/>
          <a:ln w="25400">
            <a:solidFill>
              <a:srgbClr val="D9822B"/>
            </a:solidFill>
            <a:prstDash val="solid"/>
            <a:tailEnd type="triangle"/>
          </a:ln>
        </p:spPr>
      </p:sp>
      <p:sp>
        <p:nvSpPr>
          <p:cNvPr id="10" name="Shape 7"/>
          <p:cNvSpPr/>
          <p:nvPr/>
        </p:nvSpPr>
        <p:spPr>
          <a:xfrm>
            <a:off x="4343400" y="1783080"/>
            <a:ext cx="3429000" cy="3931920"/>
          </a:xfrm>
          <a:prstGeom prst="roundRect">
            <a:avLst>
              <a:gd name="adj" fmla="val 2133"/>
            </a:avLst>
          </a:prstGeom>
          <a:solidFill>
            <a:srgbClr val="EEF3F8"/>
          </a:solidFill>
          <a:ln w="12700">
            <a:solidFill>
              <a:srgbClr val="EEF3F8"/>
            </a:solidFill>
            <a:prstDash val="solid"/>
          </a:ln>
        </p:spPr>
      </p:sp>
      <p:sp>
        <p:nvSpPr>
          <p:cNvPr id="11" name="Shape 8"/>
          <p:cNvSpPr/>
          <p:nvPr/>
        </p:nvSpPr>
        <p:spPr>
          <a:xfrm>
            <a:off x="4617720" y="2011680"/>
            <a:ext cx="640080" cy="640080"/>
          </a:xfrm>
          <a:prstGeom prst="ellipse">
            <a:avLst/>
          </a:prstGeom>
          <a:solidFill>
            <a:srgbClr val="D9822B"/>
          </a:solidFill>
          <a:ln w="12700">
            <a:solidFill>
              <a:srgbClr val="D9822B"/>
            </a:solidFill>
            <a:prstDash val="solid"/>
          </a:ln>
        </p:spPr>
      </p:sp>
      <p:pic>
        <p:nvPicPr>
          <p:cNvPr id="12" name="Image 1" descr="preencoded.png">    </p:cNvPr>
          <p:cNvPicPr>
            <a:picLocks noChangeAspect="1"/>
          </p:cNvPicPr>
          <p:nvPr/>
        </p:nvPicPr>
        <p:blipFill>
          <a:blip r:embed="rId2"/>
          <a:stretch>
            <a:fillRect/>
          </a:stretch>
        </p:blipFill>
        <p:spPr>
          <a:xfrm>
            <a:off x="4771339" y="2165299"/>
            <a:ext cx="332842" cy="332842"/>
          </a:xfrm>
          <a:prstGeom prst="rect">
            <a:avLst/>
          </a:prstGeom>
        </p:spPr>
      </p:pic>
      <p:sp>
        <p:nvSpPr>
          <p:cNvPr id="13" name="Text 9"/>
          <p:cNvSpPr txBox="1"/>
          <p:nvPr/>
        </p:nvSpPr>
        <p:spPr>
          <a:xfrm>
            <a:off x="5440680" y="2057400"/>
            <a:ext cx="2194560" cy="548640"/>
          </a:xfrm>
          <a:prstGeom prst="rect">
            <a:avLst/>
          </a:prstGeom>
          <a:noFill/>
          <a:ln/>
        </p:spPr>
        <p:txBody>
          <a:bodyPr wrap="square" lIns="0" tIns="0" rIns="0" bIns="0" rtlCol="0" anchor="ctr"/>
          <a:lstStyle/>
          <a:p>
            <a:pPr indent="0" marL="0">
              <a:buNone/>
            </a:pPr>
            <a:r>
              <a:rPr lang="en-US" sz="2100" b="1" dirty="0">
                <a:solidFill>
                  <a:srgbClr val="0F2533"/>
                </a:solidFill>
                <a:latin typeface="Cambria" pitchFamily="34" charset="0"/>
                <a:ea typeface="Cambria" pitchFamily="34" charset="-122"/>
                <a:cs typeface="Cambria" pitchFamily="34" charset="-120"/>
              </a:rPr>
              <a:t>2  Triage</a:t>
            </a:r>
            <a:endParaRPr lang="en-US" sz="2100" dirty="0"/>
          </a:p>
        </p:txBody>
      </p:sp>
      <p:sp>
        <p:nvSpPr>
          <p:cNvPr id="14" name="Text 10"/>
          <p:cNvSpPr txBox="1"/>
          <p:nvPr/>
        </p:nvSpPr>
        <p:spPr>
          <a:xfrm>
            <a:off x="4617720" y="2880360"/>
            <a:ext cx="2926080" cy="26517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LLM agent investigates eve.json</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Six-step procedure: big picture → categorise → investigate → deep-dive → act → report</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8 tools, no free shell access</a:t>
            </a:r>
            <a:endParaRPr lang="en-US" sz="1400" dirty="0"/>
          </a:p>
        </p:txBody>
      </p:sp>
      <p:sp>
        <p:nvSpPr>
          <p:cNvPr id="15" name="Shape 11"/>
          <p:cNvSpPr/>
          <p:nvPr/>
        </p:nvSpPr>
        <p:spPr>
          <a:xfrm>
            <a:off x="7772400" y="3749040"/>
            <a:ext cx="365760" cy="0"/>
          </a:xfrm>
          <a:prstGeom prst="line">
            <a:avLst/>
          </a:prstGeom>
          <a:noFill/>
          <a:ln w="25400">
            <a:solidFill>
              <a:srgbClr val="D9822B"/>
            </a:solidFill>
            <a:prstDash val="solid"/>
            <a:tailEnd type="triangle"/>
          </a:ln>
        </p:spPr>
      </p:sp>
      <p:sp>
        <p:nvSpPr>
          <p:cNvPr id="16" name="Shape 12"/>
          <p:cNvSpPr/>
          <p:nvPr/>
        </p:nvSpPr>
        <p:spPr>
          <a:xfrm>
            <a:off x="8138160" y="1783080"/>
            <a:ext cx="3429000" cy="3931920"/>
          </a:xfrm>
          <a:prstGeom prst="roundRect">
            <a:avLst>
              <a:gd name="adj" fmla="val 2133"/>
            </a:avLst>
          </a:prstGeom>
          <a:solidFill>
            <a:srgbClr val="EEF3F8"/>
          </a:solidFill>
          <a:ln w="12700">
            <a:solidFill>
              <a:srgbClr val="EEF3F8"/>
            </a:solidFill>
            <a:prstDash val="solid"/>
          </a:ln>
        </p:spPr>
      </p:sp>
      <p:sp>
        <p:nvSpPr>
          <p:cNvPr id="17" name="Shape 13"/>
          <p:cNvSpPr/>
          <p:nvPr/>
        </p:nvSpPr>
        <p:spPr>
          <a:xfrm>
            <a:off x="8412480" y="2011680"/>
            <a:ext cx="640080" cy="640080"/>
          </a:xfrm>
          <a:prstGeom prst="ellipse">
            <a:avLst/>
          </a:prstGeom>
          <a:solidFill>
            <a:srgbClr val="1F4E79"/>
          </a:solidFill>
          <a:ln w="12700">
            <a:solidFill>
              <a:srgbClr val="1F4E79"/>
            </a:solidFill>
            <a:prstDash val="solid"/>
          </a:ln>
        </p:spPr>
      </p:sp>
      <p:pic>
        <p:nvPicPr>
          <p:cNvPr id="18" name="Image 2" descr="preencoded.png">    </p:cNvPr>
          <p:cNvPicPr>
            <a:picLocks noChangeAspect="1"/>
          </p:cNvPicPr>
          <p:nvPr/>
        </p:nvPicPr>
        <p:blipFill>
          <a:blip r:embed="rId3"/>
          <a:stretch>
            <a:fillRect/>
          </a:stretch>
        </p:blipFill>
        <p:spPr>
          <a:xfrm>
            <a:off x="8566099" y="2165299"/>
            <a:ext cx="332842" cy="332842"/>
          </a:xfrm>
          <a:prstGeom prst="rect">
            <a:avLst/>
          </a:prstGeom>
        </p:spPr>
      </p:pic>
      <p:sp>
        <p:nvSpPr>
          <p:cNvPr id="19" name="Text 14"/>
          <p:cNvSpPr txBox="1"/>
          <p:nvPr/>
        </p:nvSpPr>
        <p:spPr>
          <a:xfrm>
            <a:off x="9235440" y="2057400"/>
            <a:ext cx="2194560" cy="548640"/>
          </a:xfrm>
          <a:prstGeom prst="rect">
            <a:avLst/>
          </a:prstGeom>
          <a:noFill/>
          <a:ln/>
        </p:spPr>
        <p:txBody>
          <a:bodyPr wrap="square" lIns="0" tIns="0" rIns="0" bIns="0" rtlCol="0" anchor="ctr"/>
          <a:lstStyle/>
          <a:p>
            <a:pPr indent="0" marL="0">
              <a:buNone/>
            </a:pPr>
            <a:r>
              <a:rPr lang="en-US" sz="2100" b="1" dirty="0">
                <a:solidFill>
                  <a:srgbClr val="0F2533"/>
                </a:solidFill>
                <a:latin typeface="Cambria" pitchFamily="34" charset="0"/>
                <a:ea typeface="Cambria" pitchFamily="34" charset="-122"/>
                <a:cs typeface="Cambria" pitchFamily="34" charset="-120"/>
              </a:rPr>
              <a:t>3  Output</a:t>
            </a:r>
            <a:endParaRPr lang="en-US" sz="2100" dirty="0"/>
          </a:p>
        </p:txBody>
      </p:sp>
      <p:sp>
        <p:nvSpPr>
          <p:cNvPr id="20" name="Text 15"/>
          <p:cNvSpPr txBox="1"/>
          <p:nvPr/>
        </p:nvSpPr>
        <p:spPr>
          <a:xfrm>
            <a:off x="8412480" y="2880360"/>
            <a:ext cx="2926080" cy="26517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Threat → write rule → validate by replay → auto-deploy</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Benign noise → propose suppression → human approval</a:t>
            </a:r>
            <a:endParaRPr lang="en-US" sz="1400" dirty="0"/>
          </a:p>
        </p:txBody>
      </p:sp>
      <p:sp>
        <p:nvSpPr>
          <p:cNvPr id="21" name="Text 16"/>
          <p:cNvSpPr txBox="1"/>
          <p:nvPr/>
        </p:nvSpPr>
        <p:spPr>
          <a:xfrm>
            <a:off x="548640" y="6400800"/>
            <a:ext cx="11094415" cy="274320"/>
          </a:xfrm>
          <a:prstGeom prst="rect">
            <a:avLst/>
          </a:prstGeom>
          <a:noFill/>
          <a:ln/>
        </p:spPr>
        <p:txBody>
          <a:bodyPr wrap="square" lIns="0" tIns="0" rIns="0" bIns="0" rtlCol="0" anchor="t"/>
          <a:lstStyle/>
          <a:p>
            <a:pPr indent="0" marL="0">
              <a:buNone/>
            </a:pPr>
            <a:r>
              <a:rPr lang="en-US" sz="1000" dirty="0">
                <a:solidFill>
                  <a:srgbClr val="9AA3AD"/>
                </a:solidFill>
                <a:latin typeface="Calibri" pitchFamily="34" charset="0"/>
                <a:ea typeface="Calibri" pitchFamily="34" charset="-122"/>
                <a:cs typeface="Calibri" pitchFamily="34" charset="-120"/>
              </a:rPr>
              <a:t>Design decisions: alert-only rules (a Suricata 'pass' rule would stop inspecting the whole flow); offline pcap replay; all tuning in threshold.config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Tech stack and architecture</a:t>
            </a:r>
            <a:endParaRPr lang="en-US" sz="3400" dirty="0"/>
          </a:p>
        </p:txBody>
      </p:sp>
      <p:sp>
        <p:nvSpPr>
          <p:cNvPr id="3" name="Shape 1"/>
          <p:cNvSpPr/>
          <p:nvPr/>
        </p:nvSpPr>
        <p:spPr>
          <a:xfrm>
            <a:off x="548640" y="1554480"/>
            <a:ext cx="1737360" cy="822960"/>
          </a:xfrm>
          <a:prstGeom prst="roundRect">
            <a:avLst>
              <a:gd name="adj" fmla="val 8889"/>
            </a:avLst>
          </a:prstGeom>
          <a:solidFill>
            <a:srgbClr val="EEF3F8"/>
          </a:solidFill>
          <a:ln w="12700">
            <a:solidFill>
              <a:srgbClr val="EEF3F8"/>
            </a:solidFill>
            <a:prstDash val="solid"/>
          </a:ln>
        </p:spPr>
      </p:sp>
      <p:sp>
        <p:nvSpPr>
          <p:cNvPr id="4" name="Text 2"/>
          <p:cNvSpPr txBox="1"/>
          <p:nvPr/>
        </p:nvSpPr>
        <p:spPr>
          <a:xfrm>
            <a:off x="548640" y="1554480"/>
            <a:ext cx="1737360" cy="822960"/>
          </a:xfrm>
          <a:prstGeom prst="rect">
            <a:avLst/>
          </a:prstGeom>
          <a:noFill/>
          <a:ln/>
        </p:spPr>
        <p:txBody>
          <a:bodyPr wrap="square" lIns="0" tIns="0" rIns="0" bIns="0" rtlCol="0" anchor="ctr"/>
          <a:lstStyle/>
          <a:p>
            <a:pPr algn="ctr" indent="0" marL="0">
              <a:buNone/>
            </a:pPr>
            <a:r>
              <a:rPr lang="en-US" sz="1300" b="1" dirty="0">
                <a:solidFill>
                  <a:srgbClr val="0F2533"/>
                </a:solidFill>
                <a:latin typeface="Calibri" pitchFamily="34" charset="0"/>
                <a:ea typeface="Calibri" pitchFamily="34" charset="-122"/>
                <a:cs typeface="Calibri" pitchFamily="34" charset="-120"/>
              </a:rPr>
              <a:t>pcap captures</a:t>
            </a:r>
            <a:endParaRPr lang="en-US" sz="1300" dirty="0"/>
          </a:p>
          <a:p>
            <a:pPr algn="ctr" indent="0" marL="0">
              <a:buNone/>
            </a:pPr>
            <a:r>
              <a:rPr lang="en-US" sz="1300" b="1" dirty="0">
                <a:solidFill>
                  <a:srgbClr val="0F2533"/>
                </a:solidFill>
                <a:latin typeface="Calibri" pitchFamily="34" charset="0"/>
                <a:ea typeface="Calibri" pitchFamily="34" charset="-122"/>
                <a:cs typeface="Calibri" pitchFamily="34" charset="-120"/>
              </a:rPr>
              <a:t>CIC-IDS2017 · UNSW-NB15</a:t>
            </a:r>
            <a:endParaRPr lang="en-US" sz="1300" dirty="0"/>
          </a:p>
        </p:txBody>
      </p:sp>
      <p:sp>
        <p:nvSpPr>
          <p:cNvPr id="5" name="Shape 3"/>
          <p:cNvSpPr/>
          <p:nvPr/>
        </p:nvSpPr>
        <p:spPr>
          <a:xfrm>
            <a:off x="2743200" y="1554480"/>
            <a:ext cx="1737360" cy="822960"/>
          </a:xfrm>
          <a:prstGeom prst="roundRect">
            <a:avLst>
              <a:gd name="adj" fmla="val 8889"/>
            </a:avLst>
          </a:prstGeom>
          <a:solidFill>
            <a:srgbClr val="1F4E79"/>
          </a:solidFill>
          <a:ln w="12700">
            <a:solidFill>
              <a:srgbClr val="1F4E79"/>
            </a:solidFill>
            <a:prstDash val="solid"/>
          </a:ln>
        </p:spPr>
      </p:sp>
      <p:sp>
        <p:nvSpPr>
          <p:cNvPr id="6" name="Text 4"/>
          <p:cNvSpPr txBox="1"/>
          <p:nvPr/>
        </p:nvSpPr>
        <p:spPr>
          <a:xfrm>
            <a:off x="2743200" y="1554480"/>
            <a:ext cx="173736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Suricata 8.0.6</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 ET Open + AI rules</a:t>
            </a:r>
            <a:endParaRPr lang="en-US" sz="1300" dirty="0"/>
          </a:p>
        </p:txBody>
      </p:sp>
      <p:sp>
        <p:nvSpPr>
          <p:cNvPr id="7" name="Shape 5"/>
          <p:cNvSpPr/>
          <p:nvPr/>
        </p:nvSpPr>
        <p:spPr>
          <a:xfrm>
            <a:off x="4937760" y="1554480"/>
            <a:ext cx="1737360" cy="822960"/>
          </a:xfrm>
          <a:prstGeom prst="roundRect">
            <a:avLst>
              <a:gd name="adj" fmla="val 8889"/>
            </a:avLst>
          </a:prstGeom>
          <a:solidFill>
            <a:srgbClr val="EEF3F8"/>
          </a:solidFill>
          <a:ln w="12700">
            <a:solidFill>
              <a:srgbClr val="EEF3F8"/>
            </a:solidFill>
            <a:prstDash val="solid"/>
          </a:ln>
        </p:spPr>
      </p:sp>
      <p:sp>
        <p:nvSpPr>
          <p:cNvPr id="8" name="Text 6"/>
          <p:cNvSpPr txBox="1"/>
          <p:nvPr/>
        </p:nvSpPr>
        <p:spPr>
          <a:xfrm>
            <a:off x="4937760" y="1554480"/>
            <a:ext cx="1737360" cy="822960"/>
          </a:xfrm>
          <a:prstGeom prst="rect">
            <a:avLst/>
          </a:prstGeom>
          <a:noFill/>
          <a:ln/>
        </p:spPr>
        <p:txBody>
          <a:bodyPr wrap="square" lIns="0" tIns="0" rIns="0" bIns="0" rtlCol="0" anchor="ctr"/>
          <a:lstStyle/>
          <a:p>
            <a:pPr algn="ctr" indent="0" marL="0">
              <a:buNone/>
            </a:pPr>
            <a:r>
              <a:rPr lang="en-US" sz="1300" b="1" dirty="0">
                <a:solidFill>
                  <a:srgbClr val="0F2533"/>
                </a:solidFill>
                <a:latin typeface="Calibri" pitchFamily="34" charset="0"/>
                <a:ea typeface="Calibri" pitchFamily="34" charset="-122"/>
                <a:cs typeface="Calibri" pitchFamily="34" charset="-120"/>
              </a:rPr>
              <a:t>eve.json (NDJSON)</a:t>
            </a:r>
            <a:endParaRPr lang="en-US" sz="1300" dirty="0"/>
          </a:p>
          <a:p>
            <a:pPr algn="ctr" indent="0" marL="0">
              <a:buNone/>
            </a:pPr>
            <a:r>
              <a:rPr lang="en-US" sz="1300" b="1" dirty="0">
                <a:solidFill>
                  <a:srgbClr val="0F2533"/>
                </a:solidFill>
                <a:latin typeface="Calibri" pitchFamily="34" charset="0"/>
                <a:ea typeface="Calibri" pitchFamily="34" charset="-122"/>
                <a:cs typeface="Calibri" pitchFamily="34" charset="-120"/>
              </a:rPr>
              <a:t>alerts · flows · app-layer</a:t>
            </a:r>
            <a:endParaRPr lang="en-US" sz="1300" dirty="0"/>
          </a:p>
        </p:txBody>
      </p:sp>
      <p:sp>
        <p:nvSpPr>
          <p:cNvPr id="9" name="Shape 7"/>
          <p:cNvSpPr/>
          <p:nvPr/>
        </p:nvSpPr>
        <p:spPr>
          <a:xfrm>
            <a:off x="4937760" y="3063240"/>
            <a:ext cx="1737360" cy="1005840"/>
          </a:xfrm>
          <a:prstGeom prst="roundRect">
            <a:avLst>
              <a:gd name="adj" fmla="val 7273"/>
            </a:avLst>
          </a:prstGeom>
          <a:solidFill>
            <a:srgbClr val="D9822B"/>
          </a:solidFill>
          <a:ln w="12700">
            <a:solidFill>
              <a:srgbClr val="D9822B"/>
            </a:solidFill>
            <a:prstDash val="solid"/>
          </a:ln>
        </p:spPr>
      </p:sp>
      <p:sp>
        <p:nvSpPr>
          <p:cNvPr id="10" name="Text 8"/>
          <p:cNvSpPr txBox="1"/>
          <p:nvPr/>
        </p:nvSpPr>
        <p:spPr>
          <a:xfrm>
            <a:off x="4937760" y="3063240"/>
            <a:ext cx="1737360" cy="10058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Triage engine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(Python, agentic loop)</a:t>
            </a:r>
            <a:endParaRPr lang="en-US" sz="1300" dirty="0"/>
          </a:p>
        </p:txBody>
      </p:sp>
      <p:sp>
        <p:nvSpPr>
          <p:cNvPr id="11" name="Shape 9"/>
          <p:cNvSpPr/>
          <p:nvPr/>
        </p:nvSpPr>
        <p:spPr>
          <a:xfrm>
            <a:off x="2377440" y="3063240"/>
            <a:ext cx="2103120" cy="1005840"/>
          </a:xfrm>
          <a:prstGeom prst="roundRect">
            <a:avLst>
              <a:gd name="adj" fmla="val 7273"/>
            </a:avLst>
          </a:prstGeom>
          <a:solidFill>
            <a:srgbClr val="EEF3F8"/>
          </a:solidFill>
          <a:ln w="12700">
            <a:solidFill>
              <a:srgbClr val="EEF3F8"/>
            </a:solidFill>
            <a:prstDash val="solid"/>
          </a:ln>
        </p:spPr>
      </p:sp>
      <p:sp>
        <p:nvSpPr>
          <p:cNvPr id="12" name="Text 10"/>
          <p:cNvSpPr txBox="1"/>
          <p:nvPr/>
        </p:nvSpPr>
        <p:spPr>
          <a:xfrm>
            <a:off x="2377440" y="3063240"/>
            <a:ext cx="2103120" cy="1005840"/>
          </a:xfrm>
          <a:prstGeom prst="rect">
            <a:avLst/>
          </a:prstGeom>
          <a:noFill/>
          <a:ln/>
        </p:spPr>
        <p:txBody>
          <a:bodyPr wrap="square" lIns="0" tIns="0" rIns="0" bIns="0" rtlCol="0" anchor="ctr"/>
          <a:lstStyle/>
          <a:p>
            <a:pPr algn="ctr" indent="0" marL="0">
              <a:buNone/>
            </a:pPr>
            <a:r>
              <a:rPr lang="en-US" sz="1300" b="1" dirty="0">
                <a:solidFill>
                  <a:srgbClr val="0F2533"/>
                </a:solidFill>
                <a:latin typeface="Calibri" pitchFamily="34" charset="0"/>
                <a:ea typeface="Calibri" pitchFamily="34" charset="-122"/>
                <a:cs typeface="Calibri" pitchFamily="34" charset="-120"/>
              </a:rPr>
              <a:t>Provider adapter</a:t>
            </a:r>
            <a:endParaRPr lang="en-US" sz="1300" dirty="0"/>
          </a:p>
          <a:p>
            <a:pPr algn="ctr" indent="0" marL="0">
              <a:buNone/>
            </a:pPr>
            <a:r>
              <a:rPr lang="en-US" sz="1300" b="1" dirty="0">
                <a:solidFill>
                  <a:srgbClr val="0F2533"/>
                </a:solidFill>
                <a:latin typeface="Calibri" pitchFamily="34" charset="0"/>
                <a:ea typeface="Calibri" pitchFamily="34" charset="-122"/>
                <a:cs typeface="Calibri" pitchFamily="34" charset="-120"/>
              </a:rPr>
              <a:t>identical prompt + tools</a:t>
            </a:r>
            <a:endParaRPr lang="en-US" sz="1300" dirty="0"/>
          </a:p>
        </p:txBody>
      </p:sp>
      <p:sp>
        <p:nvSpPr>
          <p:cNvPr id="13" name="Shape 11"/>
          <p:cNvSpPr/>
          <p:nvPr/>
        </p:nvSpPr>
        <p:spPr>
          <a:xfrm>
            <a:off x="548640" y="4572000"/>
            <a:ext cx="1737360" cy="685800"/>
          </a:xfrm>
          <a:prstGeom prst="roundRect">
            <a:avLst>
              <a:gd name="adj" fmla="val 10667"/>
            </a:avLst>
          </a:prstGeom>
          <a:solidFill>
            <a:srgbClr val="1F4E79"/>
          </a:solidFill>
          <a:ln w="12700">
            <a:solidFill>
              <a:srgbClr val="1F4E79"/>
            </a:solidFill>
            <a:prstDash val="solid"/>
          </a:ln>
        </p:spPr>
      </p:sp>
      <p:sp>
        <p:nvSpPr>
          <p:cNvPr id="14" name="Text 12"/>
          <p:cNvSpPr txBox="1"/>
          <p:nvPr/>
        </p:nvSpPr>
        <p:spPr>
          <a:xfrm>
            <a:off x="548640" y="4572000"/>
            <a:ext cx="173736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Claude Opus 5</a:t>
            </a:r>
            <a:endParaRPr lang="en-US" sz="1300" dirty="0"/>
          </a:p>
        </p:txBody>
      </p:sp>
      <p:sp>
        <p:nvSpPr>
          <p:cNvPr id="15" name="Shape 13"/>
          <p:cNvSpPr/>
          <p:nvPr/>
        </p:nvSpPr>
        <p:spPr>
          <a:xfrm>
            <a:off x="2514600" y="4572000"/>
            <a:ext cx="1737360" cy="685800"/>
          </a:xfrm>
          <a:prstGeom prst="roundRect">
            <a:avLst>
              <a:gd name="adj" fmla="val 10667"/>
            </a:avLst>
          </a:prstGeom>
          <a:solidFill>
            <a:srgbClr val="1F4E79"/>
          </a:solidFill>
          <a:ln w="12700">
            <a:solidFill>
              <a:srgbClr val="1F4E79"/>
            </a:solidFill>
            <a:prstDash val="solid"/>
          </a:ln>
        </p:spPr>
      </p:sp>
      <p:sp>
        <p:nvSpPr>
          <p:cNvPr id="16" name="Text 14"/>
          <p:cNvSpPr txBox="1"/>
          <p:nvPr/>
        </p:nvSpPr>
        <p:spPr>
          <a:xfrm>
            <a:off x="2514600" y="4572000"/>
            <a:ext cx="173736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DeepSeek V3 / V4 Pro</a:t>
            </a:r>
            <a:endParaRPr lang="en-US" sz="1300" dirty="0"/>
          </a:p>
        </p:txBody>
      </p:sp>
      <p:sp>
        <p:nvSpPr>
          <p:cNvPr id="17" name="Shape 15"/>
          <p:cNvSpPr/>
          <p:nvPr/>
        </p:nvSpPr>
        <p:spPr>
          <a:xfrm>
            <a:off x="4937760" y="4800600"/>
            <a:ext cx="1737360" cy="868680"/>
          </a:xfrm>
          <a:prstGeom prst="roundRect">
            <a:avLst>
              <a:gd name="adj" fmla="val 8421"/>
            </a:avLst>
          </a:prstGeom>
          <a:solidFill>
            <a:srgbClr val="EEF3F8"/>
          </a:solidFill>
          <a:ln w="12700">
            <a:solidFill>
              <a:srgbClr val="EEF3F8"/>
            </a:solidFill>
            <a:prstDash val="solid"/>
          </a:ln>
        </p:spPr>
      </p:sp>
      <p:sp>
        <p:nvSpPr>
          <p:cNvPr id="18" name="Text 16"/>
          <p:cNvSpPr txBox="1"/>
          <p:nvPr/>
        </p:nvSpPr>
        <p:spPr>
          <a:xfrm>
            <a:off x="4937760" y="4800600"/>
            <a:ext cx="1737360" cy="868680"/>
          </a:xfrm>
          <a:prstGeom prst="rect">
            <a:avLst/>
          </a:prstGeom>
          <a:noFill/>
          <a:ln/>
        </p:spPr>
        <p:txBody>
          <a:bodyPr wrap="square" lIns="0" tIns="0" rIns="0" bIns="0" rtlCol="0" anchor="ctr"/>
          <a:lstStyle/>
          <a:p>
            <a:pPr algn="ctr" indent="0" marL="0">
              <a:buNone/>
            </a:pPr>
            <a:r>
              <a:rPr lang="en-US" sz="1300" b="1" dirty="0">
                <a:solidFill>
                  <a:srgbClr val="0F2533"/>
                </a:solidFill>
                <a:latin typeface="Calibri" pitchFamily="34" charset="0"/>
                <a:ea typeface="Calibri" pitchFamily="34" charset="-122"/>
                <a:cs typeface="Calibri" pitchFamily="34" charset="-120"/>
              </a:rPr>
              <a:t>rules/generated/</a:t>
            </a:r>
            <a:endParaRPr lang="en-US" sz="1300" dirty="0"/>
          </a:p>
          <a:p>
            <a:pPr algn="ctr" indent="0" marL="0">
              <a:buNone/>
            </a:pPr>
            <a:r>
              <a:rPr lang="en-US" sz="1300" b="1" dirty="0">
                <a:solidFill>
                  <a:srgbClr val="0F2533"/>
                </a:solidFill>
                <a:latin typeface="Calibri" pitchFamily="34" charset="0"/>
                <a:ea typeface="Calibri" pitchFamily="34" charset="-122"/>
                <a:cs typeface="Calibri" pitchFamily="34" charset="-120"/>
              </a:rPr>
              <a:t>replay-validated</a:t>
            </a:r>
            <a:endParaRPr lang="en-US" sz="1300" dirty="0"/>
          </a:p>
        </p:txBody>
      </p:sp>
      <p:sp>
        <p:nvSpPr>
          <p:cNvPr id="19" name="Shape 17"/>
          <p:cNvSpPr/>
          <p:nvPr/>
        </p:nvSpPr>
        <p:spPr>
          <a:xfrm>
            <a:off x="7223760" y="3063240"/>
            <a:ext cx="1645920" cy="1005840"/>
          </a:xfrm>
          <a:prstGeom prst="roundRect">
            <a:avLst>
              <a:gd name="adj" fmla="val 7273"/>
            </a:avLst>
          </a:prstGeom>
          <a:solidFill>
            <a:srgbClr val="EEF3F8"/>
          </a:solidFill>
          <a:ln w="12700">
            <a:solidFill>
              <a:srgbClr val="EEF3F8"/>
            </a:solidFill>
            <a:prstDash val="solid"/>
          </a:ln>
        </p:spPr>
      </p:sp>
      <p:sp>
        <p:nvSpPr>
          <p:cNvPr id="20" name="Text 18"/>
          <p:cNvSpPr txBox="1"/>
          <p:nvPr/>
        </p:nvSpPr>
        <p:spPr>
          <a:xfrm>
            <a:off x="7223760" y="3063240"/>
            <a:ext cx="1645920" cy="1005840"/>
          </a:xfrm>
          <a:prstGeom prst="rect">
            <a:avLst/>
          </a:prstGeom>
          <a:noFill/>
          <a:ln/>
        </p:spPr>
        <p:txBody>
          <a:bodyPr wrap="square" lIns="0" tIns="0" rIns="0" bIns="0" rtlCol="0" anchor="ctr"/>
          <a:lstStyle/>
          <a:p>
            <a:pPr algn="ctr" indent="0" marL="0">
              <a:buNone/>
            </a:pPr>
            <a:r>
              <a:rPr lang="en-US" sz="1300" b="1" dirty="0">
                <a:solidFill>
                  <a:srgbClr val="0F2533"/>
                </a:solidFill>
                <a:latin typeface="Calibri" pitchFamily="34" charset="0"/>
                <a:ea typeface="Calibri" pitchFamily="34" charset="-122"/>
                <a:cs typeface="Calibri" pitchFamily="34" charset="-120"/>
              </a:rPr>
              <a:t>Web UI</a:t>
            </a:r>
            <a:endParaRPr lang="en-US" sz="1300" dirty="0"/>
          </a:p>
          <a:p>
            <a:pPr algn="ctr" indent="0" marL="0">
              <a:buNone/>
            </a:pPr>
            <a:r>
              <a:rPr lang="en-US" sz="1300" b="1" dirty="0">
                <a:solidFill>
                  <a:srgbClr val="0F2533"/>
                </a:solidFill>
                <a:latin typeface="Calibri" pitchFamily="34" charset="0"/>
                <a:ea typeface="Calibri" pitchFamily="34" charset="-122"/>
                <a:cs typeface="Calibri" pitchFamily="34" charset="-120"/>
              </a:rPr>
              <a:t>FastAPI + SSE stream</a:t>
            </a:r>
            <a:endParaRPr lang="en-US" sz="1300" dirty="0"/>
          </a:p>
        </p:txBody>
      </p:sp>
      <p:sp>
        <p:nvSpPr>
          <p:cNvPr id="21" name="Shape 19"/>
          <p:cNvSpPr/>
          <p:nvPr/>
        </p:nvSpPr>
        <p:spPr>
          <a:xfrm>
            <a:off x="2286000" y="1965960"/>
            <a:ext cx="457200" cy="0"/>
          </a:xfrm>
          <a:prstGeom prst="line">
            <a:avLst/>
          </a:prstGeom>
          <a:noFill/>
          <a:ln w="25400">
            <a:solidFill>
              <a:srgbClr val="5B6B7A"/>
            </a:solidFill>
            <a:prstDash val="solid"/>
            <a:tailEnd type="triangle"/>
          </a:ln>
        </p:spPr>
      </p:sp>
      <p:sp>
        <p:nvSpPr>
          <p:cNvPr id="22" name="Shape 20"/>
          <p:cNvSpPr/>
          <p:nvPr/>
        </p:nvSpPr>
        <p:spPr>
          <a:xfrm>
            <a:off x="4480560" y="1965960"/>
            <a:ext cx="457200" cy="0"/>
          </a:xfrm>
          <a:prstGeom prst="line">
            <a:avLst/>
          </a:prstGeom>
          <a:noFill/>
          <a:ln w="25400">
            <a:solidFill>
              <a:srgbClr val="5B6B7A"/>
            </a:solidFill>
            <a:prstDash val="solid"/>
            <a:tailEnd type="triangle"/>
          </a:ln>
        </p:spPr>
      </p:sp>
      <p:sp>
        <p:nvSpPr>
          <p:cNvPr id="23" name="Shape 21"/>
          <p:cNvSpPr/>
          <p:nvPr/>
        </p:nvSpPr>
        <p:spPr>
          <a:xfrm>
            <a:off x="5806440" y="2377440"/>
            <a:ext cx="0" cy="685800"/>
          </a:xfrm>
          <a:prstGeom prst="line">
            <a:avLst/>
          </a:prstGeom>
          <a:noFill/>
          <a:ln w="25400">
            <a:solidFill>
              <a:srgbClr val="5B6B7A"/>
            </a:solidFill>
            <a:prstDash val="solid"/>
            <a:tailEnd type="triangle"/>
          </a:ln>
        </p:spPr>
      </p:sp>
      <p:sp>
        <p:nvSpPr>
          <p:cNvPr id="24" name="Shape 22"/>
          <p:cNvSpPr/>
          <p:nvPr/>
        </p:nvSpPr>
        <p:spPr>
          <a:xfrm flipH="1">
            <a:off x="4480560" y="3566160"/>
            <a:ext cx="457200" cy="0"/>
          </a:xfrm>
          <a:prstGeom prst="line">
            <a:avLst/>
          </a:prstGeom>
          <a:noFill/>
          <a:ln w="25400">
            <a:solidFill>
              <a:srgbClr val="5B6B7A"/>
            </a:solidFill>
            <a:prstDash val="solid"/>
            <a:tailEnd type="triangle"/>
          </a:ln>
        </p:spPr>
      </p:sp>
      <p:sp>
        <p:nvSpPr>
          <p:cNvPr id="25" name="Shape 23"/>
          <p:cNvSpPr/>
          <p:nvPr/>
        </p:nvSpPr>
        <p:spPr>
          <a:xfrm flipH="1">
            <a:off x="1417320" y="4069080"/>
            <a:ext cx="1508760" cy="502920"/>
          </a:xfrm>
          <a:prstGeom prst="line">
            <a:avLst/>
          </a:prstGeom>
          <a:noFill/>
          <a:ln w="25400">
            <a:solidFill>
              <a:srgbClr val="5B6B7A"/>
            </a:solidFill>
            <a:prstDash val="solid"/>
            <a:tailEnd type="triangle"/>
          </a:ln>
        </p:spPr>
      </p:sp>
      <p:sp>
        <p:nvSpPr>
          <p:cNvPr id="26" name="Shape 24"/>
          <p:cNvSpPr/>
          <p:nvPr/>
        </p:nvSpPr>
        <p:spPr>
          <a:xfrm flipH="1">
            <a:off x="3383280" y="4069080"/>
            <a:ext cx="45720" cy="502920"/>
          </a:xfrm>
          <a:prstGeom prst="line">
            <a:avLst/>
          </a:prstGeom>
          <a:noFill/>
          <a:ln w="25400">
            <a:solidFill>
              <a:srgbClr val="5B6B7A"/>
            </a:solidFill>
            <a:prstDash val="solid"/>
            <a:tailEnd type="triangle"/>
          </a:ln>
        </p:spPr>
      </p:sp>
      <p:sp>
        <p:nvSpPr>
          <p:cNvPr id="27" name="Shape 25"/>
          <p:cNvSpPr/>
          <p:nvPr/>
        </p:nvSpPr>
        <p:spPr>
          <a:xfrm>
            <a:off x="5806440" y="4069080"/>
            <a:ext cx="0" cy="731520"/>
          </a:xfrm>
          <a:prstGeom prst="line">
            <a:avLst/>
          </a:prstGeom>
          <a:noFill/>
          <a:ln w="25400">
            <a:solidFill>
              <a:srgbClr val="5B6B7A"/>
            </a:solidFill>
            <a:prstDash val="solid"/>
            <a:tailEnd type="triangle"/>
          </a:ln>
        </p:spPr>
      </p:sp>
      <p:sp>
        <p:nvSpPr>
          <p:cNvPr id="28" name="Shape 26"/>
          <p:cNvSpPr/>
          <p:nvPr/>
        </p:nvSpPr>
        <p:spPr>
          <a:xfrm>
            <a:off x="6675120" y="3566160"/>
            <a:ext cx="548640" cy="0"/>
          </a:xfrm>
          <a:prstGeom prst="line">
            <a:avLst/>
          </a:prstGeom>
          <a:noFill/>
          <a:ln w="25400">
            <a:solidFill>
              <a:srgbClr val="5B6B7A"/>
            </a:solidFill>
            <a:prstDash val="solid"/>
            <a:tailEnd type="triangle"/>
          </a:ln>
        </p:spPr>
      </p:sp>
      <p:sp>
        <p:nvSpPr>
          <p:cNvPr id="29" name="Shape 27"/>
          <p:cNvSpPr/>
          <p:nvPr/>
        </p:nvSpPr>
        <p:spPr>
          <a:xfrm>
            <a:off x="6675120" y="5230368"/>
            <a:ext cx="320040" cy="0"/>
          </a:xfrm>
          <a:prstGeom prst="line">
            <a:avLst/>
          </a:prstGeom>
          <a:noFill/>
          <a:ln w="19050">
            <a:solidFill>
              <a:srgbClr val="5B6B7A"/>
            </a:solidFill>
            <a:prstDash val="dash"/>
          </a:ln>
        </p:spPr>
      </p:sp>
      <p:sp>
        <p:nvSpPr>
          <p:cNvPr id="30" name="Shape 28"/>
          <p:cNvSpPr/>
          <p:nvPr/>
        </p:nvSpPr>
        <p:spPr>
          <a:xfrm flipV="1">
            <a:off x="6995160" y="1298448"/>
            <a:ext cx="0" cy="3931920"/>
          </a:xfrm>
          <a:prstGeom prst="line">
            <a:avLst/>
          </a:prstGeom>
          <a:noFill/>
          <a:ln w="19050">
            <a:solidFill>
              <a:srgbClr val="5B6B7A"/>
            </a:solidFill>
            <a:prstDash val="dash"/>
          </a:ln>
        </p:spPr>
      </p:sp>
      <p:sp>
        <p:nvSpPr>
          <p:cNvPr id="31" name="Shape 29"/>
          <p:cNvSpPr/>
          <p:nvPr/>
        </p:nvSpPr>
        <p:spPr>
          <a:xfrm flipH="1">
            <a:off x="3611880" y="1298448"/>
            <a:ext cx="3383280" cy="0"/>
          </a:xfrm>
          <a:prstGeom prst="line">
            <a:avLst/>
          </a:prstGeom>
          <a:noFill/>
          <a:ln w="19050">
            <a:solidFill>
              <a:srgbClr val="5B6B7A"/>
            </a:solidFill>
            <a:prstDash val="dash"/>
          </a:ln>
        </p:spPr>
      </p:sp>
      <p:sp>
        <p:nvSpPr>
          <p:cNvPr id="32" name="Shape 30"/>
          <p:cNvSpPr/>
          <p:nvPr/>
        </p:nvSpPr>
        <p:spPr>
          <a:xfrm>
            <a:off x="3611880" y="1298448"/>
            <a:ext cx="0" cy="256032"/>
          </a:xfrm>
          <a:prstGeom prst="line">
            <a:avLst/>
          </a:prstGeom>
          <a:noFill/>
          <a:ln w="19050">
            <a:solidFill>
              <a:srgbClr val="5B6B7A"/>
            </a:solidFill>
            <a:prstDash val="dash"/>
            <a:tailEnd type="triangle"/>
          </a:ln>
        </p:spPr>
      </p:sp>
      <p:sp>
        <p:nvSpPr>
          <p:cNvPr id="33" name="Text 31"/>
          <p:cNvSpPr txBox="1"/>
          <p:nvPr/>
        </p:nvSpPr>
        <p:spPr>
          <a:xfrm>
            <a:off x="3931920" y="1069848"/>
            <a:ext cx="3017520" cy="219456"/>
          </a:xfrm>
          <a:prstGeom prst="rect">
            <a:avLst/>
          </a:prstGeom>
          <a:noFill/>
          <a:ln/>
        </p:spPr>
        <p:txBody>
          <a:bodyPr wrap="square" lIns="0" tIns="0" rIns="0" bIns="0" rtlCol="0" anchor="t"/>
          <a:lstStyle/>
          <a:p>
            <a:pPr indent="0" marL="0">
              <a:buNone/>
            </a:pPr>
            <a:r>
              <a:rPr lang="en-US" sz="1000" i="1" dirty="0">
                <a:solidFill>
                  <a:srgbClr val="5B6B7A"/>
                </a:solidFill>
                <a:latin typeface="Calibri" pitchFamily="34" charset="0"/>
                <a:ea typeface="Calibri" pitchFamily="34" charset="-122"/>
                <a:cs typeface="Calibri" pitchFamily="34" charset="-120"/>
              </a:rPr>
              <a:t>new rules are loaded into the next replay</a:t>
            </a:r>
            <a:endParaRPr lang="en-US" sz="1000" dirty="0"/>
          </a:p>
        </p:txBody>
      </p:sp>
      <p:sp>
        <p:nvSpPr>
          <p:cNvPr id="34" name="Shape 32"/>
          <p:cNvSpPr/>
          <p:nvPr/>
        </p:nvSpPr>
        <p:spPr>
          <a:xfrm>
            <a:off x="9235440" y="1554480"/>
            <a:ext cx="2404872" cy="4114800"/>
          </a:xfrm>
          <a:prstGeom prst="roundRect">
            <a:avLst>
              <a:gd name="adj" fmla="val 3042"/>
            </a:avLst>
          </a:prstGeom>
          <a:solidFill>
            <a:srgbClr val="0F2533"/>
          </a:solidFill>
          <a:ln w="12700">
            <a:solidFill>
              <a:srgbClr val="0F2533"/>
            </a:solidFill>
            <a:prstDash val="solid"/>
          </a:ln>
        </p:spPr>
      </p:sp>
      <p:sp>
        <p:nvSpPr>
          <p:cNvPr id="35" name="Text 33"/>
          <p:cNvSpPr txBox="1"/>
          <p:nvPr/>
        </p:nvSpPr>
        <p:spPr>
          <a:xfrm>
            <a:off x="9464040" y="1691640"/>
            <a:ext cx="2011680" cy="411480"/>
          </a:xfrm>
          <a:prstGeom prst="rect">
            <a:avLst/>
          </a:prstGeom>
          <a:noFill/>
          <a:ln/>
        </p:spPr>
        <p:txBody>
          <a:bodyPr wrap="square" lIns="0" tIns="0" rIns="0" bIns="0" rtlCol="0" anchor="t"/>
          <a:lstStyle/>
          <a:p>
            <a:pPr indent="0" marL="0">
              <a:buNone/>
            </a:pPr>
            <a:r>
              <a:rPr lang="en-US" sz="1800" b="1" dirty="0">
                <a:solidFill>
                  <a:srgbClr val="D9822B"/>
                </a:solidFill>
                <a:latin typeface="Cambria" pitchFamily="34" charset="0"/>
                <a:ea typeface="Cambria" pitchFamily="34" charset="-122"/>
                <a:cs typeface="Cambria" pitchFamily="34" charset="-120"/>
              </a:rPr>
              <a:t>Stack</a:t>
            </a:r>
            <a:endParaRPr lang="en-US" sz="1800" dirty="0"/>
          </a:p>
        </p:txBody>
      </p:sp>
      <p:sp>
        <p:nvSpPr>
          <p:cNvPr id="36" name="Text 34"/>
          <p:cNvSpPr txBox="1"/>
          <p:nvPr/>
        </p:nvSpPr>
        <p:spPr>
          <a:xfrm>
            <a:off x="9464040" y="2194560"/>
            <a:ext cx="2057400" cy="329184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Suricata 8.0.6 (IDS engine)</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ET Open ruleset</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jq over NDJSON</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Python 3 triage engine</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Anthropic + DeepSeek APIs</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FastAPI + Server-Sent Events</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Ubuntu on WSL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Giving the model agentic capability</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A tool-calling loop: the model chooses actions, the engine executes them through validated tools</a:t>
            </a:r>
            <a:endParaRPr lang="en-US" sz="1600" dirty="0"/>
          </a:p>
        </p:txBody>
      </p:sp>
      <p:sp>
        <p:nvSpPr>
          <p:cNvPr id="4" name="Shape 2"/>
          <p:cNvSpPr/>
          <p:nvPr/>
        </p:nvSpPr>
        <p:spPr>
          <a:xfrm>
            <a:off x="640080" y="1874520"/>
            <a:ext cx="2148840" cy="1417320"/>
          </a:xfrm>
          <a:prstGeom prst="roundRect">
            <a:avLst>
              <a:gd name="adj" fmla="val 5161"/>
            </a:avLst>
          </a:prstGeom>
          <a:solidFill>
            <a:srgbClr val="EEF3F8"/>
          </a:solidFill>
          <a:ln w="12700">
            <a:solidFill>
              <a:srgbClr val="EEF3F8"/>
            </a:solidFill>
            <a:prstDash val="solid"/>
          </a:ln>
        </p:spPr>
      </p:sp>
      <p:sp>
        <p:nvSpPr>
          <p:cNvPr id="5" name="Text 3"/>
          <p:cNvSpPr txBox="1"/>
          <p:nvPr/>
        </p:nvSpPr>
        <p:spPr>
          <a:xfrm>
            <a:off x="822960" y="1984248"/>
            <a:ext cx="457200" cy="411480"/>
          </a:xfrm>
          <a:prstGeom prst="rect">
            <a:avLst/>
          </a:prstGeom>
          <a:noFill/>
          <a:ln/>
        </p:spPr>
        <p:txBody>
          <a:bodyPr wrap="square" lIns="0" tIns="0" rIns="0" bIns="0" rtlCol="0" anchor="t"/>
          <a:lstStyle/>
          <a:p>
            <a:pPr indent="0" marL="0">
              <a:buNone/>
            </a:pPr>
            <a:r>
              <a:rPr lang="en-US" sz="2200" b="1" dirty="0">
                <a:solidFill>
                  <a:srgbClr val="D9822B"/>
                </a:solidFill>
                <a:latin typeface="Cambria" pitchFamily="34" charset="0"/>
                <a:ea typeface="Cambria" pitchFamily="34" charset="-122"/>
                <a:cs typeface="Cambria" pitchFamily="34" charset="-120"/>
              </a:rPr>
              <a:t>1</a:t>
            </a:r>
            <a:endParaRPr lang="en-US" sz="2200" dirty="0"/>
          </a:p>
        </p:txBody>
      </p:sp>
      <p:sp>
        <p:nvSpPr>
          <p:cNvPr id="6" name="Text 4"/>
          <p:cNvSpPr txBox="1"/>
          <p:nvPr/>
        </p:nvSpPr>
        <p:spPr>
          <a:xfrm>
            <a:off x="822960" y="2377440"/>
            <a:ext cx="1783080" cy="868680"/>
          </a:xfrm>
          <a:prstGeom prst="rect">
            <a:avLst/>
          </a:prstGeom>
          <a:noFill/>
          <a:ln/>
        </p:spPr>
        <p:txBody>
          <a:bodyPr wrap="square" lIns="0" tIns="0" rIns="0" bIns="0" rtlCol="0" anchor="t"/>
          <a:lstStyle/>
          <a:p>
            <a:pPr indent="0" marL="0">
              <a:buNone/>
            </a:pPr>
            <a:r>
              <a:rPr lang="en-US" sz="1300" dirty="0">
                <a:solidFill>
                  <a:srgbClr val="0F2533"/>
                </a:solidFill>
                <a:latin typeface="Calibri" pitchFamily="34" charset="0"/>
                <a:ea typeface="Calibri" pitchFamily="34" charset="-122"/>
                <a:cs typeface="Calibri" pitchFamily="34" charset="-120"/>
              </a:rPr>
              <a:t>Engine sends history + tool schemas</a:t>
            </a:r>
            <a:endParaRPr lang="en-US" sz="1300" dirty="0"/>
          </a:p>
        </p:txBody>
      </p:sp>
      <p:sp>
        <p:nvSpPr>
          <p:cNvPr id="7" name="Shape 5"/>
          <p:cNvSpPr/>
          <p:nvPr/>
        </p:nvSpPr>
        <p:spPr>
          <a:xfrm>
            <a:off x="3108960" y="1874520"/>
            <a:ext cx="2148840" cy="1417320"/>
          </a:xfrm>
          <a:prstGeom prst="roundRect">
            <a:avLst>
              <a:gd name="adj" fmla="val 5161"/>
            </a:avLst>
          </a:prstGeom>
          <a:solidFill>
            <a:srgbClr val="1F4E79"/>
          </a:solidFill>
          <a:ln w="12700">
            <a:solidFill>
              <a:srgbClr val="1F4E79"/>
            </a:solidFill>
            <a:prstDash val="solid"/>
          </a:ln>
        </p:spPr>
      </p:sp>
      <p:sp>
        <p:nvSpPr>
          <p:cNvPr id="8" name="Text 6"/>
          <p:cNvSpPr txBox="1"/>
          <p:nvPr/>
        </p:nvSpPr>
        <p:spPr>
          <a:xfrm>
            <a:off x="3291840" y="1984248"/>
            <a:ext cx="457200" cy="411480"/>
          </a:xfrm>
          <a:prstGeom prst="rect">
            <a:avLst/>
          </a:prstGeom>
          <a:noFill/>
          <a:ln/>
        </p:spPr>
        <p:txBody>
          <a:bodyPr wrap="square" lIns="0" tIns="0" rIns="0" bIns="0" rtlCol="0" anchor="t"/>
          <a:lstStyle/>
          <a:p>
            <a:pPr indent="0" marL="0">
              <a:buNone/>
            </a:pPr>
            <a:r>
              <a:rPr lang="en-US" sz="2200" b="1" dirty="0">
                <a:solidFill>
                  <a:srgbClr val="D9822B"/>
                </a:solidFill>
                <a:latin typeface="Cambria" pitchFamily="34" charset="0"/>
                <a:ea typeface="Cambria" pitchFamily="34" charset="-122"/>
                <a:cs typeface="Cambria" pitchFamily="34" charset="-120"/>
              </a:rPr>
              <a:t>2</a:t>
            </a:r>
            <a:endParaRPr lang="en-US" sz="2200" dirty="0"/>
          </a:p>
        </p:txBody>
      </p:sp>
      <p:sp>
        <p:nvSpPr>
          <p:cNvPr id="9" name="Text 7"/>
          <p:cNvSpPr txBox="1"/>
          <p:nvPr/>
        </p:nvSpPr>
        <p:spPr>
          <a:xfrm>
            <a:off x="3291840" y="2377440"/>
            <a:ext cx="1783080" cy="86868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Model replies with a tool call (JSON)</a:t>
            </a:r>
            <a:endParaRPr lang="en-US" sz="1300" dirty="0"/>
          </a:p>
        </p:txBody>
      </p:sp>
      <p:sp>
        <p:nvSpPr>
          <p:cNvPr id="10" name="Shape 8"/>
          <p:cNvSpPr/>
          <p:nvPr/>
        </p:nvSpPr>
        <p:spPr>
          <a:xfrm>
            <a:off x="3108960" y="3886200"/>
            <a:ext cx="2148840" cy="1417320"/>
          </a:xfrm>
          <a:prstGeom prst="roundRect">
            <a:avLst>
              <a:gd name="adj" fmla="val 5161"/>
            </a:avLst>
          </a:prstGeom>
          <a:solidFill>
            <a:srgbClr val="EEF3F8"/>
          </a:solidFill>
          <a:ln w="12700">
            <a:solidFill>
              <a:srgbClr val="EEF3F8"/>
            </a:solidFill>
            <a:prstDash val="solid"/>
          </a:ln>
        </p:spPr>
      </p:sp>
      <p:sp>
        <p:nvSpPr>
          <p:cNvPr id="11" name="Text 9"/>
          <p:cNvSpPr txBox="1"/>
          <p:nvPr/>
        </p:nvSpPr>
        <p:spPr>
          <a:xfrm>
            <a:off x="3291840" y="3995928"/>
            <a:ext cx="457200" cy="411480"/>
          </a:xfrm>
          <a:prstGeom prst="rect">
            <a:avLst/>
          </a:prstGeom>
          <a:noFill/>
          <a:ln/>
        </p:spPr>
        <p:txBody>
          <a:bodyPr wrap="square" lIns="0" tIns="0" rIns="0" bIns="0" rtlCol="0" anchor="t"/>
          <a:lstStyle/>
          <a:p>
            <a:pPr indent="0" marL="0">
              <a:buNone/>
            </a:pPr>
            <a:r>
              <a:rPr lang="en-US" sz="2200" b="1" dirty="0">
                <a:solidFill>
                  <a:srgbClr val="D9822B"/>
                </a:solidFill>
                <a:latin typeface="Cambria" pitchFamily="34" charset="0"/>
                <a:ea typeface="Cambria" pitchFamily="34" charset="-122"/>
                <a:cs typeface="Cambria" pitchFamily="34" charset="-120"/>
              </a:rPr>
              <a:t>3</a:t>
            </a:r>
            <a:endParaRPr lang="en-US" sz="2200" dirty="0"/>
          </a:p>
        </p:txBody>
      </p:sp>
      <p:sp>
        <p:nvSpPr>
          <p:cNvPr id="12" name="Text 10"/>
          <p:cNvSpPr txBox="1"/>
          <p:nvPr/>
        </p:nvSpPr>
        <p:spPr>
          <a:xfrm>
            <a:off x="3291840" y="4389120"/>
            <a:ext cx="1783080" cy="868680"/>
          </a:xfrm>
          <a:prstGeom prst="rect">
            <a:avLst/>
          </a:prstGeom>
          <a:noFill/>
          <a:ln/>
        </p:spPr>
        <p:txBody>
          <a:bodyPr wrap="square" lIns="0" tIns="0" rIns="0" bIns="0" rtlCol="0" anchor="t"/>
          <a:lstStyle/>
          <a:p>
            <a:pPr indent="0" marL="0">
              <a:buNone/>
            </a:pPr>
            <a:r>
              <a:rPr lang="en-US" sz="1300" dirty="0">
                <a:solidFill>
                  <a:srgbClr val="0F2533"/>
                </a:solidFill>
                <a:latin typeface="Calibri" pitchFamily="34" charset="0"/>
                <a:ea typeface="Calibri" pitchFamily="34" charset="-122"/>
                <a:cs typeface="Calibri" pitchFamily="34" charset="-120"/>
              </a:rPr>
              <a:t>Engine validates path and executes</a:t>
            </a:r>
            <a:endParaRPr lang="en-US" sz="1300" dirty="0"/>
          </a:p>
        </p:txBody>
      </p:sp>
      <p:sp>
        <p:nvSpPr>
          <p:cNvPr id="13" name="Shape 11"/>
          <p:cNvSpPr/>
          <p:nvPr/>
        </p:nvSpPr>
        <p:spPr>
          <a:xfrm>
            <a:off x="640080" y="3886200"/>
            <a:ext cx="2148840" cy="1417320"/>
          </a:xfrm>
          <a:prstGeom prst="roundRect">
            <a:avLst>
              <a:gd name="adj" fmla="val 5161"/>
            </a:avLst>
          </a:prstGeom>
          <a:solidFill>
            <a:srgbClr val="EEF3F8"/>
          </a:solidFill>
          <a:ln w="12700">
            <a:solidFill>
              <a:srgbClr val="EEF3F8"/>
            </a:solidFill>
            <a:prstDash val="solid"/>
          </a:ln>
        </p:spPr>
      </p:sp>
      <p:sp>
        <p:nvSpPr>
          <p:cNvPr id="14" name="Text 12"/>
          <p:cNvSpPr txBox="1"/>
          <p:nvPr/>
        </p:nvSpPr>
        <p:spPr>
          <a:xfrm>
            <a:off x="822960" y="3995928"/>
            <a:ext cx="457200" cy="411480"/>
          </a:xfrm>
          <a:prstGeom prst="rect">
            <a:avLst/>
          </a:prstGeom>
          <a:noFill/>
          <a:ln/>
        </p:spPr>
        <p:txBody>
          <a:bodyPr wrap="square" lIns="0" tIns="0" rIns="0" bIns="0" rtlCol="0" anchor="t"/>
          <a:lstStyle/>
          <a:p>
            <a:pPr indent="0" marL="0">
              <a:buNone/>
            </a:pPr>
            <a:r>
              <a:rPr lang="en-US" sz="2200" b="1" dirty="0">
                <a:solidFill>
                  <a:srgbClr val="D9822B"/>
                </a:solidFill>
                <a:latin typeface="Cambria" pitchFamily="34" charset="0"/>
                <a:ea typeface="Cambria" pitchFamily="34" charset="-122"/>
                <a:cs typeface="Cambria" pitchFamily="34" charset="-120"/>
              </a:rPr>
              <a:t>4</a:t>
            </a:r>
            <a:endParaRPr lang="en-US" sz="2200" dirty="0"/>
          </a:p>
        </p:txBody>
      </p:sp>
      <p:sp>
        <p:nvSpPr>
          <p:cNvPr id="15" name="Text 13"/>
          <p:cNvSpPr txBox="1"/>
          <p:nvPr/>
        </p:nvSpPr>
        <p:spPr>
          <a:xfrm>
            <a:off x="822960" y="4389120"/>
            <a:ext cx="1783080" cy="868680"/>
          </a:xfrm>
          <a:prstGeom prst="rect">
            <a:avLst/>
          </a:prstGeom>
          <a:noFill/>
          <a:ln/>
        </p:spPr>
        <p:txBody>
          <a:bodyPr wrap="square" lIns="0" tIns="0" rIns="0" bIns="0" rtlCol="0" anchor="t"/>
          <a:lstStyle/>
          <a:p>
            <a:pPr indent="0" marL="0">
              <a:buNone/>
            </a:pPr>
            <a:r>
              <a:rPr lang="en-US" sz="1300" dirty="0">
                <a:solidFill>
                  <a:srgbClr val="0F2533"/>
                </a:solidFill>
                <a:latin typeface="Calibri" pitchFamily="34" charset="0"/>
                <a:ea typeface="Calibri" pitchFamily="34" charset="-122"/>
                <a:cs typeface="Calibri" pitchFamily="34" charset="-120"/>
              </a:rPr>
              <a:t>Result appended; model reads it and decides next step</a:t>
            </a:r>
            <a:endParaRPr lang="en-US" sz="1300" dirty="0"/>
          </a:p>
        </p:txBody>
      </p:sp>
      <p:sp>
        <p:nvSpPr>
          <p:cNvPr id="16" name="Shape 14"/>
          <p:cNvSpPr/>
          <p:nvPr/>
        </p:nvSpPr>
        <p:spPr>
          <a:xfrm>
            <a:off x="2788920" y="2560320"/>
            <a:ext cx="320040" cy="0"/>
          </a:xfrm>
          <a:prstGeom prst="line">
            <a:avLst/>
          </a:prstGeom>
          <a:noFill/>
          <a:ln w="25400">
            <a:solidFill>
              <a:srgbClr val="D9822B"/>
            </a:solidFill>
            <a:prstDash val="solid"/>
            <a:tailEnd type="triangle"/>
          </a:ln>
        </p:spPr>
      </p:sp>
      <p:sp>
        <p:nvSpPr>
          <p:cNvPr id="17" name="Shape 15"/>
          <p:cNvSpPr/>
          <p:nvPr/>
        </p:nvSpPr>
        <p:spPr>
          <a:xfrm>
            <a:off x="4178808" y="3291840"/>
            <a:ext cx="0" cy="594360"/>
          </a:xfrm>
          <a:prstGeom prst="line">
            <a:avLst/>
          </a:prstGeom>
          <a:noFill/>
          <a:ln w="25400">
            <a:solidFill>
              <a:srgbClr val="D9822B"/>
            </a:solidFill>
            <a:prstDash val="solid"/>
            <a:tailEnd type="triangle"/>
          </a:ln>
        </p:spPr>
      </p:sp>
      <p:sp>
        <p:nvSpPr>
          <p:cNvPr id="18" name="Shape 16"/>
          <p:cNvSpPr/>
          <p:nvPr/>
        </p:nvSpPr>
        <p:spPr>
          <a:xfrm flipH="1">
            <a:off x="2788920" y="4572000"/>
            <a:ext cx="320040" cy="0"/>
          </a:xfrm>
          <a:prstGeom prst="line">
            <a:avLst/>
          </a:prstGeom>
          <a:noFill/>
          <a:ln w="25400">
            <a:solidFill>
              <a:srgbClr val="D9822B"/>
            </a:solidFill>
            <a:prstDash val="solid"/>
            <a:tailEnd type="triangle"/>
          </a:ln>
        </p:spPr>
      </p:sp>
      <p:sp>
        <p:nvSpPr>
          <p:cNvPr id="19" name="Shape 17"/>
          <p:cNvSpPr/>
          <p:nvPr/>
        </p:nvSpPr>
        <p:spPr>
          <a:xfrm flipV="1">
            <a:off x="1709928" y="3291840"/>
            <a:ext cx="0" cy="594360"/>
          </a:xfrm>
          <a:prstGeom prst="line">
            <a:avLst/>
          </a:prstGeom>
          <a:noFill/>
          <a:ln w="25400">
            <a:solidFill>
              <a:srgbClr val="D9822B"/>
            </a:solidFill>
            <a:prstDash val="solid"/>
            <a:tailEnd type="triangle"/>
          </a:ln>
        </p:spPr>
      </p:sp>
      <p:sp>
        <p:nvSpPr>
          <p:cNvPr id="20" name="Text 18"/>
          <p:cNvSpPr txBox="1"/>
          <p:nvPr/>
        </p:nvSpPr>
        <p:spPr>
          <a:xfrm>
            <a:off x="640080" y="5440680"/>
            <a:ext cx="4617720" cy="502920"/>
          </a:xfrm>
          <a:prstGeom prst="rect">
            <a:avLst/>
          </a:prstGeom>
          <a:noFill/>
          <a:ln/>
        </p:spPr>
        <p:txBody>
          <a:bodyPr wrap="square" lIns="0" tIns="0" rIns="0" bIns="0" rtlCol="0" anchor="t"/>
          <a:lstStyle/>
          <a:p>
            <a:pPr indent="0" marL="0">
              <a:buNone/>
            </a:pPr>
            <a:r>
              <a:rPr lang="en-US" sz="1200" i="1" dirty="0">
                <a:solidFill>
                  <a:srgbClr val="5B6B7A"/>
                </a:solidFill>
                <a:latin typeface="Calibri" pitchFamily="34" charset="0"/>
                <a:ea typeface="Calibri" pitchFamily="34" charset="-122"/>
                <a:cs typeface="Calibri" pitchFamily="34" charset="-120"/>
              </a:rPr>
              <a:t>repeats until the model answers without a tool call (max 100 turns)</a:t>
            </a:r>
            <a:endParaRPr lang="en-US" sz="1200" dirty="0"/>
          </a:p>
        </p:txBody>
      </p:sp>
      <p:sp>
        <p:nvSpPr>
          <p:cNvPr id="21" name="Shape 19"/>
          <p:cNvSpPr/>
          <p:nvPr/>
        </p:nvSpPr>
        <p:spPr>
          <a:xfrm>
            <a:off x="5806440" y="1691640"/>
            <a:ext cx="2743200" cy="777240"/>
          </a:xfrm>
          <a:prstGeom prst="roundRect">
            <a:avLst>
              <a:gd name="adj" fmla="val 9412"/>
            </a:avLst>
          </a:prstGeom>
          <a:solidFill>
            <a:srgbClr val="EEF3F8"/>
          </a:solidFill>
          <a:ln w="12700">
            <a:solidFill>
              <a:srgbClr val="EEF3F8"/>
            </a:solidFill>
            <a:prstDash val="solid"/>
          </a:ln>
        </p:spPr>
      </p:sp>
      <p:sp>
        <p:nvSpPr>
          <p:cNvPr id="22" name="Text 20"/>
          <p:cNvSpPr txBox="1"/>
          <p:nvPr/>
        </p:nvSpPr>
        <p:spPr>
          <a:xfrm>
            <a:off x="5989320" y="1764792"/>
            <a:ext cx="2468880" cy="347472"/>
          </a:xfrm>
          <a:prstGeom prst="rect">
            <a:avLst/>
          </a:prstGeom>
          <a:noFill/>
          <a:ln/>
        </p:spPr>
        <p:txBody>
          <a:bodyPr wrap="square" lIns="0" tIns="0" rIns="0" bIns="0" rtlCol="0" anchor="t"/>
          <a:lstStyle/>
          <a:p>
            <a:pPr indent="0" marL="0">
              <a:buNone/>
            </a:pPr>
            <a:r>
              <a:rPr lang="en-US" sz="1400" b="1" dirty="0">
                <a:solidFill>
                  <a:srgbClr val="1F4E79"/>
                </a:solidFill>
                <a:latin typeface="Courier New" pitchFamily="34" charset="0"/>
                <a:ea typeface="Courier New" pitchFamily="34" charset="-122"/>
                <a:cs typeface="Courier New" pitchFamily="34" charset="-120"/>
              </a:rPr>
              <a:t>count_alerts</a:t>
            </a:r>
            <a:endParaRPr lang="en-US" sz="1400" dirty="0"/>
          </a:p>
        </p:txBody>
      </p:sp>
      <p:sp>
        <p:nvSpPr>
          <p:cNvPr id="23" name="Text 21"/>
          <p:cNvSpPr txBox="1"/>
          <p:nvPr/>
        </p:nvSpPr>
        <p:spPr>
          <a:xfrm>
            <a:off x="5989320" y="2103120"/>
            <a:ext cx="2468880" cy="3200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alerts per signature</a:t>
            </a:r>
            <a:endParaRPr lang="en-US" sz="1200" dirty="0"/>
          </a:p>
        </p:txBody>
      </p:sp>
      <p:sp>
        <p:nvSpPr>
          <p:cNvPr id="24" name="Shape 22"/>
          <p:cNvSpPr/>
          <p:nvPr/>
        </p:nvSpPr>
        <p:spPr>
          <a:xfrm>
            <a:off x="8732520" y="1691640"/>
            <a:ext cx="2743200" cy="777240"/>
          </a:xfrm>
          <a:prstGeom prst="roundRect">
            <a:avLst>
              <a:gd name="adj" fmla="val 9412"/>
            </a:avLst>
          </a:prstGeom>
          <a:solidFill>
            <a:srgbClr val="EEF3F8"/>
          </a:solidFill>
          <a:ln w="12700">
            <a:solidFill>
              <a:srgbClr val="EEF3F8"/>
            </a:solidFill>
            <a:prstDash val="solid"/>
          </a:ln>
        </p:spPr>
      </p:sp>
      <p:sp>
        <p:nvSpPr>
          <p:cNvPr id="25" name="Text 23"/>
          <p:cNvSpPr txBox="1"/>
          <p:nvPr/>
        </p:nvSpPr>
        <p:spPr>
          <a:xfrm>
            <a:off x="8915400" y="1764792"/>
            <a:ext cx="2468880" cy="347472"/>
          </a:xfrm>
          <a:prstGeom prst="rect">
            <a:avLst/>
          </a:prstGeom>
          <a:noFill/>
          <a:ln/>
        </p:spPr>
        <p:txBody>
          <a:bodyPr wrap="square" lIns="0" tIns="0" rIns="0" bIns="0" rtlCol="0" anchor="t"/>
          <a:lstStyle/>
          <a:p>
            <a:pPr indent="0" marL="0">
              <a:buNone/>
            </a:pPr>
            <a:r>
              <a:rPr lang="en-US" sz="1400" b="1" dirty="0">
                <a:solidFill>
                  <a:srgbClr val="1F4E79"/>
                </a:solidFill>
                <a:latin typeface="Courier New" pitchFamily="34" charset="0"/>
                <a:ea typeface="Courier New" pitchFamily="34" charset="-122"/>
                <a:cs typeface="Courier New" pitchFamily="34" charset="-120"/>
              </a:rPr>
              <a:t>count_by</a:t>
            </a:r>
            <a:endParaRPr lang="en-US" sz="1400" dirty="0"/>
          </a:p>
        </p:txBody>
      </p:sp>
      <p:sp>
        <p:nvSpPr>
          <p:cNvPr id="26" name="Text 24"/>
          <p:cNvSpPr txBox="1"/>
          <p:nvPr/>
        </p:nvSpPr>
        <p:spPr>
          <a:xfrm>
            <a:off x="8915400" y="2103120"/>
            <a:ext cx="2468880" cy="3200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aggregate any field</a:t>
            </a:r>
            <a:endParaRPr lang="en-US" sz="1200" dirty="0"/>
          </a:p>
        </p:txBody>
      </p:sp>
      <p:sp>
        <p:nvSpPr>
          <p:cNvPr id="27" name="Shape 25"/>
          <p:cNvSpPr/>
          <p:nvPr/>
        </p:nvSpPr>
        <p:spPr>
          <a:xfrm>
            <a:off x="5806440" y="2624328"/>
            <a:ext cx="2743200" cy="777240"/>
          </a:xfrm>
          <a:prstGeom prst="roundRect">
            <a:avLst>
              <a:gd name="adj" fmla="val 9412"/>
            </a:avLst>
          </a:prstGeom>
          <a:solidFill>
            <a:srgbClr val="EEF3F8"/>
          </a:solidFill>
          <a:ln w="12700">
            <a:solidFill>
              <a:srgbClr val="EEF3F8"/>
            </a:solidFill>
            <a:prstDash val="solid"/>
          </a:ln>
        </p:spPr>
      </p:sp>
      <p:sp>
        <p:nvSpPr>
          <p:cNvPr id="28" name="Text 26"/>
          <p:cNvSpPr txBox="1"/>
          <p:nvPr/>
        </p:nvSpPr>
        <p:spPr>
          <a:xfrm>
            <a:off x="5989320" y="2697480"/>
            <a:ext cx="2468880" cy="347472"/>
          </a:xfrm>
          <a:prstGeom prst="rect">
            <a:avLst/>
          </a:prstGeom>
          <a:noFill/>
          <a:ln/>
        </p:spPr>
        <p:txBody>
          <a:bodyPr wrap="square" lIns="0" tIns="0" rIns="0" bIns="0" rtlCol="0" anchor="t"/>
          <a:lstStyle/>
          <a:p>
            <a:pPr indent="0" marL="0">
              <a:buNone/>
            </a:pPr>
            <a:r>
              <a:rPr lang="en-US" sz="1400" b="1" dirty="0">
                <a:solidFill>
                  <a:srgbClr val="1F4E79"/>
                </a:solidFill>
                <a:latin typeface="Courier New" pitchFamily="34" charset="0"/>
                <a:ea typeface="Courier New" pitchFamily="34" charset="-122"/>
                <a:cs typeface="Courier New" pitchFamily="34" charset="-120"/>
              </a:rPr>
              <a:t>query_eve_json</a:t>
            </a:r>
            <a:endParaRPr lang="en-US" sz="1400" dirty="0"/>
          </a:p>
        </p:txBody>
      </p:sp>
      <p:sp>
        <p:nvSpPr>
          <p:cNvPr id="29" name="Text 27"/>
          <p:cNvSpPr txBox="1"/>
          <p:nvPr/>
        </p:nvSpPr>
        <p:spPr>
          <a:xfrm>
            <a:off x="5989320" y="3035808"/>
            <a:ext cx="2468880" cy="3200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jq query, capped output</a:t>
            </a:r>
            <a:endParaRPr lang="en-US" sz="1200" dirty="0"/>
          </a:p>
        </p:txBody>
      </p:sp>
      <p:sp>
        <p:nvSpPr>
          <p:cNvPr id="30" name="Shape 28"/>
          <p:cNvSpPr/>
          <p:nvPr/>
        </p:nvSpPr>
        <p:spPr>
          <a:xfrm>
            <a:off x="8732520" y="2624328"/>
            <a:ext cx="2743200" cy="777240"/>
          </a:xfrm>
          <a:prstGeom prst="roundRect">
            <a:avLst>
              <a:gd name="adj" fmla="val 9412"/>
            </a:avLst>
          </a:prstGeom>
          <a:solidFill>
            <a:srgbClr val="EEF3F8"/>
          </a:solidFill>
          <a:ln w="12700">
            <a:solidFill>
              <a:srgbClr val="EEF3F8"/>
            </a:solidFill>
            <a:prstDash val="solid"/>
          </a:ln>
        </p:spPr>
      </p:sp>
      <p:sp>
        <p:nvSpPr>
          <p:cNvPr id="31" name="Text 29"/>
          <p:cNvSpPr txBox="1"/>
          <p:nvPr/>
        </p:nvSpPr>
        <p:spPr>
          <a:xfrm>
            <a:off x="8915400" y="2697480"/>
            <a:ext cx="2468880" cy="347472"/>
          </a:xfrm>
          <a:prstGeom prst="rect">
            <a:avLst/>
          </a:prstGeom>
          <a:noFill/>
          <a:ln/>
        </p:spPr>
        <p:txBody>
          <a:bodyPr wrap="square" lIns="0" tIns="0" rIns="0" bIns="0" rtlCol="0" anchor="t"/>
          <a:lstStyle/>
          <a:p>
            <a:pPr indent="0" marL="0">
              <a:buNone/>
            </a:pPr>
            <a:r>
              <a:rPr lang="en-US" sz="1400" b="1" dirty="0">
                <a:solidFill>
                  <a:srgbClr val="1F4E79"/>
                </a:solidFill>
                <a:latin typeface="Courier New" pitchFamily="34" charset="0"/>
                <a:ea typeface="Courier New" pitchFamily="34" charset="-122"/>
                <a:cs typeface="Courier New" pitchFamily="34" charset="-120"/>
              </a:rPr>
              <a:t>read_file</a:t>
            </a:r>
            <a:endParaRPr lang="en-US" sz="1400" dirty="0"/>
          </a:p>
        </p:txBody>
      </p:sp>
      <p:sp>
        <p:nvSpPr>
          <p:cNvPr id="32" name="Text 30"/>
          <p:cNvSpPr txBox="1"/>
          <p:nvPr/>
        </p:nvSpPr>
        <p:spPr>
          <a:xfrm>
            <a:off x="8915400" y="3035808"/>
            <a:ext cx="2468880" cy="3200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configs, rules, logs</a:t>
            </a:r>
            <a:endParaRPr lang="en-US" sz="1200" dirty="0"/>
          </a:p>
        </p:txBody>
      </p:sp>
      <p:sp>
        <p:nvSpPr>
          <p:cNvPr id="33" name="Shape 31"/>
          <p:cNvSpPr/>
          <p:nvPr/>
        </p:nvSpPr>
        <p:spPr>
          <a:xfrm>
            <a:off x="5806440" y="3557016"/>
            <a:ext cx="2743200" cy="777240"/>
          </a:xfrm>
          <a:prstGeom prst="roundRect">
            <a:avLst>
              <a:gd name="adj" fmla="val 9412"/>
            </a:avLst>
          </a:prstGeom>
          <a:solidFill>
            <a:srgbClr val="EEF3F8"/>
          </a:solidFill>
          <a:ln w="12700">
            <a:solidFill>
              <a:srgbClr val="EEF3F8"/>
            </a:solidFill>
            <a:prstDash val="solid"/>
          </a:ln>
        </p:spPr>
      </p:sp>
      <p:sp>
        <p:nvSpPr>
          <p:cNvPr id="34" name="Text 32"/>
          <p:cNvSpPr txBox="1"/>
          <p:nvPr/>
        </p:nvSpPr>
        <p:spPr>
          <a:xfrm>
            <a:off x="5989320" y="3630168"/>
            <a:ext cx="2468880" cy="347472"/>
          </a:xfrm>
          <a:prstGeom prst="rect">
            <a:avLst/>
          </a:prstGeom>
          <a:noFill/>
          <a:ln/>
        </p:spPr>
        <p:txBody>
          <a:bodyPr wrap="square" lIns="0" tIns="0" rIns="0" bIns="0" rtlCol="0" anchor="t"/>
          <a:lstStyle/>
          <a:p>
            <a:pPr indent="0" marL="0">
              <a:buNone/>
            </a:pPr>
            <a:r>
              <a:rPr lang="en-US" sz="1400" b="1" dirty="0">
                <a:solidFill>
                  <a:srgbClr val="1F4E79"/>
                </a:solidFill>
                <a:latin typeface="Courier New" pitchFamily="34" charset="0"/>
                <a:ea typeface="Courier New" pitchFamily="34" charset="-122"/>
                <a:cs typeface="Courier New" pitchFamily="34" charset="-120"/>
              </a:rPr>
              <a:t>write_file</a:t>
            </a:r>
            <a:endParaRPr lang="en-US" sz="1400" dirty="0"/>
          </a:p>
        </p:txBody>
      </p:sp>
      <p:sp>
        <p:nvSpPr>
          <p:cNvPr id="35" name="Text 33"/>
          <p:cNvSpPr txBox="1"/>
          <p:nvPr/>
        </p:nvSpPr>
        <p:spPr>
          <a:xfrm>
            <a:off x="5989320" y="3968496"/>
            <a:ext cx="2468880" cy="3200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rules/generated only</a:t>
            </a:r>
            <a:endParaRPr lang="en-US" sz="1200" dirty="0"/>
          </a:p>
        </p:txBody>
      </p:sp>
      <p:sp>
        <p:nvSpPr>
          <p:cNvPr id="36" name="Shape 34"/>
          <p:cNvSpPr/>
          <p:nvPr/>
        </p:nvSpPr>
        <p:spPr>
          <a:xfrm>
            <a:off x="8732520" y="3557016"/>
            <a:ext cx="2743200" cy="777240"/>
          </a:xfrm>
          <a:prstGeom prst="roundRect">
            <a:avLst>
              <a:gd name="adj" fmla="val 9412"/>
            </a:avLst>
          </a:prstGeom>
          <a:solidFill>
            <a:srgbClr val="EEF3F8"/>
          </a:solidFill>
          <a:ln w="12700">
            <a:solidFill>
              <a:srgbClr val="EEF3F8"/>
            </a:solidFill>
            <a:prstDash val="solid"/>
          </a:ln>
        </p:spPr>
      </p:sp>
      <p:sp>
        <p:nvSpPr>
          <p:cNvPr id="37" name="Text 35"/>
          <p:cNvSpPr txBox="1"/>
          <p:nvPr/>
        </p:nvSpPr>
        <p:spPr>
          <a:xfrm>
            <a:off x="8915400" y="3630168"/>
            <a:ext cx="2468880" cy="347472"/>
          </a:xfrm>
          <a:prstGeom prst="rect">
            <a:avLst/>
          </a:prstGeom>
          <a:noFill/>
          <a:ln/>
        </p:spPr>
        <p:txBody>
          <a:bodyPr wrap="square" lIns="0" tIns="0" rIns="0" bIns="0" rtlCol="0" anchor="t"/>
          <a:lstStyle/>
          <a:p>
            <a:pPr indent="0" marL="0">
              <a:buNone/>
            </a:pPr>
            <a:r>
              <a:rPr lang="en-US" sz="1400" b="1" dirty="0">
                <a:solidFill>
                  <a:srgbClr val="1F4E79"/>
                </a:solidFill>
                <a:latin typeface="Courier New" pitchFamily="34" charset="0"/>
                <a:ea typeface="Courier New" pitchFamily="34" charset="-122"/>
                <a:cs typeface="Courier New" pitchFamily="34" charset="-120"/>
              </a:rPr>
              <a:t>append_to_file</a:t>
            </a:r>
            <a:endParaRPr lang="en-US" sz="1400" dirty="0"/>
          </a:p>
        </p:txBody>
      </p:sp>
      <p:sp>
        <p:nvSpPr>
          <p:cNvPr id="38" name="Text 36"/>
          <p:cNvSpPr txBox="1"/>
          <p:nvPr/>
        </p:nvSpPr>
        <p:spPr>
          <a:xfrm>
            <a:off x="8915400" y="3968496"/>
            <a:ext cx="2468880" cy="3200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rules/generated only</a:t>
            </a:r>
            <a:endParaRPr lang="en-US" sz="1200" dirty="0"/>
          </a:p>
        </p:txBody>
      </p:sp>
      <p:sp>
        <p:nvSpPr>
          <p:cNvPr id="39" name="Shape 37"/>
          <p:cNvSpPr/>
          <p:nvPr/>
        </p:nvSpPr>
        <p:spPr>
          <a:xfrm>
            <a:off x="5806440" y="4489704"/>
            <a:ext cx="2743200" cy="777240"/>
          </a:xfrm>
          <a:prstGeom prst="roundRect">
            <a:avLst>
              <a:gd name="adj" fmla="val 9412"/>
            </a:avLst>
          </a:prstGeom>
          <a:solidFill>
            <a:srgbClr val="EEF3F8"/>
          </a:solidFill>
          <a:ln w="12700">
            <a:solidFill>
              <a:srgbClr val="EEF3F8"/>
            </a:solidFill>
            <a:prstDash val="solid"/>
          </a:ln>
        </p:spPr>
      </p:sp>
      <p:sp>
        <p:nvSpPr>
          <p:cNvPr id="40" name="Text 38"/>
          <p:cNvSpPr txBox="1"/>
          <p:nvPr/>
        </p:nvSpPr>
        <p:spPr>
          <a:xfrm>
            <a:off x="5989320" y="4562856"/>
            <a:ext cx="2468880" cy="347472"/>
          </a:xfrm>
          <a:prstGeom prst="rect">
            <a:avLst/>
          </a:prstGeom>
          <a:noFill/>
          <a:ln/>
        </p:spPr>
        <p:txBody>
          <a:bodyPr wrap="square" lIns="0" tIns="0" rIns="0" bIns="0" rtlCol="0" anchor="t"/>
          <a:lstStyle/>
          <a:p>
            <a:pPr indent="0" marL="0">
              <a:buNone/>
            </a:pPr>
            <a:r>
              <a:rPr lang="en-US" sz="1400" b="1" dirty="0">
                <a:solidFill>
                  <a:srgbClr val="1F4E79"/>
                </a:solidFill>
                <a:latin typeface="Courier New" pitchFamily="34" charset="0"/>
                <a:ea typeface="Courier New" pitchFamily="34" charset="-122"/>
                <a:cs typeface="Courier New" pitchFamily="34" charset="-120"/>
              </a:rPr>
              <a:t>run_suricata</a:t>
            </a:r>
            <a:endParaRPr lang="en-US" sz="1400" dirty="0"/>
          </a:p>
        </p:txBody>
      </p:sp>
      <p:sp>
        <p:nvSpPr>
          <p:cNvPr id="41" name="Text 39"/>
          <p:cNvSpPr txBox="1"/>
          <p:nvPr/>
        </p:nvSpPr>
        <p:spPr>
          <a:xfrm>
            <a:off x="5989320" y="4901184"/>
            <a:ext cx="2468880" cy="3200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replay pcap to validate</a:t>
            </a:r>
            <a:endParaRPr lang="en-US" sz="1200" dirty="0"/>
          </a:p>
        </p:txBody>
      </p:sp>
      <p:sp>
        <p:nvSpPr>
          <p:cNvPr id="42" name="Shape 40"/>
          <p:cNvSpPr/>
          <p:nvPr/>
        </p:nvSpPr>
        <p:spPr>
          <a:xfrm>
            <a:off x="8732520" y="4489704"/>
            <a:ext cx="2743200" cy="777240"/>
          </a:xfrm>
          <a:prstGeom prst="roundRect">
            <a:avLst>
              <a:gd name="adj" fmla="val 9412"/>
            </a:avLst>
          </a:prstGeom>
          <a:solidFill>
            <a:srgbClr val="EEF3F8"/>
          </a:solidFill>
          <a:ln w="12700">
            <a:solidFill>
              <a:srgbClr val="EEF3F8"/>
            </a:solidFill>
            <a:prstDash val="solid"/>
          </a:ln>
        </p:spPr>
      </p:sp>
      <p:sp>
        <p:nvSpPr>
          <p:cNvPr id="43" name="Text 41"/>
          <p:cNvSpPr txBox="1"/>
          <p:nvPr/>
        </p:nvSpPr>
        <p:spPr>
          <a:xfrm>
            <a:off x="8915400" y="4562856"/>
            <a:ext cx="2468880" cy="347472"/>
          </a:xfrm>
          <a:prstGeom prst="rect">
            <a:avLst/>
          </a:prstGeom>
          <a:noFill/>
          <a:ln/>
        </p:spPr>
        <p:txBody>
          <a:bodyPr wrap="square" lIns="0" tIns="0" rIns="0" bIns="0" rtlCol="0" anchor="t"/>
          <a:lstStyle/>
          <a:p>
            <a:pPr indent="0" marL="0">
              <a:buNone/>
            </a:pPr>
            <a:r>
              <a:rPr lang="en-US" sz="1400" b="1" dirty="0">
                <a:solidFill>
                  <a:srgbClr val="1F4E79"/>
                </a:solidFill>
                <a:latin typeface="Courier New" pitchFamily="34" charset="0"/>
                <a:ea typeface="Courier New" pitchFamily="34" charset="-122"/>
                <a:cs typeface="Courier New" pitchFamily="34" charset="-120"/>
              </a:rPr>
              <a:t>list_directory</a:t>
            </a:r>
            <a:endParaRPr lang="en-US" sz="1400" dirty="0"/>
          </a:p>
        </p:txBody>
      </p:sp>
      <p:sp>
        <p:nvSpPr>
          <p:cNvPr id="44" name="Text 42"/>
          <p:cNvSpPr txBox="1"/>
          <p:nvPr/>
        </p:nvSpPr>
        <p:spPr>
          <a:xfrm>
            <a:off x="8915400" y="4901184"/>
            <a:ext cx="2468880" cy="32004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allowlisted folders</a:t>
            </a:r>
            <a:endParaRPr lang="en-US" sz="1200" dirty="0"/>
          </a:p>
        </p:txBody>
      </p:sp>
      <p:sp>
        <p:nvSpPr>
          <p:cNvPr id="45" name="Shape 43"/>
          <p:cNvSpPr/>
          <p:nvPr/>
        </p:nvSpPr>
        <p:spPr>
          <a:xfrm>
            <a:off x="5806440" y="5486400"/>
            <a:ext cx="5669280" cy="685800"/>
          </a:xfrm>
          <a:prstGeom prst="roundRect">
            <a:avLst>
              <a:gd name="adj" fmla="val 10667"/>
            </a:avLst>
          </a:prstGeom>
          <a:solidFill>
            <a:srgbClr val="0F2533"/>
          </a:solidFill>
          <a:ln w="12700">
            <a:solidFill>
              <a:srgbClr val="0F2533"/>
            </a:solidFill>
            <a:prstDash val="solid"/>
          </a:ln>
        </p:spPr>
      </p:sp>
      <p:sp>
        <p:nvSpPr>
          <p:cNvPr id="46" name="Text 44"/>
          <p:cNvSpPr txBox="1"/>
          <p:nvPr/>
        </p:nvSpPr>
        <p:spPr>
          <a:xfrm>
            <a:off x="5989320" y="5486400"/>
            <a:ext cx="5349240" cy="6858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Tool design mattered as much as the model: DeepSeek V3 failed every run until we added count_by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Safety and evaluation integrity</a:t>
            </a:r>
            <a:endParaRPr lang="en-US" sz="3400" dirty="0"/>
          </a:p>
        </p:txBody>
      </p:sp>
      <p:sp>
        <p:nvSpPr>
          <p:cNvPr id="3" name="Text 1"/>
          <p:cNvSpPr txBox="1"/>
          <p:nvPr/>
        </p:nvSpPr>
        <p:spPr>
          <a:xfrm>
            <a:off x="548640" y="1234440"/>
            <a:ext cx="5486400" cy="411480"/>
          </a:xfrm>
          <a:prstGeom prst="rect">
            <a:avLst/>
          </a:prstGeom>
          <a:noFill/>
          <a:ln/>
        </p:spPr>
        <p:txBody>
          <a:bodyPr wrap="square" lIns="0" tIns="0" rIns="0" bIns="0" rtlCol="0" anchor="t"/>
          <a:lstStyle/>
          <a:p>
            <a:pPr indent="0" marL="0">
              <a:buNone/>
            </a:pPr>
            <a:r>
              <a:rPr lang="en-US" sz="2000" b="1" dirty="0">
                <a:solidFill>
                  <a:srgbClr val="1F4E79"/>
                </a:solidFill>
                <a:latin typeface="Cambria" pitchFamily="34" charset="0"/>
                <a:ea typeface="Cambria" pitchFamily="34" charset="-122"/>
                <a:cs typeface="Cambria" pitchFamily="34" charset="-120"/>
              </a:rPr>
              <a:t>Safety asymmetry</a:t>
            </a:r>
            <a:endParaRPr lang="en-US" sz="2000" dirty="0"/>
          </a:p>
        </p:txBody>
      </p:sp>
      <p:sp>
        <p:nvSpPr>
          <p:cNvPr id="4" name="Shape 2"/>
          <p:cNvSpPr/>
          <p:nvPr/>
        </p:nvSpPr>
        <p:spPr>
          <a:xfrm>
            <a:off x="548640" y="1828800"/>
            <a:ext cx="1737360" cy="822960"/>
          </a:xfrm>
          <a:prstGeom prst="roundRect">
            <a:avLst>
              <a:gd name="adj" fmla="val 8889"/>
            </a:avLst>
          </a:prstGeom>
          <a:solidFill>
            <a:srgbClr val="EEF3F8"/>
          </a:solidFill>
          <a:ln w="12700">
            <a:solidFill>
              <a:srgbClr val="EEF3F8"/>
            </a:solidFill>
            <a:prstDash val="solid"/>
          </a:ln>
        </p:spPr>
      </p:sp>
      <p:sp>
        <p:nvSpPr>
          <p:cNvPr id="5" name="Text 3"/>
          <p:cNvSpPr txBox="1"/>
          <p:nvPr/>
        </p:nvSpPr>
        <p:spPr>
          <a:xfrm>
            <a:off x="548640" y="1828800"/>
            <a:ext cx="1737360" cy="822960"/>
          </a:xfrm>
          <a:prstGeom prst="rect">
            <a:avLst/>
          </a:prstGeom>
          <a:noFill/>
          <a:ln/>
        </p:spPr>
        <p:txBody>
          <a:bodyPr wrap="square" lIns="0" tIns="0" rIns="0" bIns="0" rtlCol="0" anchor="ctr"/>
          <a:lstStyle/>
          <a:p>
            <a:pPr algn="ctr" indent="0" marL="0">
              <a:buNone/>
            </a:pPr>
            <a:r>
              <a:rPr lang="en-US" sz="1300" b="1" dirty="0">
                <a:solidFill>
                  <a:srgbClr val="0F2533"/>
                </a:solidFill>
                <a:latin typeface="Calibri" pitchFamily="34" charset="0"/>
                <a:ea typeface="Calibri" pitchFamily="34" charset="-122"/>
                <a:cs typeface="Calibri" pitchFamily="34" charset="-120"/>
              </a:rPr>
              <a:t>Threat</a:t>
            </a:r>
            <a:endParaRPr lang="en-US" sz="1300" dirty="0"/>
          </a:p>
        </p:txBody>
      </p:sp>
      <p:sp>
        <p:nvSpPr>
          <p:cNvPr id="6" name="Shape 4"/>
          <p:cNvSpPr/>
          <p:nvPr/>
        </p:nvSpPr>
        <p:spPr>
          <a:xfrm>
            <a:off x="2286000" y="2240280"/>
            <a:ext cx="320040" cy="0"/>
          </a:xfrm>
          <a:prstGeom prst="line">
            <a:avLst/>
          </a:prstGeom>
          <a:noFill/>
          <a:ln w="25400">
            <a:solidFill>
              <a:srgbClr val="5B6B7A"/>
            </a:solidFill>
            <a:prstDash val="solid"/>
            <a:tailEnd type="triangle"/>
          </a:ln>
        </p:spPr>
      </p:sp>
      <p:sp>
        <p:nvSpPr>
          <p:cNvPr id="7" name="Shape 5"/>
          <p:cNvSpPr/>
          <p:nvPr/>
        </p:nvSpPr>
        <p:spPr>
          <a:xfrm>
            <a:off x="2606040" y="1828800"/>
            <a:ext cx="1737360" cy="822960"/>
          </a:xfrm>
          <a:prstGeom prst="roundRect">
            <a:avLst>
              <a:gd name="adj" fmla="val 8889"/>
            </a:avLst>
          </a:prstGeom>
          <a:solidFill>
            <a:srgbClr val="EEF3F8"/>
          </a:solidFill>
          <a:ln w="12700">
            <a:solidFill>
              <a:srgbClr val="EEF3F8"/>
            </a:solidFill>
            <a:prstDash val="solid"/>
          </a:ln>
        </p:spPr>
      </p:sp>
      <p:sp>
        <p:nvSpPr>
          <p:cNvPr id="8" name="Text 6"/>
          <p:cNvSpPr txBox="1"/>
          <p:nvPr/>
        </p:nvSpPr>
        <p:spPr>
          <a:xfrm>
            <a:off x="2606040" y="1828800"/>
            <a:ext cx="1737360" cy="822960"/>
          </a:xfrm>
          <a:prstGeom prst="rect">
            <a:avLst/>
          </a:prstGeom>
          <a:noFill/>
          <a:ln/>
        </p:spPr>
        <p:txBody>
          <a:bodyPr wrap="square" lIns="0" tIns="0" rIns="0" bIns="0" rtlCol="0" anchor="ctr"/>
          <a:lstStyle/>
          <a:p>
            <a:pPr algn="ctr" indent="0" marL="0">
              <a:buNone/>
            </a:pPr>
            <a:r>
              <a:rPr lang="en-US" sz="1300" b="1" dirty="0">
                <a:solidFill>
                  <a:srgbClr val="0F2533"/>
                </a:solidFill>
                <a:latin typeface="Calibri" pitchFamily="34" charset="0"/>
                <a:ea typeface="Calibri" pitchFamily="34" charset="-122"/>
                <a:cs typeface="Calibri" pitchFamily="34" charset="-120"/>
              </a:rPr>
              <a:t>Write rule +</a:t>
            </a:r>
            <a:endParaRPr lang="en-US" sz="1300" dirty="0"/>
          </a:p>
          <a:p>
            <a:pPr algn="ctr" indent="0" marL="0">
              <a:buNone/>
            </a:pPr>
            <a:r>
              <a:rPr lang="en-US" sz="1300" b="1" dirty="0">
                <a:solidFill>
                  <a:srgbClr val="0F2533"/>
                </a:solidFill>
                <a:latin typeface="Calibri" pitchFamily="34" charset="0"/>
                <a:ea typeface="Calibri" pitchFamily="34" charset="-122"/>
                <a:cs typeface="Calibri" pitchFamily="34" charset="-120"/>
              </a:rPr>
              <a:t>replay-validate</a:t>
            </a:r>
            <a:endParaRPr lang="en-US" sz="1300" dirty="0"/>
          </a:p>
        </p:txBody>
      </p:sp>
      <p:sp>
        <p:nvSpPr>
          <p:cNvPr id="9" name="Shape 7"/>
          <p:cNvSpPr/>
          <p:nvPr/>
        </p:nvSpPr>
        <p:spPr>
          <a:xfrm>
            <a:off x="4343400" y="2240280"/>
            <a:ext cx="320040" cy="0"/>
          </a:xfrm>
          <a:prstGeom prst="line">
            <a:avLst/>
          </a:prstGeom>
          <a:noFill/>
          <a:ln w="25400">
            <a:solidFill>
              <a:srgbClr val="5B6B7A"/>
            </a:solidFill>
            <a:prstDash val="solid"/>
            <a:tailEnd type="triangle"/>
          </a:ln>
        </p:spPr>
      </p:sp>
      <p:sp>
        <p:nvSpPr>
          <p:cNvPr id="10" name="Shape 8"/>
          <p:cNvSpPr/>
          <p:nvPr/>
        </p:nvSpPr>
        <p:spPr>
          <a:xfrm>
            <a:off x="4663440" y="1828800"/>
            <a:ext cx="1645920" cy="822960"/>
          </a:xfrm>
          <a:prstGeom prst="roundRect">
            <a:avLst>
              <a:gd name="adj" fmla="val 8889"/>
            </a:avLst>
          </a:prstGeom>
          <a:solidFill>
            <a:srgbClr val="2E7D32"/>
          </a:solidFill>
          <a:ln w="12700">
            <a:solidFill>
              <a:srgbClr val="2E7D32"/>
            </a:solidFill>
            <a:prstDash val="solid"/>
          </a:ln>
        </p:spPr>
      </p:sp>
      <p:sp>
        <p:nvSpPr>
          <p:cNvPr id="11" name="Text 9"/>
          <p:cNvSpPr txBox="1"/>
          <p:nvPr/>
        </p:nvSpPr>
        <p:spPr>
          <a:xfrm>
            <a:off x="4663440" y="1828800"/>
            <a:ext cx="164592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Auto-deploy</a:t>
            </a:r>
            <a:endParaRPr lang="en-US" sz="1300" dirty="0"/>
          </a:p>
        </p:txBody>
      </p:sp>
      <p:sp>
        <p:nvSpPr>
          <p:cNvPr id="12" name="Shape 10"/>
          <p:cNvSpPr/>
          <p:nvPr/>
        </p:nvSpPr>
        <p:spPr>
          <a:xfrm>
            <a:off x="548640" y="2926080"/>
            <a:ext cx="1737360" cy="822960"/>
          </a:xfrm>
          <a:prstGeom prst="roundRect">
            <a:avLst>
              <a:gd name="adj" fmla="val 8889"/>
            </a:avLst>
          </a:prstGeom>
          <a:solidFill>
            <a:srgbClr val="EEF3F8"/>
          </a:solidFill>
          <a:ln w="12700">
            <a:solidFill>
              <a:srgbClr val="EEF3F8"/>
            </a:solidFill>
            <a:prstDash val="solid"/>
          </a:ln>
        </p:spPr>
      </p:sp>
      <p:sp>
        <p:nvSpPr>
          <p:cNvPr id="13" name="Text 11"/>
          <p:cNvSpPr txBox="1"/>
          <p:nvPr/>
        </p:nvSpPr>
        <p:spPr>
          <a:xfrm>
            <a:off x="548640" y="2926080"/>
            <a:ext cx="1737360" cy="822960"/>
          </a:xfrm>
          <a:prstGeom prst="rect">
            <a:avLst/>
          </a:prstGeom>
          <a:noFill/>
          <a:ln/>
        </p:spPr>
        <p:txBody>
          <a:bodyPr wrap="square" lIns="0" tIns="0" rIns="0" bIns="0" rtlCol="0" anchor="ctr"/>
          <a:lstStyle/>
          <a:p>
            <a:pPr algn="ctr" indent="0" marL="0">
              <a:buNone/>
            </a:pPr>
            <a:r>
              <a:rPr lang="en-US" sz="1300" b="1" dirty="0">
                <a:solidFill>
                  <a:srgbClr val="0F2533"/>
                </a:solidFill>
                <a:latin typeface="Calibri" pitchFamily="34" charset="0"/>
                <a:ea typeface="Calibri" pitchFamily="34" charset="-122"/>
                <a:cs typeface="Calibri" pitchFamily="34" charset="-120"/>
              </a:rPr>
              <a:t>Benign noise</a:t>
            </a:r>
            <a:endParaRPr lang="en-US" sz="1300" dirty="0"/>
          </a:p>
        </p:txBody>
      </p:sp>
      <p:sp>
        <p:nvSpPr>
          <p:cNvPr id="14" name="Shape 12"/>
          <p:cNvSpPr/>
          <p:nvPr/>
        </p:nvSpPr>
        <p:spPr>
          <a:xfrm>
            <a:off x="2286000" y="3337560"/>
            <a:ext cx="320040" cy="0"/>
          </a:xfrm>
          <a:prstGeom prst="line">
            <a:avLst/>
          </a:prstGeom>
          <a:noFill/>
          <a:ln w="25400">
            <a:solidFill>
              <a:srgbClr val="5B6B7A"/>
            </a:solidFill>
            <a:prstDash val="solid"/>
            <a:tailEnd type="triangle"/>
          </a:ln>
        </p:spPr>
      </p:sp>
      <p:sp>
        <p:nvSpPr>
          <p:cNvPr id="15" name="Shape 13"/>
          <p:cNvSpPr/>
          <p:nvPr/>
        </p:nvSpPr>
        <p:spPr>
          <a:xfrm>
            <a:off x="2606040" y="2926080"/>
            <a:ext cx="1737360" cy="822960"/>
          </a:xfrm>
          <a:prstGeom prst="roundRect">
            <a:avLst>
              <a:gd name="adj" fmla="val 8889"/>
            </a:avLst>
          </a:prstGeom>
          <a:solidFill>
            <a:srgbClr val="EEF3F8"/>
          </a:solidFill>
          <a:ln w="12700">
            <a:solidFill>
              <a:srgbClr val="EEF3F8"/>
            </a:solidFill>
            <a:prstDash val="solid"/>
          </a:ln>
        </p:spPr>
      </p:sp>
      <p:sp>
        <p:nvSpPr>
          <p:cNvPr id="16" name="Text 14"/>
          <p:cNvSpPr txBox="1"/>
          <p:nvPr/>
        </p:nvSpPr>
        <p:spPr>
          <a:xfrm>
            <a:off x="2606040" y="2926080"/>
            <a:ext cx="1737360" cy="822960"/>
          </a:xfrm>
          <a:prstGeom prst="rect">
            <a:avLst/>
          </a:prstGeom>
          <a:noFill/>
          <a:ln/>
        </p:spPr>
        <p:txBody>
          <a:bodyPr wrap="square" lIns="0" tIns="0" rIns="0" bIns="0" rtlCol="0" anchor="ctr"/>
          <a:lstStyle/>
          <a:p>
            <a:pPr algn="ctr" indent="0" marL="0">
              <a:buNone/>
            </a:pPr>
            <a:r>
              <a:rPr lang="en-US" sz="1300" b="1" dirty="0">
                <a:solidFill>
                  <a:srgbClr val="0F2533"/>
                </a:solidFill>
                <a:latin typeface="Calibri" pitchFamily="34" charset="0"/>
                <a:ea typeface="Calibri" pitchFamily="34" charset="-122"/>
                <a:cs typeface="Calibri" pitchFamily="34" charset="-120"/>
              </a:rPr>
              <a:t>Propose</a:t>
            </a:r>
            <a:endParaRPr lang="en-US" sz="1300" dirty="0"/>
          </a:p>
          <a:p>
            <a:pPr algn="ctr" indent="0" marL="0">
              <a:buNone/>
            </a:pPr>
            <a:r>
              <a:rPr lang="en-US" sz="1300" b="1" dirty="0">
                <a:solidFill>
                  <a:srgbClr val="0F2533"/>
                </a:solidFill>
                <a:latin typeface="Calibri" pitchFamily="34" charset="0"/>
                <a:ea typeface="Calibri" pitchFamily="34" charset="-122"/>
                <a:cs typeface="Calibri" pitchFamily="34" charset="-120"/>
              </a:rPr>
              <a:t>suppression</a:t>
            </a:r>
            <a:endParaRPr lang="en-US" sz="1300" dirty="0"/>
          </a:p>
        </p:txBody>
      </p:sp>
      <p:sp>
        <p:nvSpPr>
          <p:cNvPr id="17" name="Shape 15"/>
          <p:cNvSpPr/>
          <p:nvPr/>
        </p:nvSpPr>
        <p:spPr>
          <a:xfrm>
            <a:off x="4343400" y="3337560"/>
            <a:ext cx="320040" cy="0"/>
          </a:xfrm>
          <a:prstGeom prst="line">
            <a:avLst/>
          </a:prstGeom>
          <a:noFill/>
          <a:ln w="25400">
            <a:solidFill>
              <a:srgbClr val="5B6B7A"/>
            </a:solidFill>
            <a:prstDash val="solid"/>
            <a:tailEnd type="triangle"/>
          </a:ln>
        </p:spPr>
      </p:sp>
      <p:sp>
        <p:nvSpPr>
          <p:cNvPr id="18" name="Shape 16"/>
          <p:cNvSpPr/>
          <p:nvPr/>
        </p:nvSpPr>
        <p:spPr>
          <a:xfrm>
            <a:off x="4663440" y="2926080"/>
            <a:ext cx="1645920" cy="822960"/>
          </a:xfrm>
          <a:prstGeom prst="roundRect">
            <a:avLst>
              <a:gd name="adj" fmla="val 8889"/>
            </a:avLst>
          </a:prstGeom>
          <a:solidFill>
            <a:srgbClr val="B03A2E"/>
          </a:solidFill>
          <a:ln w="12700">
            <a:solidFill>
              <a:srgbClr val="B03A2E"/>
            </a:solidFill>
            <a:prstDash val="solid"/>
          </a:ln>
        </p:spPr>
      </p:sp>
      <p:sp>
        <p:nvSpPr>
          <p:cNvPr id="19" name="Text 17"/>
          <p:cNvSpPr txBox="1"/>
          <p:nvPr/>
        </p:nvSpPr>
        <p:spPr>
          <a:xfrm>
            <a:off x="4663440" y="2926080"/>
            <a:ext cx="1645920" cy="8229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Human</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approval</a:t>
            </a:r>
            <a:endParaRPr lang="en-US" sz="1300" dirty="0"/>
          </a:p>
        </p:txBody>
      </p:sp>
      <p:sp>
        <p:nvSpPr>
          <p:cNvPr id="20" name="Text 18"/>
          <p:cNvSpPr txBox="1"/>
          <p:nvPr/>
        </p:nvSpPr>
        <p:spPr>
          <a:xfrm>
            <a:off x="548640" y="3931920"/>
            <a:ext cx="5760720" cy="73152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A bad rule over-alerts (wrong-way safe). A bad suppression blinds the sensor (wrong-way unsafe) — so a human decides.</a:t>
            </a:r>
            <a:endParaRPr lang="en-US" sz="1300" dirty="0"/>
          </a:p>
        </p:txBody>
      </p:sp>
      <p:sp>
        <p:nvSpPr>
          <p:cNvPr id="21" name="Shape 19"/>
          <p:cNvSpPr/>
          <p:nvPr/>
        </p:nvSpPr>
        <p:spPr>
          <a:xfrm>
            <a:off x="548640" y="4754880"/>
            <a:ext cx="5760720" cy="1325880"/>
          </a:xfrm>
          <a:prstGeom prst="roundRect">
            <a:avLst>
              <a:gd name="adj" fmla="val 5517"/>
            </a:avLst>
          </a:prstGeom>
          <a:solidFill>
            <a:srgbClr val="EEF3F8"/>
          </a:solidFill>
          <a:ln w="12700">
            <a:solidFill>
              <a:srgbClr val="EEF3F8"/>
            </a:solidFill>
            <a:prstDash val="solid"/>
          </a:ln>
        </p:spPr>
      </p:sp>
      <p:sp>
        <p:nvSpPr>
          <p:cNvPr id="22" name="Shape 20"/>
          <p:cNvSpPr/>
          <p:nvPr/>
        </p:nvSpPr>
        <p:spPr>
          <a:xfrm>
            <a:off x="777240" y="4983480"/>
            <a:ext cx="566928" cy="566928"/>
          </a:xfrm>
          <a:prstGeom prst="ellipse">
            <a:avLst/>
          </a:prstGeom>
          <a:solidFill>
            <a:srgbClr val="D9822B"/>
          </a:solidFill>
          <a:ln w="12700">
            <a:solidFill>
              <a:srgbClr val="D9822B"/>
            </a:solidFill>
            <a:prstDash val="solid"/>
          </a:ln>
        </p:spPr>
      </p:sp>
      <p:pic>
        <p:nvPicPr>
          <p:cNvPr id="23" name="Image 0" descr="preencoded.png">    </p:cNvPr>
          <p:cNvPicPr>
            <a:picLocks noChangeAspect="1"/>
          </p:cNvPicPr>
          <p:nvPr/>
        </p:nvPicPr>
        <p:blipFill>
          <a:blip r:embed="rId1"/>
          <a:stretch>
            <a:fillRect/>
          </a:stretch>
        </p:blipFill>
        <p:spPr>
          <a:xfrm>
            <a:off x="913303" y="5119543"/>
            <a:ext cx="294803" cy="294803"/>
          </a:xfrm>
          <a:prstGeom prst="rect">
            <a:avLst/>
          </a:prstGeom>
        </p:spPr>
      </p:pic>
      <p:sp>
        <p:nvSpPr>
          <p:cNvPr id="24" name="Text 21"/>
          <p:cNvSpPr txBox="1"/>
          <p:nvPr/>
        </p:nvSpPr>
        <p:spPr>
          <a:xfrm>
            <a:off x="1508760" y="4846320"/>
            <a:ext cx="4663440" cy="1143000"/>
          </a:xfrm>
          <a:prstGeom prst="rect">
            <a:avLst/>
          </a:prstGeom>
          <a:noFill/>
          <a:ln/>
        </p:spPr>
        <p:txBody>
          <a:bodyPr wrap="square" lIns="0" tIns="0" rIns="0" bIns="0" rtlCol="0" anchor="ctr"/>
          <a:lstStyle/>
          <a:p>
            <a:pPr indent="0" marL="0">
              <a:buNone/>
            </a:pPr>
            <a:r>
              <a:rPr lang="en-US" sz="1300" dirty="0">
                <a:solidFill>
                  <a:srgbClr val="0F2533"/>
                </a:solidFill>
                <a:latin typeface="Calibri" pitchFamily="34" charset="0"/>
                <a:ea typeface="Calibri" pitchFamily="34" charset="-122"/>
                <a:cs typeface="Calibri" pitchFamily="34" charset="-120"/>
              </a:rPr>
              <a:t>It mattered: one UNSW run proposed suppressing rules that were catching a real Cisco heap-overflow exploit. The proposal needed approval, so the sensor stayed sighted.</a:t>
            </a:r>
            <a:endParaRPr lang="en-US" sz="1300" dirty="0"/>
          </a:p>
        </p:txBody>
      </p:sp>
      <p:sp>
        <p:nvSpPr>
          <p:cNvPr id="25" name="Text 22"/>
          <p:cNvSpPr txBox="1"/>
          <p:nvPr/>
        </p:nvSpPr>
        <p:spPr>
          <a:xfrm>
            <a:off x="6720840" y="1234440"/>
            <a:ext cx="4937760" cy="411480"/>
          </a:xfrm>
          <a:prstGeom prst="rect">
            <a:avLst/>
          </a:prstGeom>
          <a:noFill/>
          <a:ln/>
        </p:spPr>
        <p:txBody>
          <a:bodyPr wrap="square" lIns="0" tIns="0" rIns="0" bIns="0" rtlCol="0" anchor="t"/>
          <a:lstStyle/>
          <a:p>
            <a:pPr indent="0" marL="0">
              <a:buNone/>
            </a:pPr>
            <a:r>
              <a:rPr lang="en-US" sz="2000" b="1" dirty="0">
                <a:solidFill>
                  <a:srgbClr val="1F4E79"/>
                </a:solidFill>
                <a:latin typeface="Cambria" pitchFamily="34" charset="0"/>
                <a:ea typeface="Cambria" pitchFamily="34" charset="-122"/>
                <a:cs typeface="Cambria" pitchFamily="34" charset="-120"/>
              </a:rPr>
              <a:t>Evaluation integrity</a:t>
            </a:r>
            <a:endParaRPr lang="en-US" sz="2000" dirty="0"/>
          </a:p>
        </p:txBody>
      </p:sp>
      <p:sp>
        <p:nvSpPr>
          <p:cNvPr id="26" name="Shape 23"/>
          <p:cNvSpPr/>
          <p:nvPr/>
        </p:nvSpPr>
        <p:spPr>
          <a:xfrm>
            <a:off x="6720840" y="1828800"/>
            <a:ext cx="4919472" cy="4251960"/>
          </a:xfrm>
          <a:prstGeom prst="roundRect">
            <a:avLst>
              <a:gd name="adj" fmla="val 1720"/>
            </a:avLst>
          </a:prstGeom>
          <a:solidFill>
            <a:srgbClr val="0F2533"/>
          </a:solidFill>
          <a:ln w="12700">
            <a:solidFill>
              <a:srgbClr val="0F2533"/>
            </a:solidFill>
            <a:prstDash val="solid"/>
          </a:ln>
        </p:spPr>
      </p:sp>
      <p:sp>
        <p:nvSpPr>
          <p:cNvPr id="27" name="Shape 24"/>
          <p:cNvSpPr/>
          <p:nvPr/>
        </p:nvSpPr>
        <p:spPr>
          <a:xfrm>
            <a:off x="6949440" y="2057400"/>
            <a:ext cx="566928" cy="566928"/>
          </a:xfrm>
          <a:prstGeom prst="ellipse">
            <a:avLst/>
          </a:prstGeom>
          <a:solidFill>
            <a:srgbClr val="D9822B"/>
          </a:solidFill>
          <a:ln w="12700">
            <a:solidFill>
              <a:srgbClr val="D9822B"/>
            </a:solidFill>
            <a:prstDash val="solid"/>
          </a:ln>
        </p:spPr>
      </p:sp>
      <p:pic>
        <p:nvPicPr>
          <p:cNvPr id="28" name="Image 1" descr="preencoded.png">    </p:cNvPr>
          <p:cNvPicPr>
            <a:picLocks noChangeAspect="1"/>
          </p:cNvPicPr>
          <p:nvPr/>
        </p:nvPicPr>
        <p:blipFill>
          <a:blip r:embed="rId2"/>
          <a:stretch>
            <a:fillRect/>
          </a:stretch>
        </p:blipFill>
        <p:spPr>
          <a:xfrm>
            <a:off x="7085503" y="2193463"/>
            <a:ext cx="294803" cy="294803"/>
          </a:xfrm>
          <a:prstGeom prst="rect">
            <a:avLst/>
          </a:prstGeom>
        </p:spPr>
      </p:pic>
      <p:sp>
        <p:nvSpPr>
          <p:cNvPr id="29" name="Text 25"/>
          <p:cNvSpPr txBox="1"/>
          <p:nvPr/>
        </p:nvSpPr>
        <p:spPr>
          <a:xfrm>
            <a:off x="7680960" y="2103120"/>
            <a:ext cx="3840480" cy="50292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Our transcript audit found label leakage</a:t>
            </a:r>
            <a:endParaRPr lang="en-US" sz="1500" dirty="0"/>
          </a:p>
        </p:txBody>
      </p:sp>
      <p:sp>
        <p:nvSpPr>
          <p:cNvPr id="30" name="Text 26"/>
          <p:cNvSpPr txBox="1"/>
          <p:nvPr/>
        </p:nvSpPr>
        <p:spPr>
          <a:xfrm>
            <a:off x="6949440" y="2834640"/>
            <a:ext cx="4480560" cy="310896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Early runs listed the ground-truth folder — file names like '…PortScan' name the attack</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One Tuesday run read the answer from our own project notes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Fix: tools can open only logs/, config/, rules/, data/pcaps/</a:t>
            </a:r>
            <a:endParaRPr lang="en-US" sz="1400" dirty="0"/>
          </a:p>
          <a:p>
            <a:pPr marL="177800" indent="-1778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UNSW runs: zero attempts to read labels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Two datasets, scored against ground truth</a:t>
            </a:r>
            <a:endParaRPr lang="en-US" sz="3400" dirty="0"/>
          </a:p>
        </p:txBody>
      </p:sp>
      <p:sp>
        <p:nvSpPr>
          <p:cNvPr id="3" name="Shape 1"/>
          <p:cNvSpPr/>
          <p:nvPr/>
        </p:nvSpPr>
        <p:spPr>
          <a:xfrm>
            <a:off x="548640" y="1280160"/>
            <a:ext cx="5349240" cy="4800600"/>
          </a:xfrm>
          <a:prstGeom prst="roundRect">
            <a:avLst>
              <a:gd name="adj" fmla="val 1524"/>
            </a:avLst>
          </a:prstGeom>
          <a:solidFill>
            <a:srgbClr val="EEF3F8"/>
          </a:solidFill>
          <a:ln w="12700">
            <a:solidFill>
              <a:srgbClr val="EEF3F8"/>
            </a:solidFill>
            <a:prstDash val="solid"/>
          </a:ln>
        </p:spPr>
      </p:sp>
      <p:sp>
        <p:nvSpPr>
          <p:cNvPr id="4" name="Shape 2"/>
          <p:cNvSpPr/>
          <p:nvPr/>
        </p:nvSpPr>
        <p:spPr>
          <a:xfrm>
            <a:off x="822960" y="1508760"/>
            <a:ext cx="640080" cy="640080"/>
          </a:xfrm>
          <a:prstGeom prst="ellipse">
            <a:avLst/>
          </a:prstGeom>
          <a:solidFill>
            <a:srgbClr val="1F4E79"/>
          </a:solidFill>
          <a:ln w="12700">
            <a:solidFill>
              <a:srgbClr val="1F4E79"/>
            </a:solidFill>
            <a:prstDash val="solid"/>
          </a:ln>
        </p:spPr>
      </p:sp>
      <p:pic>
        <p:nvPicPr>
          <p:cNvPr id="5" name="Image 0" descr="preencoded.png">    </p:cNvPr>
          <p:cNvPicPr>
            <a:picLocks noChangeAspect="1"/>
          </p:cNvPicPr>
          <p:nvPr/>
        </p:nvPicPr>
        <p:blipFill>
          <a:blip r:embed="rId1"/>
          <a:stretch>
            <a:fillRect/>
          </a:stretch>
        </p:blipFill>
        <p:spPr>
          <a:xfrm>
            <a:off x="976579" y="1662379"/>
            <a:ext cx="332842" cy="332842"/>
          </a:xfrm>
          <a:prstGeom prst="rect">
            <a:avLst/>
          </a:prstGeom>
        </p:spPr>
      </p:pic>
      <p:sp>
        <p:nvSpPr>
          <p:cNvPr id="6" name="Text 3"/>
          <p:cNvSpPr txBox="1"/>
          <p:nvPr/>
        </p:nvSpPr>
        <p:spPr>
          <a:xfrm>
            <a:off x="1645920" y="1508760"/>
            <a:ext cx="4023360" cy="411480"/>
          </a:xfrm>
          <a:prstGeom prst="rect">
            <a:avLst/>
          </a:prstGeom>
          <a:noFill/>
          <a:ln/>
        </p:spPr>
        <p:txBody>
          <a:bodyPr wrap="square" lIns="0" tIns="0" rIns="0" bIns="0" rtlCol="0" anchor="t"/>
          <a:lstStyle/>
          <a:p>
            <a:pPr indent="0" marL="0">
              <a:buNone/>
            </a:pPr>
            <a:r>
              <a:rPr lang="en-US" sz="2400" b="1" dirty="0">
                <a:solidFill>
                  <a:srgbClr val="0F2533"/>
                </a:solidFill>
                <a:latin typeface="Cambria" pitchFamily="34" charset="0"/>
                <a:ea typeface="Cambria" pitchFamily="34" charset="-122"/>
                <a:cs typeface="Cambria" pitchFamily="34" charset="-120"/>
              </a:rPr>
              <a:t>CIC-IDS2017</a:t>
            </a:r>
            <a:endParaRPr lang="en-US" sz="2400" dirty="0"/>
          </a:p>
        </p:txBody>
      </p:sp>
      <p:sp>
        <p:nvSpPr>
          <p:cNvPr id="7" name="Text 4"/>
          <p:cNvSpPr txBox="1"/>
          <p:nvPr/>
        </p:nvSpPr>
        <p:spPr>
          <a:xfrm>
            <a:off x="1645920" y="1938528"/>
            <a:ext cx="4023360" cy="3200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Canadian Institute for Cybersecurity</a:t>
            </a:r>
            <a:endParaRPr lang="en-US" sz="1300" dirty="0"/>
          </a:p>
        </p:txBody>
      </p:sp>
      <p:sp>
        <p:nvSpPr>
          <p:cNvPr id="8" name="Text 5"/>
          <p:cNvSpPr txBox="1"/>
          <p:nvPr/>
        </p:nvSpPr>
        <p:spPr>
          <a:xfrm>
            <a:off x="822960" y="2606040"/>
            <a:ext cx="1645920" cy="685800"/>
          </a:xfrm>
          <a:prstGeom prst="rect">
            <a:avLst/>
          </a:prstGeom>
          <a:noFill/>
          <a:ln/>
        </p:spPr>
        <p:txBody>
          <a:bodyPr wrap="square" lIns="0" tIns="0" rIns="0" bIns="0" rtlCol="0" anchor="b"/>
          <a:lstStyle/>
          <a:p>
            <a:pPr indent="0" marL="0">
              <a:buNone/>
            </a:pPr>
            <a:r>
              <a:rPr lang="en-US" sz="3600" b="1" dirty="0">
                <a:solidFill>
                  <a:srgbClr val="1F4E79"/>
                </a:solidFill>
                <a:latin typeface="Cambria" pitchFamily="34" charset="0"/>
                <a:ea typeface="Cambria" pitchFamily="34" charset="-122"/>
                <a:cs typeface="Cambria" pitchFamily="34" charset="-120"/>
              </a:rPr>
              <a:t>14</a:t>
            </a:r>
            <a:endParaRPr lang="en-US" sz="3600" dirty="0"/>
          </a:p>
        </p:txBody>
      </p:sp>
      <p:sp>
        <p:nvSpPr>
          <p:cNvPr id="9" name="Text 6"/>
          <p:cNvSpPr txBox="1"/>
          <p:nvPr/>
        </p:nvSpPr>
        <p:spPr>
          <a:xfrm>
            <a:off x="822960" y="3337560"/>
            <a:ext cx="155448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attack categories</a:t>
            </a:r>
            <a:endParaRPr lang="en-US" sz="1200" dirty="0"/>
          </a:p>
        </p:txBody>
      </p:sp>
      <p:sp>
        <p:nvSpPr>
          <p:cNvPr id="10" name="Text 7"/>
          <p:cNvSpPr txBox="1"/>
          <p:nvPr/>
        </p:nvSpPr>
        <p:spPr>
          <a:xfrm>
            <a:off x="2514600" y="2606040"/>
            <a:ext cx="1645920" cy="685800"/>
          </a:xfrm>
          <a:prstGeom prst="rect">
            <a:avLst/>
          </a:prstGeom>
          <a:noFill/>
          <a:ln/>
        </p:spPr>
        <p:txBody>
          <a:bodyPr wrap="square" lIns="0" tIns="0" rIns="0" bIns="0" rtlCol="0" anchor="b"/>
          <a:lstStyle/>
          <a:p>
            <a:pPr indent="0" marL="0">
              <a:buNone/>
            </a:pPr>
            <a:r>
              <a:rPr lang="en-US" sz="3600" b="1" dirty="0">
                <a:solidFill>
                  <a:srgbClr val="1F4E79"/>
                </a:solidFill>
                <a:latin typeface="Cambria" pitchFamily="34" charset="0"/>
                <a:ea typeface="Cambria" pitchFamily="34" charset="-122"/>
                <a:cs typeface="Cambria" pitchFamily="34" charset="-120"/>
              </a:rPr>
              <a:t>4</a:t>
            </a:r>
            <a:endParaRPr lang="en-US" sz="3600" dirty="0"/>
          </a:p>
        </p:txBody>
      </p:sp>
      <p:sp>
        <p:nvSpPr>
          <p:cNvPr id="11" name="Text 8"/>
          <p:cNvSpPr txBox="1"/>
          <p:nvPr/>
        </p:nvSpPr>
        <p:spPr>
          <a:xfrm>
            <a:off x="2514600" y="3337560"/>
            <a:ext cx="155448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attack days, tuned + raw passes</a:t>
            </a:r>
            <a:endParaRPr lang="en-US" sz="1200" dirty="0"/>
          </a:p>
        </p:txBody>
      </p:sp>
      <p:sp>
        <p:nvSpPr>
          <p:cNvPr id="12" name="Text 9"/>
          <p:cNvSpPr txBox="1"/>
          <p:nvPr/>
        </p:nvSpPr>
        <p:spPr>
          <a:xfrm>
            <a:off x="4206240" y="2606040"/>
            <a:ext cx="1645920" cy="685800"/>
          </a:xfrm>
          <a:prstGeom prst="rect">
            <a:avLst/>
          </a:prstGeom>
          <a:noFill/>
          <a:ln/>
        </p:spPr>
        <p:txBody>
          <a:bodyPr wrap="square" lIns="0" tIns="0" rIns="0" bIns="0" rtlCol="0" anchor="b"/>
          <a:lstStyle/>
          <a:p>
            <a:pPr indent="0" marL="0">
              <a:buNone/>
            </a:pPr>
            <a:r>
              <a:rPr lang="en-US" sz="2600" b="1" dirty="0">
                <a:solidFill>
                  <a:srgbClr val="1F4E79"/>
                </a:solidFill>
                <a:latin typeface="Cambria" pitchFamily="34" charset="0"/>
                <a:ea typeface="Cambria" pitchFamily="34" charset="-122"/>
                <a:cs typeface="Cambria" pitchFamily="34" charset="-120"/>
              </a:rPr>
              <a:t>per-flow</a:t>
            </a:r>
            <a:endParaRPr lang="en-US" sz="2600" dirty="0"/>
          </a:p>
        </p:txBody>
      </p:sp>
      <p:sp>
        <p:nvSpPr>
          <p:cNvPr id="13" name="Text 10"/>
          <p:cNvSpPr txBox="1"/>
          <p:nvPr/>
        </p:nvSpPr>
        <p:spPr>
          <a:xfrm>
            <a:off x="4206240" y="3337560"/>
            <a:ext cx="155448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labels (CICFlowMeter)</a:t>
            </a:r>
            <a:endParaRPr lang="en-US" sz="1200" dirty="0"/>
          </a:p>
        </p:txBody>
      </p:sp>
      <p:sp>
        <p:nvSpPr>
          <p:cNvPr id="14" name="Text 11"/>
          <p:cNvSpPr txBox="1"/>
          <p:nvPr/>
        </p:nvSpPr>
        <p:spPr>
          <a:xfrm>
            <a:off x="822960" y="4251960"/>
            <a:ext cx="4800600" cy="164592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Brute force, DoS (Hulk, GoldenEye, slowloris, Slowhttptest), Heartbleed, web attacks, infiltration, DDoS, port scan, ARES botnet</a:t>
            </a:r>
            <a:endParaRPr lang="en-US" sz="1400" dirty="0"/>
          </a:p>
        </p:txBody>
      </p:sp>
      <p:sp>
        <p:nvSpPr>
          <p:cNvPr id="15" name="Shape 12"/>
          <p:cNvSpPr/>
          <p:nvPr/>
        </p:nvSpPr>
        <p:spPr>
          <a:xfrm>
            <a:off x="6217920" y="1280160"/>
            <a:ext cx="5349240" cy="4800600"/>
          </a:xfrm>
          <a:prstGeom prst="roundRect">
            <a:avLst>
              <a:gd name="adj" fmla="val 1524"/>
            </a:avLst>
          </a:prstGeom>
          <a:solidFill>
            <a:srgbClr val="EEF3F8"/>
          </a:solidFill>
          <a:ln w="12700">
            <a:solidFill>
              <a:srgbClr val="EEF3F8"/>
            </a:solidFill>
            <a:prstDash val="solid"/>
          </a:ln>
        </p:spPr>
      </p:sp>
      <p:sp>
        <p:nvSpPr>
          <p:cNvPr id="16" name="Shape 13"/>
          <p:cNvSpPr/>
          <p:nvPr/>
        </p:nvSpPr>
        <p:spPr>
          <a:xfrm>
            <a:off x="6492240" y="1508760"/>
            <a:ext cx="640080" cy="640080"/>
          </a:xfrm>
          <a:prstGeom prst="ellipse">
            <a:avLst/>
          </a:prstGeom>
          <a:solidFill>
            <a:srgbClr val="D9822B"/>
          </a:solidFill>
          <a:ln w="12700">
            <a:solidFill>
              <a:srgbClr val="D9822B"/>
            </a:solidFill>
            <a:prstDash val="solid"/>
          </a:ln>
        </p:spPr>
      </p:sp>
      <p:pic>
        <p:nvPicPr>
          <p:cNvPr id="17" name="Image 1" descr="preencoded.png">    </p:cNvPr>
          <p:cNvPicPr>
            <a:picLocks noChangeAspect="1"/>
          </p:cNvPicPr>
          <p:nvPr/>
        </p:nvPicPr>
        <p:blipFill>
          <a:blip r:embed="rId2"/>
          <a:stretch>
            <a:fillRect/>
          </a:stretch>
        </p:blipFill>
        <p:spPr>
          <a:xfrm>
            <a:off x="6645859" y="1662379"/>
            <a:ext cx="332842" cy="332842"/>
          </a:xfrm>
          <a:prstGeom prst="rect">
            <a:avLst/>
          </a:prstGeom>
        </p:spPr>
      </p:pic>
      <p:sp>
        <p:nvSpPr>
          <p:cNvPr id="18" name="Text 14"/>
          <p:cNvSpPr txBox="1"/>
          <p:nvPr/>
        </p:nvSpPr>
        <p:spPr>
          <a:xfrm>
            <a:off x="7315200" y="1508760"/>
            <a:ext cx="4023360" cy="411480"/>
          </a:xfrm>
          <a:prstGeom prst="rect">
            <a:avLst/>
          </a:prstGeom>
          <a:noFill/>
          <a:ln/>
        </p:spPr>
        <p:txBody>
          <a:bodyPr wrap="square" lIns="0" tIns="0" rIns="0" bIns="0" rtlCol="0" anchor="t"/>
          <a:lstStyle/>
          <a:p>
            <a:pPr indent="0" marL="0">
              <a:buNone/>
            </a:pPr>
            <a:r>
              <a:rPr lang="en-US" sz="2400" b="1" dirty="0">
                <a:solidFill>
                  <a:srgbClr val="0F2533"/>
                </a:solidFill>
                <a:latin typeface="Cambria" pitchFamily="34" charset="0"/>
                <a:ea typeface="Cambria" pitchFamily="34" charset="-122"/>
                <a:cs typeface="Cambria" pitchFamily="34" charset="-120"/>
              </a:rPr>
              <a:t>UNSW-NB15</a:t>
            </a:r>
            <a:endParaRPr lang="en-US" sz="2400" dirty="0"/>
          </a:p>
        </p:txBody>
      </p:sp>
      <p:sp>
        <p:nvSpPr>
          <p:cNvPr id="19" name="Text 15"/>
          <p:cNvSpPr txBox="1"/>
          <p:nvPr/>
        </p:nvSpPr>
        <p:spPr>
          <a:xfrm>
            <a:off x="7315200" y="1938528"/>
            <a:ext cx="4023360" cy="3200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UNSW Canberra Cyber Range Lab</a:t>
            </a:r>
            <a:endParaRPr lang="en-US" sz="1300" dirty="0"/>
          </a:p>
        </p:txBody>
      </p:sp>
      <p:sp>
        <p:nvSpPr>
          <p:cNvPr id="20" name="Text 16"/>
          <p:cNvSpPr txBox="1"/>
          <p:nvPr/>
        </p:nvSpPr>
        <p:spPr>
          <a:xfrm>
            <a:off x="6492240" y="2606040"/>
            <a:ext cx="1645920" cy="685800"/>
          </a:xfrm>
          <a:prstGeom prst="rect">
            <a:avLst/>
          </a:prstGeom>
          <a:noFill/>
          <a:ln/>
        </p:spPr>
        <p:txBody>
          <a:bodyPr wrap="square" lIns="0" tIns="0" rIns="0" bIns="0" rtlCol="0" anchor="b"/>
          <a:lstStyle/>
          <a:p>
            <a:pPr indent="0" marL="0">
              <a:buNone/>
            </a:pPr>
            <a:r>
              <a:rPr lang="en-US" sz="3600" b="1" dirty="0">
                <a:solidFill>
                  <a:srgbClr val="D9822B"/>
                </a:solidFill>
                <a:latin typeface="Cambria" pitchFamily="34" charset="0"/>
                <a:ea typeface="Cambria" pitchFamily="34" charset="-122"/>
                <a:cs typeface="Cambria" pitchFamily="34" charset="-120"/>
              </a:rPr>
              <a:t>9</a:t>
            </a:r>
            <a:endParaRPr lang="en-US" sz="3600" dirty="0"/>
          </a:p>
        </p:txBody>
      </p:sp>
      <p:sp>
        <p:nvSpPr>
          <p:cNvPr id="21" name="Text 17"/>
          <p:cNvSpPr txBox="1"/>
          <p:nvPr/>
        </p:nvSpPr>
        <p:spPr>
          <a:xfrm>
            <a:off x="6492240" y="3337560"/>
            <a:ext cx="155448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attack categories</a:t>
            </a:r>
            <a:endParaRPr lang="en-US" sz="1200" dirty="0"/>
          </a:p>
        </p:txBody>
      </p:sp>
      <p:sp>
        <p:nvSpPr>
          <p:cNvPr id="22" name="Text 18"/>
          <p:cNvSpPr txBox="1"/>
          <p:nvPr/>
        </p:nvSpPr>
        <p:spPr>
          <a:xfrm>
            <a:off x="8183880" y="2606040"/>
            <a:ext cx="1645920" cy="685800"/>
          </a:xfrm>
          <a:prstGeom prst="rect">
            <a:avLst/>
          </a:prstGeom>
          <a:noFill/>
          <a:ln/>
        </p:spPr>
        <p:txBody>
          <a:bodyPr wrap="square" lIns="0" tIns="0" rIns="0" bIns="0" rtlCol="0" anchor="b"/>
          <a:lstStyle/>
          <a:p>
            <a:pPr indent="0" marL="0">
              <a:buNone/>
            </a:pPr>
            <a:r>
              <a:rPr lang="en-US" sz="3600" b="1" dirty="0">
                <a:solidFill>
                  <a:srgbClr val="D9822B"/>
                </a:solidFill>
                <a:latin typeface="Cambria" pitchFamily="34" charset="0"/>
                <a:ea typeface="Cambria" pitchFamily="34" charset="-122"/>
                <a:cs typeface="Cambria" pitchFamily="34" charset="-120"/>
              </a:rPr>
              <a:t>6</a:t>
            </a:r>
            <a:endParaRPr lang="en-US" sz="3600" dirty="0"/>
          </a:p>
        </p:txBody>
      </p:sp>
      <p:sp>
        <p:nvSpPr>
          <p:cNvPr id="23" name="Text 19"/>
          <p:cNvSpPr txBox="1"/>
          <p:nvPr/>
        </p:nvSpPr>
        <p:spPr>
          <a:xfrm>
            <a:off x="8183880" y="3337560"/>
            <a:ext cx="155448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captures (12 GB), raw only</a:t>
            </a:r>
            <a:endParaRPr lang="en-US" sz="1200" dirty="0"/>
          </a:p>
        </p:txBody>
      </p:sp>
      <p:sp>
        <p:nvSpPr>
          <p:cNvPr id="24" name="Text 20"/>
          <p:cNvSpPr txBox="1"/>
          <p:nvPr/>
        </p:nvSpPr>
        <p:spPr>
          <a:xfrm>
            <a:off x="9875520" y="2606040"/>
            <a:ext cx="1645920" cy="685800"/>
          </a:xfrm>
          <a:prstGeom prst="rect">
            <a:avLst/>
          </a:prstGeom>
          <a:noFill/>
          <a:ln/>
        </p:spPr>
        <p:txBody>
          <a:bodyPr wrap="square" lIns="0" tIns="0" rIns="0" bIns="0" rtlCol="0" anchor="b"/>
          <a:lstStyle/>
          <a:p>
            <a:pPr indent="0" marL="0">
              <a:buNone/>
            </a:pPr>
            <a:r>
              <a:rPr lang="en-US" sz="2600" b="1" dirty="0">
                <a:solidFill>
                  <a:srgbClr val="D9822B"/>
                </a:solidFill>
                <a:latin typeface="Cambria" pitchFamily="34" charset="0"/>
                <a:ea typeface="Cambria" pitchFamily="34" charset="-122"/>
                <a:cs typeface="Cambria" pitchFamily="34" charset="-120"/>
              </a:rPr>
              <a:t>31,432</a:t>
            </a:r>
            <a:endParaRPr lang="en-US" sz="2600" dirty="0"/>
          </a:p>
        </p:txBody>
      </p:sp>
      <p:sp>
        <p:nvSpPr>
          <p:cNvPr id="25" name="Text 21"/>
          <p:cNvSpPr txBox="1"/>
          <p:nvPr/>
        </p:nvSpPr>
        <p:spPr>
          <a:xfrm>
            <a:off x="9875520" y="3337560"/>
            <a:ext cx="1554480" cy="640080"/>
          </a:xfrm>
          <a:prstGeom prst="rect">
            <a:avLst/>
          </a:prstGeom>
          <a:noFill/>
          <a:ln/>
        </p:spPr>
        <p:txBody>
          <a:bodyPr wrap="square" lIns="0" tIns="0" rIns="0" bIns="0" rtlCol="0" anchor="t"/>
          <a:lstStyle/>
          <a:p>
            <a:pPr indent="0" marL="0">
              <a:buNone/>
            </a:pPr>
            <a:r>
              <a:rPr lang="en-US" sz="1200" dirty="0">
                <a:solidFill>
                  <a:srgbClr val="5B6B7A"/>
                </a:solidFill>
                <a:latin typeface="Calibri" pitchFamily="34" charset="0"/>
                <a:ea typeface="Calibri" pitchFamily="34" charset="-122"/>
                <a:cs typeface="Calibri" pitchFamily="34" charset="-120"/>
              </a:rPr>
              <a:t>labelled attack events</a:t>
            </a:r>
            <a:endParaRPr lang="en-US" sz="1200" dirty="0"/>
          </a:p>
        </p:txBody>
      </p:sp>
      <p:sp>
        <p:nvSpPr>
          <p:cNvPr id="26" name="Text 22"/>
          <p:cNvSpPr txBox="1"/>
          <p:nvPr/>
        </p:nvSpPr>
        <p:spPr>
          <a:xfrm>
            <a:off x="6492240" y="4251960"/>
            <a:ext cx="4800600" cy="164592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Never used during development — tests whether the approach transfers. No benign-only day, so no baseline tuning is possible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CIC-IDS2017: broad coverage, precise rules</a:t>
            </a:r>
            <a:endParaRPr lang="en-US" sz="3400" dirty="0"/>
          </a:p>
        </p:txBody>
      </p:sp>
      <p:sp>
        <p:nvSpPr>
          <p:cNvPr id="3" name="Text 1"/>
          <p:cNvSpPr txBox="1"/>
          <p:nvPr/>
        </p:nvSpPr>
        <p:spPr>
          <a:xfrm>
            <a:off x="548640" y="1325880"/>
            <a:ext cx="3931920" cy="777240"/>
          </a:xfrm>
          <a:prstGeom prst="rect">
            <a:avLst/>
          </a:prstGeom>
          <a:noFill/>
          <a:ln/>
        </p:spPr>
        <p:txBody>
          <a:bodyPr wrap="square" lIns="0" tIns="0" rIns="0" bIns="0" rtlCol="0" anchor="b"/>
          <a:lstStyle/>
          <a:p>
            <a:pPr indent="0" marL="0">
              <a:buNone/>
            </a:pPr>
            <a:r>
              <a:rPr lang="en-US" sz="4400" b="1" dirty="0">
                <a:solidFill>
                  <a:srgbClr val="D9822B"/>
                </a:solidFill>
                <a:latin typeface="Cambria" pitchFamily="34" charset="0"/>
                <a:ea typeface="Cambria" pitchFamily="34" charset="-122"/>
                <a:cs typeface="Cambria" pitchFamily="34" charset="-120"/>
              </a:rPr>
              <a:t>13 / 14</a:t>
            </a:r>
            <a:endParaRPr lang="en-US" sz="4400" dirty="0"/>
          </a:p>
        </p:txBody>
      </p:sp>
      <p:sp>
        <p:nvSpPr>
          <p:cNvPr id="4" name="Text 2"/>
          <p:cNvSpPr txBox="1"/>
          <p:nvPr/>
        </p:nvSpPr>
        <p:spPr>
          <a:xfrm>
            <a:off x="548640" y="2103120"/>
            <a:ext cx="393192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attack categories identified by the model (only DoS GoldenEye missed)</a:t>
            </a:r>
            <a:endParaRPr lang="en-US" sz="1300" dirty="0"/>
          </a:p>
        </p:txBody>
      </p:sp>
      <p:sp>
        <p:nvSpPr>
          <p:cNvPr id="5" name="Text 3"/>
          <p:cNvSpPr txBox="1"/>
          <p:nvPr/>
        </p:nvSpPr>
        <p:spPr>
          <a:xfrm>
            <a:off x="548640" y="2834640"/>
            <a:ext cx="3931920" cy="777240"/>
          </a:xfrm>
          <a:prstGeom prst="rect">
            <a:avLst/>
          </a:prstGeom>
          <a:noFill/>
          <a:ln/>
        </p:spPr>
        <p:txBody>
          <a:bodyPr wrap="square" lIns="0" tIns="0" rIns="0" bIns="0" rtlCol="0" anchor="b"/>
          <a:lstStyle/>
          <a:p>
            <a:pPr indent="0" marL="0">
              <a:buNone/>
            </a:pPr>
            <a:r>
              <a:rPr lang="en-US" sz="4400" b="1" dirty="0">
                <a:solidFill>
                  <a:srgbClr val="1F4E79"/>
                </a:solidFill>
                <a:latin typeface="Cambria" pitchFamily="34" charset="0"/>
                <a:ea typeface="Cambria" pitchFamily="34" charset="-122"/>
                <a:cs typeface="Cambria" pitchFamily="34" charset="-120"/>
              </a:rPr>
              <a:t>8 → 12</a:t>
            </a:r>
            <a:endParaRPr lang="en-US" sz="4400" dirty="0"/>
          </a:p>
        </p:txBody>
      </p:sp>
      <p:sp>
        <p:nvSpPr>
          <p:cNvPr id="6" name="Text 4"/>
          <p:cNvSpPr txBox="1"/>
          <p:nvPr/>
        </p:nvSpPr>
        <p:spPr>
          <a:xfrm>
            <a:off x="548640" y="3611880"/>
            <a:ext cx="393192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of 14 categories caught by rules: stock ET Open → stock + AI-authored rules</a:t>
            </a:r>
            <a:endParaRPr lang="en-US" sz="1300" dirty="0"/>
          </a:p>
        </p:txBody>
      </p:sp>
      <p:sp>
        <p:nvSpPr>
          <p:cNvPr id="7" name="Text 5"/>
          <p:cNvSpPr txBox="1"/>
          <p:nvPr/>
        </p:nvSpPr>
        <p:spPr>
          <a:xfrm>
            <a:off x="548640" y="4343400"/>
            <a:ext cx="3931920" cy="777240"/>
          </a:xfrm>
          <a:prstGeom prst="rect">
            <a:avLst/>
          </a:prstGeom>
          <a:noFill/>
          <a:ln/>
        </p:spPr>
        <p:txBody>
          <a:bodyPr wrap="square" lIns="0" tIns="0" rIns="0" bIns="0" rtlCol="0" anchor="b"/>
          <a:lstStyle/>
          <a:p>
            <a:pPr indent="0" marL="0">
              <a:buNone/>
            </a:pPr>
            <a:r>
              <a:rPr lang="en-US" sz="4400" b="1" dirty="0">
                <a:solidFill>
                  <a:srgbClr val="D9822B"/>
                </a:solidFill>
                <a:latin typeface="Cambria" pitchFamily="34" charset="0"/>
                <a:ea typeface="Cambria" pitchFamily="34" charset="-122"/>
                <a:cs typeface="Cambria" pitchFamily="34" charset="-120"/>
              </a:rPr>
              <a:t>99.4%</a:t>
            </a:r>
            <a:endParaRPr lang="en-US" sz="4400" dirty="0"/>
          </a:p>
        </p:txBody>
      </p:sp>
      <p:sp>
        <p:nvSpPr>
          <p:cNvPr id="8" name="Text 6"/>
          <p:cNvSpPr txBox="1"/>
          <p:nvPr/>
        </p:nvSpPr>
        <p:spPr>
          <a:xfrm>
            <a:off x="548640" y="5120640"/>
            <a:ext cx="393192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of AI-rule alerts on the noisy days fell on real attack flows (stock rules: 6.1%)</a:t>
            </a:r>
            <a:endParaRPr lang="en-US" sz="1300" dirty="0"/>
          </a:p>
        </p:txBody>
      </p:sp>
      <p:graphicFrame>
        <p:nvGraphicFramePr>
          <p:cNvPr id="9" name="Chart 0" descr=""/>
          <p:cNvGraphicFramePr/>
          <p:nvPr/>
        </p:nvGraphicFramePr>
        <p:xfrm>
          <a:off x="4846320" y="1280160"/>
          <a:ext cx="6766560" cy="466344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548640" y="6400800"/>
            <a:ext cx="11094415" cy="274320"/>
          </a:xfrm>
          <a:prstGeom prst="rect">
            <a:avLst/>
          </a:prstGeom>
          <a:noFill/>
          <a:ln/>
        </p:spPr>
        <p:txBody>
          <a:bodyPr wrap="square" lIns="0" tIns="0" rIns="0" bIns="0" rtlCol="0" anchor="t"/>
          <a:lstStyle/>
          <a:p>
            <a:pPr indent="0" marL="0">
              <a:buNone/>
            </a:pPr>
            <a:r>
              <a:rPr lang="en-US" sz="1000" dirty="0">
                <a:solidFill>
                  <a:srgbClr val="9AA3AD"/>
                </a:solidFill>
                <a:latin typeface="Calibri" pitchFamily="34" charset="0"/>
                <a:ea typeface="Calibri" pitchFamily="34" charset="-122"/>
                <a:cs typeface="Calibri" pitchFamily="34" charset="-120"/>
              </a:rPr>
              <a:t>Flow-level matching on 5-tuple and time; Suricata engine events excluded. The one bad rule (FTP 'data staging') fires on routine uploads.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What the stock rules missed</a:t>
            </a:r>
            <a:endParaRPr lang="en-US" sz="3400" dirty="0"/>
          </a:p>
        </p:txBody>
      </p:sp>
      <p:sp>
        <p:nvSpPr>
          <p:cNvPr id="3" name="Shape 1"/>
          <p:cNvSpPr/>
          <p:nvPr/>
        </p:nvSpPr>
        <p:spPr>
          <a:xfrm>
            <a:off x="548640" y="1325880"/>
            <a:ext cx="5349240" cy="2194560"/>
          </a:xfrm>
          <a:prstGeom prst="roundRect">
            <a:avLst>
              <a:gd name="adj" fmla="val 3333"/>
            </a:avLst>
          </a:prstGeom>
          <a:solidFill>
            <a:srgbClr val="EEF3F8"/>
          </a:solidFill>
          <a:ln w="12700">
            <a:solidFill>
              <a:srgbClr val="EEF3F8"/>
            </a:solidFill>
            <a:prstDash val="solid"/>
          </a:ln>
        </p:spPr>
      </p:sp>
      <p:sp>
        <p:nvSpPr>
          <p:cNvPr id="4" name="Shape 2"/>
          <p:cNvSpPr/>
          <p:nvPr/>
        </p:nvSpPr>
        <p:spPr>
          <a:xfrm>
            <a:off x="822960" y="1600200"/>
            <a:ext cx="640080" cy="640080"/>
          </a:xfrm>
          <a:prstGeom prst="ellipse">
            <a:avLst/>
          </a:prstGeom>
          <a:solidFill>
            <a:srgbClr val="1F4E79"/>
          </a:solidFill>
          <a:ln w="12700">
            <a:solidFill>
              <a:srgbClr val="1F4E79"/>
            </a:solidFill>
            <a:prstDash val="solid"/>
          </a:ln>
        </p:spPr>
      </p:sp>
      <p:pic>
        <p:nvPicPr>
          <p:cNvPr id="5" name="Image 0" descr="preencoded.png">    </p:cNvPr>
          <p:cNvPicPr>
            <a:picLocks noChangeAspect="1"/>
          </p:cNvPicPr>
          <p:nvPr/>
        </p:nvPicPr>
        <p:blipFill>
          <a:blip r:embed="rId1"/>
          <a:stretch>
            <a:fillRect/>
          </a:stretch>
        </p:blipFill>
        <p:spPr>
          <a:xfrm>
            <a:off x="976579" y="1753819"/>
            <a:ext cx="332842" cy="332842"/>
          </a:xfrm>
          <a:prstGeom prst="rect">
            <a:avLst/>
          </a:prstGeom>
        </p:spPr>
      </p:pic>
      <p:sp>
        <p:nvSpPr>
          <p:cNvPr id="6" name="Text 3"/>
          <p:cNvSpPr txBox="1"/>
          <p:nvPr/>
        </p:nvSpPr>
        <p:spPr>
          <a:xfrm>
            <a:off x="1645920" y="1645920"/>
            <a:ext cx="4023360" cy="502920"/>
          </a:xfrm>
          <a:prstGeom prst="rect">
            <a:avLst/>
          </a:prstGeom>
          <a:noFill/>
          <a:ln/>
        </p:spPr>
        <p:txBody>
          <a:bodyPr wrap="square" lIns="0" tIns="0" rIns="0" bIns="0" rtlCol="0" anchor="ctr"/>
          <a:lstStyle/>
          <a:p>
            <a:pPr indent="0" marL="0">
              <a:buNone/>
            </a:pPr>
            <a:r>
              <a:rPr lang="en-US" sz="2100" b="1" dirty="0">
                <a:solidFill>
                  <a:srgbClr val="0F2533"/>
                </a:solidFill>
                <a:latin typeface="Cambria" pitchFamily="34" charset="0"/>
                <a:ea typeface="Cambria" pitchFamily="34" charset="-122"/>
                <a:cs typeface="Cambria" pitchFamily="34" charset="-120"/>
              </a:rPr>
              <a:t>FAKEVERB DoS</a:t>
            </a:r>
            <a:endParaRPr lang="en-US" sz="2100" dirty="0"/>
          </a:p>
        </p:txBody>
      </p:sp>
      <p:sp>
        <p:nvSpPr>
          <p:cNvPr id="7" name="Text 4"/>
          <p:cNvSpPr txBox="1"/>
          <p:nvPr/>
        </p:nvSpPr>
        <p:spPr>
          <a:xfrm>
            <a:off x="822960" y="2331720"/>
            <a:ext cx="4800600" cy="68580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Diagnosed that Suricata's HTTP parser hides non-standard methods, rewrote the rule on raw TCP payload</a:t>
            </a:r>
            <a:endParaRPr lang="en-US" sz="1400" dirty="0"/>
          </a:p>
        </p:txBody>
      </p:sp>
      <p:sp>
        <p:nvSpPr>
          <p:cNvPr id="8" name="Text 5"/>
          <p:cNvSpPr txBox="1"/>
          <p:nvPr/>
        </p:nvSpPr>
        <p:spPr>
          <a:xfrm>
            <a:off x="822960" y="3017520"/>
            <a:ext cx="4800600" cy="365760"/>
          </a:xfrm>
          <a:prstGeom prst="rect">
            <a:avLst/>
          </a:prstGeom>
          <a:noFill/>
          <a:ln/>
        </p:spPr>
        <p:txBody>
          <a:bodyPr wrap="square" lIns="0" tIns="0" rIns="0" bIns="0" rtlCol="0" anchor="t"/>
          <a:lstStyle/>
          <a:p>
            <a:pPr indent="0" marL="0">
              <a:buNone/>
            </a:pPr>
            <a:r>
              <a:rPr lang="en-US" sz="1500" b="1" dirty="0">
                <a:solidFill>
                  <a:srgbClr val="D9822B"/>
                </a:solidFill>
                <a:latin typeface="Calibri" pitchFamily="34" charset="0"/>
                <a:ea typeface="Calibri" pitchFamily="34" charset="-122"/>
                <a:cs typeface="Calibri" pitchFamily="34" charset="-120"/>
              </a:rPr>
              <a:t>463 hits (stock: none)</a:t>
            </a:r>
            <a:endParaRPr lang="en-US" sz="1500" dirty="0"/>
          </a:p>
        </p:txBody>
      </p:sp>
      <p:sp>
        <p:nvSpPr>
          <p:cNvPr id="9" name="Shape 6"/>
          <p:cNvSpPr/>
          <p:nvPr/>
        </p:nvSpPr>
        <p:spPr>
          <a:xfrm>
            <a:off x="6217920" y="1325880"/>
            <a:ext cx="5349240" cy="2194560"/>
          </a:xfrm>
          <a:prstGeom prst="roundRect">
            <a:avLst>
              <a:gd name="adj" fmla="val 3333"/>
            </a:avLst>
          </a:prstGeom>
          <a:solidFill>
            <a:srgbClr val="EEF3F8"/>
          </a:solidFill>
          <a:ln w="12700">
            <a:solidFill>
              <a:srgbClr val="EEF3F8"/>
            </a:solidFill>
            <a:prstDash val="solid"/>
          </a:ln>
        </p:spPr>
      </p:sp>
      <p:sp>
        <p:nvSpPr>
          <p:cNvPr id="10" name="Shape 7"/>
          <p:cNvSpPr/>
          <p:nvPr/>
        </p:nvSpPr>
        <p:spPr>
          <a:xfrm>
            <a:off x="6492240" y="1600200"/>
            <a:ext cx="640080" cy="640080"/>
          </a:xfrm>
          <a:prstGeom prst="ellipse">
            <a:avLst/>
          </a:prstGeom>
          <a:solidFill>
            <a:srgbClr val="1F4E79"/>
          </a:solidFill>
          <a:ln w="12700">
            <a:solidFill>
              <a:srgbClr val="1F4E79"/>
            </a:solidFill>
            <a:prstDash val="solid"/>
          </a:ln>
        </p:spPr>
      </p:sp>
      <p:pic>
        <p:nvPicPr>
          <p:cNvPr id="11" name="Image 1" descr="preencoded.png">    </p:cNvPr>
          <p:cNvPicPr>
            <a:picLocks noChangeAspect="1"/>
          </p:cNvPicPr>
          <p:nvPr/>
        </p:nvPicPr>
        <p:blipFill>
          <a:blip r:embed="rId2"/>
          <a:stretch>
            <a:fillRect/>
          </a:stretch>
        </p:blipFill>
        <p:spPr>
          <a:xfrm>
            <a:off x="6645859" y="1753819"/>
            <a:ext cx="332842" cy="332842"/>
          </a:xfrm>
          <a:prstGeom prst="rect">
            <a:avLst/>
          </a:prstGeom>
        </p:spPr>
      </p:pic>
      <p:sp>
        <p:nvSpPr>
          <p:cNvPr id="12" name="Text 8"/>
          <p:cNvSpPr txBox="1"/>
          <p:nvPr/>
        </p:nvSpPr>
        <p:spPr>
          <a:xfrm>
            <a:off x="7315200" y="1645920"/>
            <a:ext cx="4023360" cy="502920"/>
          </a:xfrm>
          <a:prstGeom prst="rect">
            <a:avLst/>
          </a:prstGeom>
          <a:noFill/>
          <a:ln/>
        </p:spPr>
        <p:txBody>
          <a:bodyPr wrap="square" lIns="0" tIns="0" rIns="0" bIns="0" rtlCol="0" anchor="ctr"/>
          <a:lstStyle/>
          <a:p>
            <a:pPr indent="0" marL="0">
              <a:buNone/>
            </a:pPr>
            <a:r>
              <a:rPr lang="en-US" sz="2100" b="1" dirty="0">
                <a:solidFill>
                  <a:srgbClr val="0F2533"/>
                </a:solidFill>
                <a:latin typeface="Cambria" pitchFamily="34" charset="0"/>
                <a:ea typeface="Cambria" pitchFamily="34" charset="-122"/>
                <a:cs typeface="Cambria" pitchFamily="34" charset="-120"/>
              </a:rPr>
              <a:t>Hulk GET flood</a:t>
            </a:r>
            <a:endParaRPr lang="en-US" sz="2100" dirty="0"/>
          </a:p>
        </p:txBody>
      </p:sp>
      <p:sp>
        <p:nvSpPr>
          <p:cNvPr id="13" name="Text 9"/>
          <p:cNvSpPr txBox="1"/>
          <p:nvPr/>
        </p:nvSpPr>
        <p:spPr>
          <a:xfrm>
            <a:off x="6492240" y="2331720"/>
            <a:ext cx="4800600" cy="68580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149,703-request cache-busting flood with no dedicated stock rule; wrote and validated a rate rule</a:t>
            </a:r>
            <a:endParaRPr lang="en-US" sz="1400" dirty="0"/>
          </a:p>
        </p:txBody>
      </p:sp>
      <p:sp>
        <p:nvSpPr>
          <p:cNvPr id="14" name="Text 10"/>
          <p:cNvSpPr txBox="1"/>
          <p:nvPr/>
        </p:nvSpPr>
        <p:spPr>
          <a:xfrm>
            <a:off x="6492240" y="3017520"/>
            <a:ext cx="4800600" cy="365760"/>
          </a:xfrm>
          <a:prstGeom prst="rect">
            <a:avLst/>
          </a:prstGeom>
          <a:noFill/>
          <a:ln/>
        </p:spPr>
        <p:txBody>
          <a:bodyPr wrap="square" lIns="0" tIns="0" rIns="0" bIns="0" rtlCol="0" anchor="t"/>
          <a:lstStyle/>
          <a:p>
            <a:pPr indent="0" marL="0">
              <a:buNone/>
            </a:pPr>
            <a:r>
              <a:rPr lang="en-US" sz="1500" b="1" dirty="0">
                <a:solidFill>
                  <a:srgbClr val="D9822B"/>
                </a:solidFill>
                <a:latin typeface="Calibri" pitchFamily="34" charset="0"/>
                <a:ea typeface="Calibri" pitchFamily="34" charset="-122"/>
                <a:cs typeface="Calibri" pitchFamily="34" charset="-120"/>
              </a:rPr>
              <a:t>new detection</a:t>
            </a:r>
            <a:endParaRPr lang="en-US" sz="1500" dirty="0"/>
          </a:p>
        </p:txBody>
      </p:sp>
      <p:sp>
        <p:nvSpPr>
          <p:cNvPr id="15" name="Shape 11"/>
          <p:cNvSpPr/>
          <p:nvPr/>
        </p:nvSpPr>
        <p:spPr>
          <a:xfrm>
            <a:off x="548640" y="3749040"/>
            <a:ext cx="5349240" cy="2194560"/>
          </a:xfrm>
          <a:prstGeom prst="roundRect">
            <a:avLst>
              <a:gd name="adj" fmla="val 3333"/>
            </a:avLst>
          </a:prstGeom>
          <a:solidFill>
            <a:srgbClr val="EEF3F8"/>
          </a:solidFill>
          <a:ln w="12700">
            <a:solidFill>
              <a:srgbClr val="EEF3F8"/>
            </a:solidFill>
            <a:prstDash val="solid"/>
          </a:ln>
        </p:spPr>
      </p:sp>
      <p:sp>
        <p:nvSpPr>
          <p:cNvPr id="16" name="Shape 12"/>
          <p:cNvSpPr/>
          <p:nvPr/>
        </p:nvSpPr>
        <p:spPr>
          <a:xfrm>
            <a:off x="822960" y="4023360"/>
            <a:ext cx="640080" cy="640080"/>
          </a:xfrm>
          <a:prstGeom prst="ellipse">
            <a:avLst/>
          </a:prstGeom>
          <a:solidFill>
            <a:srgbClr val="D9822B"/>
          </a:solidFill>
          <a:ln w="12700">
            <a:solidFill>
              <a:srgbClr val="D9822B"/>
            </a:solidFill>
            <a:prstDash val="solid"/>
          </a:ln>
        </p:spPr>
      </p:sp>
      <p:pic>
        <p:nvPicPr>
          <p:cNvPr id="17" name="Image 2" descr="preencoded.png">    </p:cNvPr>
          <p:cNvPicPr>
            <a:picLocks noChangeAspect="1"/>
          </p:cNvPicPr>
          <p:nvPr/>
        </p:nvPicPr>
        <p:blipFill>
          <a:blip r:embed="rId3"/>
          <a:stretch>
            <a:fillRect/>
          </a:stretch>
        </p:blipFill>
        <p:spPr>
          <a:xfrm>
            <a:off x="976579" y="4176979"/>
            <a:ext cx="332842" cy="332842"/>
          </a:xfrm>
          <a:prstGeom prst="rect">
            <a:avLst/>
          </a:prstGeom>
        </p:spPr>
      </p:pic>
      <p:sp>
        <p:nvSpPr>
          <p:cNvPr id="18" name="Text 13"/>
          <p:cNvSpPr txBox="1"/>
          <p:nvPr/>
        </p:nvSpPr>
        <p:spPr>
          <a:xfrm>
            <a:off x="1645920" y="4069080"/>
            <a:ext cx="4023360" cy="502920"/>
          </a:xfrm>
          <a:prstGeom prst="rect">
            <a:avLst/>
          </a:prstGeom>
          <a:noFill/>
          <a:ln/>
        </p:spPr>
        <p:txBody>
          <a:bodyPr wrap="square" lIns="0" tIns="0" rIns="0" bIns="0" rtlCol="0" anchor="ctr"/>
          <a:lstStyle/>
          <a:p>
            <a:pPr indent="0" marL="0">
              <a:buNone/>
            </a:pPr>
            <a:r>
              <a:rPr lang="en-US" sz="2100" b="1" dirty="0">
                <a:solidFill>
                  <a:srgbClr val="0F2533"/>
                </a:solidFill>
                <a:latin typeface="Cambria" pitchFamily="34" charset="0"/>
                <a:ea typeface="Cambria" pitchFamily="34" charset="-122"/>
                <a:cs typeface="Cambria" pitchFamily="34" charset="-120"/>
              </a:rPr>
              <a:t>ARES botnet</a:t>
            </a:r>
            <a:endParaRPr lang="en-US" sz="2100" dirty="0"/>
          </a:p>
        </p:txBody>
      </p:sp>
      <p:sp>
        <p:nvSpPr>
          <p:cNvPr id="19" name="Text 14"/>
          <p:cNvSpPr txBox="1"/>
          <p:nvPr/>
        </p:nvSpPr>
        <p:spPr>
          <a:xfrm>
            <a:off x="822960" y="4754880"/>
            <a:ext cx="4800600" cy="68580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Five infected hosts beaconing to a C2 server; no stock or custom alert had fired</a:t>
            </a:r>
            <a:endParaRPr lang="en-US" sz="1400" dirty="0"/>
          </a:p>
        </p:txBody>
      </p:sp>
      <p:sp>
        <p:nvSpPr>
          <p:cNvPr id="20" name="Text 15"/>
          <p:cNvSpPr txBox="1"/>
          <p:nvPr/>
        </p:nvSpPr>
        <p:spPr>
          <a:xfrm>
            <a:off x="822960" y="5440680"/>
            <a:ext cx="4800600" cy="365760"/>
          </a:xfrm>
          <a:prstGeom prst="rect">
            <a:avLst/>
          </a:prstGeom>
          <a:noFill/>
          <a:ln/>
        </p:spPr>
        <p:txBody>
          <a:bodyPr wrap="square" lIns="0" tIns="0" rIns="0" bIns="0" rtlCol="0" anchor="t"/>
          <a:lstStyle/>
          <a:p>
            <a:pPr indent="0" marL="0">
              <a:buNone/>
            </a:pPr>
            <a:r>
              <a:rPr lang="en-US" sz="1500" b="1" dirty="0">
                <a:solidFill>
                  <a:srgbClr val="D9822B"/>
                </a:solidFill>
                <a:latin typeface="Calibri" pitchFamily="34" charset="0"/>
                <a:ea typeface="Calibri" pitchFamily="34" charset="-122"/>
                <a:cs typeface="Calibri" pitchFamily="34" charset="-120"/>
              </a:rPr>
              <a:t>15 of 15 alerts on Bot flows</a:t>
            </a:r>
            <a:endParaRPr lang="en-US" sz="1500" dirty="0"/>
          </a:p>
        </p:txBody>
      </p:sp>
      <p:sp>
        <p:nvSpPr>
          <p:cNvPr id="21" name="Shape 16"/>
          <p:cNvSpPr/>
          <p:nvPr/>
        </p:nvSpPr>
        <p:spPr>
          <a:xfrm>
            <a:off x="6217920" y="3749040"/>
            <a:ext cx="5349240" cy="2194560"/>
          </a:xfrm>
          <a:prstGeom prst="roundRect">
            <a:avLst>
              <a:gd name="adj" fmla="val 3333"/>
            </a:avLst>
          </a:prstGeom>
          <a:solidFill>
            <a:srgbClr val="EEF3F8"/>
          </a:solidFill>
          <a:ln w="12700">
            <a:solidFill>
              <a:srgbClr val="EEF3F8"/>
            </a:solidFill>
            <a:prstDash val="solid"/>
          </a:ln>
        </p:spPr>
      </p:sp>
      <p:sp>
        <p:nvSpPr>
          <p:cNvPr id="22" name="Shape 17"/>
          <p:cNvSpPr/>
          <p:nvPr/>
        </p:nvSpPr>
        <p:spPr>
          <a:xfrm>
            <a:off x="6492240" y="4023360"/>
            <a:ext cx="640080" cy="640080"/>
          </a:xfrm>
          <a:prstGeom prst="ellipse">
            <a:avLst/>
          </a:prstGeom>
          <a:solidFill>
            <a:srgbClr val="1F4E79"/>
          </a:solidFill>
          <a:ln w="12700">
            <a:solidFill>
              <a:srgbClr val="1F4E79"/>
            </a:solidFill>
            <a:prstDash val="solid"/>
          </a:ln>
        </p:spPr>
      </p:sp>
      <p:pic>
        <p:nvPicPr>
          <p:cNvPr id="23" name="Image 3" descr="preencoded.png">    </p:cNvPr>
          <p:cNvPicPr>
            <a:picLocks noChangeAspect="1"/>
          </p:cNvPicPr>
          <p:nvPr/>
        </p:nvPicPr>
        <p:blipFill>
          <a:blip r:embed="rId4"/>
          <a:stretch>
            <a:fillRect/>
          </a:stretch>
        </p:blipFill>
        <p:spPr>
          <a:xfrm>
            <a:off x="6645859" y="4176979"/>
            <a:ext cx="332842" cy="332842"/>
          </a:xfrm>
          <a:prstGeom prst="rect">
            <a:avLst/>
          </a:prstGeom>
        </p:spPr>
      </p:pic>
      <p:sp>
        <p:nvSpPr>
          <p:cNvPr id="24" name="Text 18"/>
          <p:cNvSpPr txBox="1"/>
          <p:nvPr/>
        </p:nvSpPr>
        <p:spPr>
          <a:xfrm>
            <a:off x="7315200" y="4069080"/>
            <a:ext cx="4023360" cy="502920"/>
          </a:xfrm>
          <a:prstGeom prst="rect">
            <a:avLst/>
          </a:prstGeom>
          <a:noFill/>
          <a:ln/>
        </p:spPr>
        <p:txBody>
          <a:bodyPr wrap="square" lIns="0" tIns="0" rIns="0" bIns="0" rtlCol="0" anchor="ctr"/>
          <a:lstStyle/>
          <a:p>
            <a:pPr indent="0" marL="0">
              <a:buNone/>
            </a:pPr>
            <a:r>
              <a:rPr lang="en-US" sz="2100" b="1" dirty="0">
                <a:solidFill>
                  <a:srgbClr val="0F2533"/>
                </a:solidFill>
                <a:latin typeface="Cambria" pitchFamily="34" charset="0"/>
                <a:ea typeface="Cambria" pitchFamily="34" charset="-122"/>
                <a:cs typeface="Cambria" pitchFamily="34" charset="-120"/>
              </a:rPr>
              <a:t>SSH brute force</a:t>
            </a:r>
            <a:endParaRPr lang="en-US" sz="2100" dirty="0"/>
          </a:p>
        </p:txBody>
      </p:sp>
      <p:sp>
        <p:nvSpPr>
          <p:cNvPr id="25" name="Text 19"/>
          <p:cNvSpPr txBox="1"/>
          <p:nvPr/>
        </p:nvSpPr>
        <p:spPr>
          <a:xfrm>
            <a:off x="6492240" y="4754880"/>
            <a:ext cx="4800600" cy="685800"/>
          </a:xfrm>
          <a:prstGeom prst="rect">
            <a:avLst/>
          </a:prstGeom>
          <a:noFill/>
          <a:ln/>
        </p:spPr>
        <p:txBody>
          <a:bodyPr wrap="square" lIns="0" tIns="0" rIns="0" bIns="0" rtlCol="0" anchor="t"/>
          <a:lstStyle/>
          <a:p>
            <a:pPr indent="0" marL="0">
              <a:buNone/>
            </a:pPr>
            <a:r>
              <a:rPr lang="en-US" sz="1400" dirty="0">
                <a:solidFill>
                  <a:srgbClr val="0F2533"/>
                </a:solidFill>
                <a:latin typeface="Calibri" pitchFamily="34" charset="0"/>
                <a:ea typeface="Calibri" pitchFamily="34" charset="-122"/>
                <a:cs typeface="Calibri" pitchFamily="34" charset="-120"/>
              </a:rPr>
              <a:t>Paramiko client fingerprint rule for SSH-Patator</a:t>
            </a:r>
            <a:endParaRPr lang="en-US" sz="1400" dirty="0"/>
          </a:p>
        </p:txBody>
      </p:sp>
      <p:sp>
        <p:nvSpPr>
          <p:cNvPr id="26" name="Text 20"/>
          <p:cNvSpPr txBox="1"/>
          <p:nvPr/>
        </p:nvSpPr>
        <p:spPr>
          <a:xfrm>
            <a:off x="6492240" y="5440680"/>
            <a:ext cx="4800600" cy="365760"/>
          </a:xfrm>
          <a:prstGeom prst="rect">
            <a:avLst/>
          </a:prstGeom>
          <a:noFill/>
          <a:ln/>
        </p:spPr>
        <p:txBody>
          <a:bodyPr wrap="square" lIns="0" tIns="0" rIns="0" bIns="0" rtlCol="0" anchor="t"/>
          <a:lstStyle/>
          <a:p>
            <a:pPr indent="0" marL="0">
              <a:buNone/>
            </a:pPr>
            <a:r>
              <a:rPr lang="en-US" sz="1500" b="1" dirty="0">
                <a:solidFill>
                  <a:srgbClr val="D9822B"/>
                </a:solidFill>
                <a:latin typeface="Calibri" pitchFamily="34" charset="0"/>
                <a:ea typeface="Calibri" pitchFamily="34" charset="-122"/>
                <a:cs typeface="Calibri" pitchFamily="34" charset="-120"/>
              </a:rPr>
              <a:t>detection 1.0% → 28.4%, zero false positives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UNSW-NB15: it transfers to unseen data</a:t>
            </a:r>
            <a:endParaRPr lang="en-US" sz="3400" dirty="0"/>
          </a:p>
        </p:txBody>
      </p:sp>
      <p:graphicFrame>
        <p:nvGraphicFramePr>
          <p:cNvPr id="3" name="Chart 0" descr=""/>
          <p:cNvGraphicFramePr/>
          <p:nvPr/>
        </p:nvGraphicFramePr>
        <p:xfrm>
          <a:off x="548640" y="1234440"/>
          <a:ext cx="6766560" cy="48463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589520" y="1280160"/>
            <a:ext cx="4069080" cy="777240"/>
          </a:xfrm>
          <a:prstGeom prst="rect">
            <a:avLst/>
          </a:prstGeom>
          <a:noFill/>
          <a:ln/>
        </p:spPr>
        <p:txBody>
          <a:bodyPr wrap="square" lIns="0" tIns="0" rIns="0" bIns="0" rtlCol="0" anchor="b"/>
          <a:lstStyle/>
          <a:p>
            <a:pPr indent="0" marL="0">
              <a:buNone/>
            </a:pPr>
            <a:r>
              <a:rPr lang="en-US" sz="3600" b="1" dirty="0">
                <a:solidFill>
                  <a:srgbClr val="D9822B"/>
                </a:solidFill>
                <a:latin typeface="Cambria" pitchFamily="34" charset="0"/>
                <a:ea typeface="Cambria" pitchFamily="34" charset="-122"/>
                <a:cs typeface="Cambria" pitchFamily="34" charset="-120"/>
              </a:rPr>
              <a:t>9.2% → 15.5%</a:t>
            </a:r>
            <a:endParaRPr lang="en-US" sz="3600" dirty="0"/>
          </a:p>
        </p:txBody>
      </p:sp>
      <p:sp>
        <p:nvSpPr>
          <p:cNvPr id="5" name="Text 2"/>
          <p:cNvSpPr txBox="1"/>
          <p:nvPr/>
        </p:nvSpPr>
        <p:spPr>
          <a:xfrm>
            <a:off x="7589520" y="2057400"/>
            <a:ext cx="406908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event-level detection, stock → stock + AI rules (+68% relative)</a:t>
            </a:r>
            <a:endParaRPr lang="en-US" sz="1300" dirty="0"/>
          </a:p>
        </p:txBody>
      </p:sp>
      <p:sp>
        <p:nvSpPr>
          <p:cNvPr id="6" name="Text 3"/>
          <p:cNvSpPr txBox="1"/>
          <p:nvPr/>
        </p:nvSpPr>
        <p:spPr>
          <a:xfrm>
            <a:off x="7589520" y="2697480"/>
            <a:ext cx="4069080" cy="777240"/>
          </a:xfrm>
          <a:prstGeom prst="rect">
            <a:avLst/>
          </a:prstGeom>
          <a:noFill/>
          <a:ln/>
        </p:spPr>
        <p:txBody>
          <a:bodyPr wrap="square" lIns="0" tIns="0" rIns="0" bIns="0" rtlCol="0" anchor="b"/>
          <a:lstStyle/>
          <a:p>
            <a:pPr indent="0" marL="0">
              <a:buNone/>
            </a:pPr>
            <a:r>
              <a:rPr lang="en-US" sz="4400" b="1" dirty="0">
                <a:solidFill>
                  <a:srgbClr val="1F4E79"/>
                </a:solidFill>
                <a:latin typeface="Cambria" pitchFamily="34" charset="0"/>
                <a:ea typeface="Cambria" pitchFamily="34" charset="-122"/>
                <a:cs typeface="Cambria" pitchFamily="34" charset="-120"/>
              </a:rPr>
              <a:t>8 / 9</a:t>
            </a:r>
            <a:endParaRPr lang="en-US" sz="4400" dirty="0"/>
          </a:p>
        </p:txBody>
      </p:sp>
      <p:sp>
        <p:nvSpPr>
          <p:cNvPr id="7" name="Text 4"/>
          <p:cNvSpPr txBox="1"/>
          <p:nvPr/>
        </p:nvSpPr>
        <p:spPr>
          <a:xfrm>
            <a:off x="7589520" y="3474720"/>
            <a:ext cx="406908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categories identified across six runs (Analysis missed)</a:t>
            </a:r>
            <a:endParaRPr lang="en-US" sz="1300" dirty="0"/>
          </a:p>
        </p:txBody>
      </p:sp>
      <p:sp>
        <p:nvSpPr>
          <p:cNvPr id="8" name="Text 5"/>
          <p:cNvSpPr txBox="1"/>
          <p:nvPr/>
        </p:nvSpPr>
        <p:spPr>
          <a:xfrm>
            <a:off x="7589520" y="4114800"/>
            <a:ext cx="4069080" cy="777240"/>
          </a:xfrm>
          <a:prstGeom prst="rect">
            <a:avLst/>
          </a:prstGeom>
          <a:noFill/>
          <a:ln/>
        </p:spPr>
        <p:txBody>
          <a:bodyPr wrap="square" lIns="0" tIns="0" rIns="0" bIns="0" rtlCol="0" anchor="b"/>
          <a:lstStyle/>
          <a:p>
            <a:pPr indent="0" marL="0">
              <a:buNone/>
            </a:pPr>
            <a:r>
              <a:rPr lang="en-US" sz="4400" b="1" dirty="0">
                <a:solidFill>
                  <a:srgbClr val="1F4E79"/>
                </a:solidFill>
                <a:latin typeface="Cambria" pitchFamily="34" charset="0"/>
                <a:ea typeface="Cambria" pitchFamily="34" charset="-122"/>
                <a:cs typeface="Cambria" pitchFamily="34" charset="-120"/>
              </a:rPr>
              <a:t>0</a:t>
            </a:r>
            <a:endParaRPr lang="en-US" sz="4400" dirty="0"/>
          </a:p>
        </p:txBody>
      </p:sp>
      <p:sp>
        <p:nvSpPr>
          <p:cNvPr id="9" name="Text 6"/>
          <p:cNvSpPr txBox="1"/>
          <p:nvPr/>
        </p:nvSpPr>
        <p:spPr>
          <a:xfrm>
            <a:off x="7589520" y="4892040"/>
            <a:ext cx="4069080" cy="548640"/>
          </a:xfrm>
          <a:prstGeom prst="rect">
            <a:avLst/>
          </a:prstGeom>
          <a:noFill/>
          <a:ln/>
        </p:spPr>
        <p:txBody>
          <a:bodyPr wrap="square" lIns="0" tIns="0" rIns="0" bIns="0" rtlCol="0" anchor="t"/>
          <a:lstStyle/>
          <a:p>
            <a:pPr indent="0" marL="0">
              <a:buNone/>
            </a:pPr>
            <a:r>
              <a:rPr lang="en-US" sz="1300" dirty="0">
                <a:solidFill>
                  <a:srgbClr val="5B6B7A"/>
                </a:solidFill>
                <a:latin typeface="Calibri" pitchFamily="34" charset="0"/>
                <a:ea typeface="Calibri" pitchFamily="34" charset="-122"/>
                <a:cs typeface="Calibri" pitchFamily="34" charset="-120"/>
              </a:rPr>
              <a:t>AI-rule alerts on hosts with no attacker involved</a:t>
            </a:r>
            <a:endParaRPr lang="en-US" sz="1300" dirty="0"/>
          </a:p>
        </p:txBody>
      </p:sp>
      <p:sp>
        <p:nvSpPr>
          <p:cNvPr id="10" name="Text 7"/>
          <p:cNvSpPr txBox="1"/>
          <p:nvPr/>
        </p:nvSpPr>
        <p:spPr>
          <a:xfrm>
            <a:off x="7589520" y="5532120"/>
            <a:ext cx="4069080" cy="548640"/>
          </a:xfrm>
          <a:prstGeom prst="rect">
            <a:avLst/>
          </a:prstGeom>
          <a:noFill/>
          <a:ln/>
        </p:spPr>
        <p:txBody>
          <a:bodyPr wrap="square" lIns="0" tIns="0" rIns="0" bIns="0" rtlCol="0" anchor="t"/>
          <a:lstStyle/>
          <a:p>
            <a:pPr indent="0" marL="0">
              <a:buNone/>
            </a:pPr>
            <a:r>
              <a:rPr lang="en-US" sz="1400" b="1" dirty="0">
                <a:solidFill>
                  <a:srgbClr val="0F2533"/>
                </a:solidFill>
                <a:latin typeface="Calibri" pitchFamily="34" charset="0"/>
                <a:ea typeface="Calibri" pitchFamily="34" charset="-122"/>
                <a:cs typeface="Calibri" pitchFamily="34" charset="-120"/>
              </a:rPr>
              <a:t>13 of 15 rules written on other captures fired on capture 14.</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Experiment 1: does context matter?</a:t>
            </a:r>
            <a:endParaRPr lang="en-US" sz="3400" dirty="0"/>
          </a:p>
        </p:txBody>
      </p:sp>
      <p:sp>
        <p:nvSpPr>
          <p:cNvPr id="3" name="Text 1"/>
          <p:cNvSpPr txBox="1"/>
          <p:nvPr/>
        </p:nvSpPr>
        <p:spPr>
          <a:xfrm>
            <a:off x="548640" y="1005840"/>
            <a:ext cx="11094415" cy="411480"/>
          </a:xfrm>
          <a:prstGeom prst="rect">
            <a:avLst/>
          </a:prstGeom>
          <a:noFill/>
          <a:ln/>
        </p:spPr>
        <p:txBody>
          <a:bodyPr wrap="square" lIns="0" tIns="0" rIns="0" bIns="0" rtlCol="0" anchor="ctr"/>
          <a:lstStyle/>
          <a:p>
            <a:pPr indent="0" marL="0">
              <a:buNone/>
            </a:pPr>
            <a:r>
              <a:rPr lang="en-US" sz="1600" dirty="0">
                <a:solidFill>
                  <a:srgbClr val="5B6B7A"/>
                </a:solidFill>
                <a:latin typeface="Calibri" pitchFamily="34" charset="0"/>
                <a:ea typeface="Calibri" pitchFamily="34" charset="-122"/>
                <a:cs typeface="Calibri" pitchFamily="34" charset="-120"/>
              </a:rPr>
              <a:t>Same model and captures (UNSW 3, 1, 10) — full sensor context versus alert events only</a:t>
            </a:r>
            <a:endParaRPr lang="en-US" sz="1600" dirty="0"/>
          </a:p>
        </p:txBody>
      </p:sp>
      <p:graphicFrame>
        <p:nvGraphicFramePr>
          <p:cNvPr id="4" name="Chart 0" descr=""/>
          <p:cNvGraphicFramePr/>
          <p:nvPr/>
        </p:nvGraphicFramePr>
        <p:xfrm>
          <a:off x="548640" y="1645920"/>
          <a:ext cx="278892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Chart 1" descr=""/>
          <p:cNvGraphicFramePr/>
          <p:nvPr/>
        </p:nvGraphicFramePr>
        <p:xfrm>
          <a:off x="3429000" y="1645920"/>
          <a:ext cx="2788920" cy="2926080"/>
        </p:xfrm>
        <a:graphic xmlns:a="http://schemas.openxmlformats.org/drawingml/2006/main">
          <a:graphicData uri="http://schemas.openxmlformats.org/drawingml/2006/chart">
            <c:chart xmlns:c="http://schemas.openxmlformats.org/drawingml/2006/chart" r:id="rId2"/>
          </a:graphicData>
        </a:graphic>
      </p:graphicFrame>
      <p:graphicFrame>
        <p:nvGraphicFramePr>
          <p:cNvPr id="6" name="Chart 2" descr=""/>
          <p:cNvGraphicFramePr/>
          <p:nvPr/>
        </p:nvGraphicFramePr>
        <p:xfrm>
          <a:off x="6309360" y="1645920"/>
          <a:ext cx="2788920" cy="2926080"/>
        </p:xfrm>
        <a:graphic xmlns:a="http://schemas.openxmlformats.org/drawingml/2006/main">
          <a:graphicData uri="http://schemas.openxmlformats.org/drawingml/2006/chart">
            <c:chart xmlns:c="http://schemas.openxmlformats.org/drawingml/2006/chart" r:id="rId3"/>
          </a:graphicData>
        </a:graphic>
      </p:graphicFrame>
      <p:sp>
        <p:nvSpPr>
          <p:cNvPr id="7" name="Shape 2"/>
          <p:cNvSpPr/>
          <p:nvPr/>
        </p:nvSpPr>
        <p:spPr>
          <a:xfrm>
            <a:off x="9235440" y="1645920"/>
            <a:ext cx="2404872" cy="2926080"/>
          </a:xfrm>
          <a:prstGeom prst="roundRect">
            <a:avLst>
              <a:gd name="adj" fmla="val 3042"/>
            </a:avLst>
          </a:prstGeom>
          <a:solidFill>
            <a:srgbClr val="0F2533"/>
          </a:solidFill>
          <a:ln w="12700">
            <a:solidFill>
              <a:srgbClr val="0F2533"/>
            </a:solidFill>
            <a:prstDash val="solid"/>
          </a:ln>
        </p:spPr>
      </p:sp>
      <p:sp>
        <p:nvSpPr>
          <p:cNvPr id="8" name="Text 3"/>
          <p:cNvSpPr txBox="1"/>
          <p:nvPr/>
        </p:nvSpPr>
        <p:spPr>
          <a:xfrm>
            <a:off x="9418320" y="1783080"/>
            <a:ext cx="2057400" cy="1097280"/>
          </a:xfrm>
          <a:prstGeom prst="rect">
            <a:avLst/>
          </a:prstGeom>
          <a:noFill/>
          <a:ln/>
        </p:spPr>
        <p:txBody>
          <a:bodyPr wrap="square" lIns="0" tIns="0" rIns="0" bIns="0" rtlCol="0" anchor="t"/>
          <a:lstStyle/>
          <a:p>
            <a:pPr indent="0" marL="0">
              <a:buNone/>
            </a:pPr>
            <a:r>
              <a:rPr lang="en-US" sz="1800" b="1" dirty="0">
                <a:solidFill>
                  <a:srgbClr val="D9822B"/>
                </a:solidFill>
                <a:latin typeface="Cambria" pitchFamily="34" charset="0"/>
                <a:ea typeface="Cambria" pitchFamily="34" charset="-122"/>
                <a:cs typeface="Cambria" pitchFamily="34" charset="-120"/>
              </a:rPr>
              <a:t>Breadth without context.</a:t>
            </a:r>
            <a:endParaRPr lang="en-US" sz="1800" dirty="0"/>
          </a:p>
          <a:p>
            <a:pPr indent="0" marL="0">
              <a:buNone/>
            </a:pPr>
            <a:r>
              <a:rPr lang="en-US" sz="1800" b="1" dirty="0">
                <a:solidFill>
                  <a:srgbClr val="D9822B"/>
                </a:solidFill>
                <a:latin typeface="Cambria" pitchFamily="34" charset="0"/>
                <a:ea typeface="Cambria" pitchFamily="34" charset="-122"/>
                <a:cs typeface="Cambria" pitchFamily="34" charset="-120"/>
              </a:rPr>
              <a:t>Depth with it.</a:t>
            </a:r>
            <a:endParaRPr lang="en-US" sz="1800" dirty="0"/>
          </a:p>
        </p:txBody>
      </p:sp>
      <p:sp>
        <p:nvSpPr>
          <p:cNvPr id="9" name="Text 4"/>
          <p:cNvSpPr txBox="1"/>
          <p:nvPr/>
        </p:nvSpPr>
        <p:spPr>
          <a:xfrm>
            <a:off x="9418320" y="2926080"/>
            <a:ext cx="2057400" cy="14630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Only full context let the model answer: did the attack succeed?</a:t>
            </a:r>
            <a:endParaRPr lang="en-US" sz="1400" dirty="0"/>
          </a:p>
        </p:txBody>
      </p:sp>
      <p:sp>
        <p:nvSpPr>
          <p:cNvPr id="10" name="Text 5"/>
          <p:cNvSpPr txBox="1"/>
          <p:nvPr/>
        </p:nvSpPr>
        <p:spPr>
          <a:xfrm>
            <a:off x="548640" y="4846320"/>
            <a:ext cx="11094415" cy="12344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Alerts only covered more categories (7 vs 6) and wrote more productive rules — broad, signature-organised reports</a:t>
            </a:r>
            <a:endParaRPr lang="en-US" sz="1400" dirty="0"/>
          </a:p>
          <a:p>
            <a:pPr marL="203200" indent="-203200">
              <a:spcAft>
                <a:spcPts val="800"/>
              </a:spcAft>
              <a:buSzPct val="100000"/>
              <a:buChar char="•"/>
            </a:pPr>
            <a:r>
              <a:rPr lang="en-US" sz="1400" dirty="0">
                <a:solidFill>
                  <a:srgbClr val="0F2533"/>
                </a:solidFill>
                <a:latin typeface="Calibri" pitchFamily="34" charset="0"/>
                <a:ea typeface="Calibri" pitchFamily="34" charset="-122"/>
                <a:cs typeface="Calibri" pitchFamily="34" charset="-120"/>
              </a:rPr>
              <a:t>Full context established outcomes: '59 × PASS → 230 Login successful', '2.25 MB leaked by Heartbleed' — alerts-only reports said success 'cannot be confirmed'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What went wrong: confident errors</a:t>
            </a:r>
            <a:endParaRPr lang="en-US" sz="3400" dirty="0"/>
          </a:p>
        </p:txBody>
      </p:sp>
      <p:sp>
        <p:nvSpPr>
          <p:cNvPr id="3" name="Shape 1"/>
          <p:cNvSpPr/>
          <p:nvPr/>
        </p:nvSpPr>
        <p:spPr>
          <a:xfrm>
            <a:off x="548640" y="1280160"/>
            <a:ext cx="566928" cy="566928"/>
          </a:xfrm>
          <a:prstGeom prst="ellipse">
            <a:avLst/>
          </a:prstGeom>
          <a:solidFill>
            <a:srgbClr val="B03A2E"/>
          </a:solidFill>
          <a:ln w="12700">
            <a:solidFill>
              <a:srgbClr val="B03A2E"/>
            </a:solidFill>
            <a:prstDash val="solid"/>
          </a:ln>
        </p:spPr>
      </p:sp>
      <p:pic>
        <p:nvPicPr>
          <p:cNvPr id="4" name="Image 0" descr="preencoded.png">    </p:cNvPr>
          <p:cNvPicPr>
            <a:picLocks noChangeAspect="1"/>
          </p:cNvPicPr>
          <p:nvPr/>
        </p:nvPicPr>
        <p:blipFill>
          <a:blip r:embed="rId1"/>
          <a:stretch>
            <a:fillRect/>
          </a:stretch>
        </p:blipFill>
        <p:spPr>
          <a:xfrm>
            <a:off x="684703" y="1416223"/>
            <a:ext cx="294803" cy="294803"/>
          </a:xfrm>
          <a:prstGeom prst="rect">
            <a:avLst/>
          </a:prstGeom>
        </p:spPr>
      </p:pic>
      <p:sp>
        <p:nvSpPr>
          <p:cNvPr id="5" name="Text 2"/>
          <p:cNvSpPr txBox="1"/>
          <p:nvPr/>
        </p:nvSpPr>
        <p:spPr>
          <a:xfrm>
            <a:off x="1325880" y="1280160"/>
            <a:ext cx="4846320" cy="566928"/>
          </a:xfrm>
          <a:prstGeom prst="rect">
            <a:avLst/>
          </a:prstGeom>
          <a:noFill/>
          <a:ln/>
        </p:spPr>
        <p:txBody>
          <a:bodyPr wrap="square" lIns="0" tIns="0" rIns="0" bIns="0" rtlCol="0" anchor="ctr"/>
          <a:lstStyle/>
          <a:p>
            <a:pPr indent="0" marL="0">
              <a:buNone/>
            </a:pPr>
            <a:r>
              <a:rPr lang="en-US" sz="1400" dirty="0">
                <a:solidFill>
                  <a:srgbClr val="0F2533"/>
                </a:solidFill>
                <a:latin typeface="Calibri" pitchFamily="34" charset="0"/>
                <a:ea typeface="Calibri" pitchFamily="34" charset="-122"/>
                <a:cs typeface="Calibri" pitchFamily="34" charset="-120"/>
              </a:rPr>
              <a:t>Deleted two of its best rules, claiming they were stock ET rules — they were not</a:t>
            </a:r>
            <a:endParaRPr lang="en-US" sz="1400" dirty="0"/>
          </a:p>
        </p:txBody>
      </p:sp>
      <p:sp>
        <p:nvSpPr>
          <p:cNvPr id="6" name="Shape 3"/>
          <p:cNvSpPr/>
          <p:nvPr/>
        </p:nvSpPr>
        <p:spPr>
          <a:xfrm>
            <a:off x="548640" y="2221992"/>
            <a:ext cx="566928" cy="566928"/>
          </a:xfrm>
          <a:prstGeom prst="ellipse">
            <a:avLst/>
          </a:prstGeom>
          <a:solidFill>
            <a:srgbClr val="1F4E79"/>
          </a:solidFill>
          <a:ln w="12700">
            <a:solidFill>
              <a:srgbClr val="1F4E79"/>
            </a:solidFill>
            <a:prstDash val="solid"/>
          </a:ln>
        </p:spPr>
      </p:sp>
      <p:pic>
        <p:nvPicPr>
          <p:cNvPr id="7" name="Image 1" descr="preencoded.png">    </p:cNvPr>
          <p:cNvPicPr>
            <a:picLocks noChangeAspect="1"/>
          </p:cNvPicPr>
          <p:nvPr/>
        </p:nvPicPr>
        <p:blipFill>
          <a:blip r:embed="rId2"/>
          <a:stretch>
            <a:fillRect/>
          </a:stretch>
        </p:blipFill>
        <p:spPr>
          <a:xfrm>
            <a:off x="684703" y="2358055"/>
            <a:ext cx="294803" cy="294803"/>
          </a:xfrm>
          <a:prstGeom prst="rect">
            <a:avLst/>
          </a:prstGeom>
        </p:spPr>
      </p:pic>
      <p:sp>
        <p:nvSpPr>
          <p:cNvPr id="8" name="Text 4"/>
          <p:cNvSpPr txBox="1"/>
          <p:nvPr/>
        </p:nvSpPr>
        <p:spPr>
          <a:xfrm>
            <a:off x="1325880" y="2221992"/>
            <a:ext cx="4846320" cy="566928"/>
          </a:xfrm>
          <a:prstGeom prst="rect">
            <a:avLst/>
          </a:prstGeom>
          <a:noFill/>
          <a:ln/>
        </p:spPr>
        <p:txBody>
          <a:bodyPr wrap="square" lIns="0" tIns="0" rIns="0" bIns="0" rtlCol="0" anchor="ctr"/>
          <a:lstStyle/>
          <a:p>
            <a:pPr indent="0" marL="0">
              <a:buNone/>
            </a:pPr>
            <a:r>
              <a:rPr lang="en-US" sz="1400" dirty="0">
                <a:solidFill>
                  <a:srgbClr val="0F2533"/>
                </a:solidFill>
                <a:latin typeface="Calibri" pitchFamily="34" charset="0"/>
                <a:ea typeface="Calibri" pitchFamily="34" charset="-122"/>
                <a:cs typeface="Calibri" pitchFamily="34" charset="-120"/>
              </a:rPr>
              <a:t>Wrote three rules Suricata rejects and one that can never fire</a:t>
            </a:r>
            <a:endParaRPr lang="en-US" sz="1400" dirty="0"/>
          </a:p>
        </p:txBody>
      </p:sp>
      <p:sp>
        <p:nvSpPr>
          <p:cNvPr id="9" name="Shape 5"/>
          <p:cNvSpPr/>
          <p:nvPr/>
        </p:nvSpPr>
        <p:spPr>
          <a:xfrm>
            <a:off x="548640" y="3163824"/>
            <a:ext cx="566928" cy="566928"/>
          </a:xfrm>
          <a:prstGeom prst="ellipse">
            <a:avLst/>
          </a:prstGeom>
          <a:solidFill>
            <a:srgbClr val="1F4E79"/>
          </a:solidFill>
          <a:ln w="12700">
            <a:solidFill>
              <a:srgbClr val="1F4E79"/>
            </a:solidFill>
            <a:prstDash val="solid"/>
          </a:ln>
        </p:spPr>
      </p:sp>
      <p:pic>
        <p:nvPicPr>
          <p:cNvPr id="10" name="Image 2" descr="preencoded.png">    </p:cNvPr>
          <p:cNvPicPr>
            <a:picLocks noChangeAspect="1"/>
          </p:cNvPicPr>
          <p:nvPr/>
        </p:nvPicPr>
        <p:blipFill>
          <a:blip r:embed="rId3"/>
          <a:stretch>
            <a:fillRect/>
          </a:stretch>
        </p:blipFill>
        <p:spPr>
          <a:xfrm>
            <a:off x="684703" y="3299887"/>
            <a:ext cx="294803" cy="294803"/>
          </a:xfrm>
          <a:prstGeom prst="rect">
            <a:avLst/>
          </a:prstGeom>
        </p:spPr>
      </p:pic>
      <p:sp>
        <p:nvSpPr>
          <p:cNvPr id="11" name="Text 6"/>
          <p:cNvSpPr txBox="1"/>
          <p:nvPr/>
        </p:nvSpPr>
        <p:spPr>
          <a:xfrm>
            <a:off x="1325880" y="3163824"/>
            <a:ext cx="4846320" cy="566928"/>
          </a:xfrm>
          <a:prstGeom prst="rect">
            <a:avLst/>
          </a:prstGeom>
          <a:noFill/>
          <a:ln/>
        </p:spPr>
        <p:txBody>
          <a:bodyPr wrap="square" lIns="0" tIns="0" rIns="0" bIns="0" rtlCol="0" anchor="ctr"/>
          <a:lstStyle/>
          <a:p>
            <a:pPr indent="0" marL="0">
              <a:buNone/>
            </a:pPr>
            <a:r>
              <a:rPr lang="en-US" sz="1400" dirty="0">
                <a:solidFill>
                  <a:srgbClr val="0F2533"/>
                </a:solidFill>
                <a:latin typeface="Calibri" pitchFamily="34" charset="0"/>
                <a:ea typeface="Calibri" pitchFamily="34" charset="-122"/>
                <a:cs typeface="Calibri" pitchFamily="34" charset="-120"/>
              </a:rPr>
              <a:t>Read routine FTP uploads from every workstation as data exfiltration</a:t>
            </a:r>
            <a:endParaRPr lang="en-US" sz="1400" dirty="0"/>
          </a:p>
        </p:txBody>
      </p:sp>
      <p:sp>
        <p:nvSpPr>
          <p:cNvPr id="12" name="Shape 7"/>
          <p:cNvSpPr/>
          <p:nvPr/>
        </p:nvSpPr>
        <p:spPr>
          <a:xfrm>
            <a:off x="548640" y="4105656"/>
            <a:ext cx="566928" cy="566928"/>
          </a:xfrm>
          <a:prstGeom prst="ellipse">
            <a:avLst/>
          </a:prstGeom>
          <a:solidFill>
            <a:srgbClr val="1F4E79"/>
          </a:solidFill>
          <a:ln w="12700">
            <a:solidFill>
              <a:srgbClr val="1F4E79"/>
            </a:solidFill>
            <a:prstDash val="solid"/>
          </a:ln>
        </p:spPr>
      </p:sp>
      <p:pic>
        <p:nvPicPr>
          <p:cNvPr id="13" name="Image 3" descr="preencoded.png">    </p:cNvPr>
          <p:cNvPicPr>
            <a:picLocks noChangeAspect="1"/>
          </p:cNvPicPr>
          <p:nvPr/>
        </p:nvPicPr>
        <p:blipFill>
          <a:blip r:embed="rId4"/>
          <a:stretch>
            <a:fillRect/>
          </a:stretch>
        </p:blipFill>
        <p:spPr>
          <a:xfrm>
            <a:off x="684703" y="4241719"/>
            <a:ext cx="294803" cy="294803"/>
          </a:xfrm>
          <a:prstGeom prst="rect">
            <a:avLst/>
          </a:prstGeom>
        </p:spPr>
      </p:pic>
      <p:sp>
        <p:nvSpPr>
          <p:cNvPr id="14" name="Text 8"/>
          <p:cNvSpPr txBox="1"/>
          <p:nvPr/>
        </p:nvSpPr>
        <p:spPr>
          <a:xfrm>
            <a:off x="1325880" y="4105656"/>
            <a:ext cx="4846320" cy="566928"/>
          </a:xfrm>
          <a:prstGeom prst="rect">
            <a:avLst/>
          </a:prstGeom>
          <a:noFill/>
          <a:ln/>
        </p:spPr>
        <p:txBody>
          <a:bodyPr wrap="square" lIns="0" tIns="0" rIns="0" bIns="0" rtlCol="0" anchor="ctr"/>
          <a:lstStyle/>
          <a:p>
            <a:pPr indent="0" marL="0">
              <a:buNone/>
            </a:pPr>
            <a:r>
              <a:rPr lang="en-US" sz="1400" dirty="0">
                <a:solidFill>
                  <a:srgbClr val="0F2533"/>
                </a:solidFill>
                <a:latin typeface="Calibri" pitchFamily="34" charset="0"/>
                <a:ea typeface="Calibri" pitchFamily="34" charset="-122"/>
                <a:cs typeface="Calibri" pitchFamily="34" charset="-120"/>
              </a:rPr>
              <a:t>'Validated' Thursday rules against a small test file, not the Thursday capture</a:t>
            </a:r>
            <a:endParaRPr lang="en-US" sz="1400" dirty="0"/>
          </a:p>
        </p:txBody>
      </p:sp>
      <p:sp>
        <p:nvSpPr>
          <p:cNvPr id="15" name="Shape 9"/>
          <p:cNvSpPr/>
          <p:nvPr/>
        </p:nvSpPr>
        <p:spPr>
          <a:xfrm>
            <a:off x="548640" y="5047488"/>
            <a:ext cx="566928" cy="566928"/>
          </a:xfrm>
          <a:prstGeom prst="ellipse">
            <a:avLst/>
          </a:prstGeom>
          <a:solidFill>
            <a:srgbClr val="1F4E79"/>
          </a:solidFill>
          <a:ln w="12700">
            <a:solidFill>
              <a:srgbClr val="1F4E79"/>
            </a:solidFill>
            <a:prstDash val="solid"/>
          </a:ln>
        </p:spPr>
      </p:sp>
      <p:pic>
        <p:nvPicPr>
          <p:cNvPr id="16" name="Image 4" descr="preencoded.png">    </p:cNvPr>
          <p:cNvPicPr>
            <a:picLocks noChangeAspect="1"/>
          </p:cNvPicPr>
          <p:nvPr/>
        </p:nvPicPr>
        <p:blipFill>
          <a:blip r:embed="rId5"/>
          <a:stretch>
            <a:fillRect/>
          </a:stretch>
        </p:blipFill>
        <p:spPr>
          <a:xfrm>
            <a:off x="684703" y="5183551"/>
            <a:ext cx="294803" cy="294803"/>
          </a:xfrm>
          <a:prstGeom prst="rect">
            <a:avLst/>
          </a:prstGeom>
        </p:spPr>
      </p:pic>
      <p:sp>
        <p:nvSpPr>
          <p:cNvPr id="17" name="Text 10"/>
          <p:cNvSpPr txBox="1"/>
          <p:nvPr/>
        </p:nvSpPr>
        <p:spPr>
          <a:xfrm>
            <a:off x="1325880" y="5047488"/>
            <a:ext cx="4846320" cy="566928"/>
          </a:xfrm>
          <a:prstGeom prst="rect">
            <a:avLst/>
          </a:prstGeom>
          <a:noFill/>
          <a:ln/>
        </p:spPr>
        <p:txBody>
          <a:bodyPr wrap="square" lIns="0" tIns="0" rIns="0" bIns="0" rtlCol="0" anchor="ctr"/>
          <a:lstStyle/>
          <a:p>
            <a:pPr indent="0" marL="0">
              <a:buNone/>
            </a:pPr>
            <a:r>
              <a:rPr lang="en-US" sz="1400" dirty="0">
                <a:solidFill>
                  <a:srgbClr val="0F2533"/>
                </a:solidFill>
                <a:latin typeface="Calibri" pitchFamily="34" charset="0"/>
                <a:ea typeface="Calibri" pitchFamily="34" charset="-122"/>
                <a:cs typeface="Calibri" pitchFamily="34" charset="-120"/>
              </a:rPr>
              <a:t>Same evidence, opposite verdicts across runs (5 : 1 on the Heartbleed rules)</a:t>
            </a:r>
            <a:endParaRPr lang="en-US" sz="1400" dirty="0"/>
          </a:p>
        </p:txBody>
      </p:sp>
      <p:graphicFrame>
        <p:nvGraphicFramePr>
          <p:cNvPr id="18" name="Chart 0" descr=""/>
          <p:cNvGraphicFramePr/>
          <p:nvPr/>
        </p:nvGraphicFramePr>
        <p:xfrm>
          <a:off x="6400800" y="1234440"/>
          <a:ext cx="5212080" cy="3566160"/>
        </p:xfrm>
        <a:graphic xmlns:a="http://schemas.openxmlformats.org/drawingml/2006/main">
          <a:graphicData uri="http://schemas.openxmlformats.org/drawingml/2006/chart">
            <c:chart xmlns:c="http://schemas.openxmlformats.org/drawingml/2006/chart" r:id="rId6"/>
          </a:graphicData>
        </a:graphic>
      </p:graphicFrame>
      <p:sp>
        <p:nvSpPr>
          <p:cNvPr id="19" name="Shape 11"/>
          <p:cNvSpPr/>
          <p:nvPr/>
        </p:nvSpPr>
        <p:spPr>
          <a:xfrm>
            <a:off x="6400800" y="4983480"/>
            <a:ext cx="5257800" cy="1097280"/>
          </a:xfrm>
          <a:prstGeom prst="roundRect">
            <a:avLst>
              <a:gd name="adj" fmla="val 6667"/>
            </a:avLst>
          </a:prstGeom>
          <a:solidFill>
            <a:srgbClr val="0F2533"/>
          </a:solidFill>
          <a:ln w="12700">
            <a:solidFill>
              <a:srgbClr val="0F2533"/>
            </a:solidFill>
            <a:prstDash val="solid"/>
          </a:ln>
        </p:spPr>
      </p:sp>
      <p:sp>
        <p:nvSpPr>
          <p:cNvPr id="20" name="Text 12"/>
          <p:cNvSpPr txBox="1"/>
          <p:nvPr/>
        </p:nvSpPr>
        <p:spPr>
          <a:xfrm>
            <a:off x="6583680" y="4983480"/>
            <a:ext cx="4892040" cy="10972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Self-validation is only as good as the environment: CIC's config loaded 3 of 10 rule files; UNSW's loaded the model's file — and all 18 rules work.</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731520"/>
          </a:xfrm>
          <a:prstGeom prst="rect">
            <a:avLst/>
          </a:prstGeom>
          <a:noFill/>
          <a:ln/>
        </p:spPr>
        <p:txBody>
          <a:bodyPr wrap="square" lIns="0" tIns="0" rIns="0" bIns="0" rtlCol="0" anchor="ctr"/>
          <a:lstStyle/>
          <a:p>
            <a:pPr indent="0" marL="0">
              <a:buNone/>
            </a:pPr>
            <a:r>
              <a:rPr lang="en-US" sz="3400" b="1" dirty="0">
                <a:solidFill>
                  <a:srgbClr val="0F2533"/>
                </a:solidFill>
                <a:latin typeface="Cambria" pitchFamily="34" charset="0"/>
                <a:ea typeface="Cambria" pitchFamily="34" charset="-122"/>
                <a:cs typeface="Cambria" pitchFamily="34" charset="-120"/>
              </a:rPr>
              <a:t>Conclusions</a:t>
            </a:r>
            <a:endParaRPr lang="en-US" sz="3400" dirty="0"/>
          </a:p>
        </p:txBody>
      </p:sp>
      <p:sp>
        <p:nvSpPr>
          <p:cNvPr id="3" name="Shape 1"/>
          <p:cNvSpPr/>
          <p:nvPr/>
        </p:nvSpPr>
        <p:spPr>
          <a:xfrm>
            <a:off x="548640" y="1234440"/>
            <a:ext cx="11094415" cy="1371600"/>
          </a:xfrm>
          <a:prstGeom prst="roundRect">
            <a:avLst>
              <a:gd name="adj" fmla="val 5333"/>
            </a:avLst>
          </a:prstGeom>
          <a:solidFill>
            <a:srgbClr val="0F2533"/>
          </a:solidFill>
          <a:ln w="12700">
            <a:solidFill>
              <a:srgbClr val="0F2533"/>
            </a:solidFill>
            <a:prstDash val="solid"/>
          </a:ln>
        </p:spPr>
      </p:sp>
      <p:sp>
        <p:nvSpPr>
          <p:cNvPr id="4" name="Text 2"/>
          <p:cNvSpPr txBox="1"/>
          <p:nvPr/>
        </p:nvSpPr>
        <p:spPr>
          <a:xfrm>
            <a:off x="914400" y="1234440"/>
            <a:ext cx="10362895" cy="1371600"/>
          </a:xfrm>
          <a:prstGeom prst="rect">
            <a:avLst/>
          </a:prstGeom>
          <a:noFill/>
          <a:ln/>
        </p:spPr>
        <p:txBody>
          <a:bodyPr wrap="square" lIns="0" tIns="0" rIns="0" bIns="0" rtlCol="0" anchor="ctr"/>
          <a:lstStyle/>
          <a:p>
            <a:pPr indent="0" marL="0">
              <a:buNone/>
            </a:pPr>
            <a:r>
              <a:rPr lang="en-US" sz="1700" b="1" dirty="0">
                <a:solidFill>
                  <a:srgbClr val="D9822B"/>
                </a:solidFill>
                <a:latin typeface="Calibri" pitchFamily="34" charset="0"/>
                <a:ea typeface="Calibri" pitchFamily="34" charset="-122"/>
                <a:cs typeface="Calibri" pitchFamily="34" charset="-120"/>
              </a:rPr>
              <a:t>Answer: </a:t>
            </a:r>
            <a:pPr indent="0" marL="0">
              <a:buNone/>
            </a:pPr>
            <a:r>
              <a:rPr lang="en-US" sz="1700" dirty="0">
                <a:solidFill>
                  <a:srgbClr val="FFFFFF"/>
                </a:solidFill>
                <a:latin typeface="Calibri" pitchFamily="34" charset="0"/>
                <a:ea typeface="Calibri" pitchFamily="34" charset="-122"/>
                <a:cs typeface="Calibri" pitchFamily="34" charset="-120"/>
              </a:rPr>
              <a:t>yes for the workflow, not yet unsupervised. The model triages end to end and measurably extends a mature human-authored ruleset with high precision — but its errors are confident, so detection-reducing changes need a human and every rule needs independent replay.</a:t>
            </a:r>
            <a:endParaRPr lang="en-US" sz="1700" dirty="0"/>
          </a:p>
        </p:txBody>
      </p:sp>
      <p:sp>
        <p:nvSpPr>
          <p:cNvPr id="5" name="Shape 3"/>
          <p:cNvSpPr/>
          <p:nvPr/>
        </p:nvSpPr>
        <p:spPr>
          <a:xfrm>
            <a:off x="548640" y="2926080"/>
            <a:ext cx="5349240" cy="1371600"/>
          </a:xfrm>
          <a:prstGeom prst="roundRect">
            <a:avLst>
              <a:gd name="adj" fmla="val 5333"/>
            </a:avLst>
          </a:prstGeom>
          <a:solidFill>
            <a:srgbClr val="EEF3F8"/>
          </a:solidFill>
          <a:ln w="12700">
            <a:solidFill>
              <a:srgbClr val="EEF3F8"/>
            </a:solidFill>
            <a:prstDash val="solid"/>
          </a:ln>
        </p:spPr>
      </p:sp>
      <p:sp>
        <p:nvSpPr>
          <p:cNvPr id="6" name="Shape 4"/>
          <p:cNvSpPr/>
          <p:nvPr/>
        </p:nvSpPr>
        <p:spPr>
          <a:xfrm>
            <a:off x="822960" y="3310128"/>
            <a:ext cx="603504" cy="603504"/>
          </a:xfrm>
          <a:prstGeom prst="ellipse">
            <a:avLst/>
          </a:prstGeom>
          <a:solidFill>
            <a:srgbClr val="1F4E79"/>
          </a:solidFill>
          <a:ln w="12700">
            <a:solidFill>
              <a:srgbClr val="1F4E79"/>
            </a:solidFill>
            <a:prstDash val="solid"/>
          </a:ln>
        </p:spPr>
      </p:sp>
      <p:pic>
        <p:nvPicPr>
          <p:cNvPr id="7" name="Image 0" descr="preencoded.png">    </p:cNvPr>
          <p:cNvPicPr>
            <a:picLocks noChangeAspect="1"/>
          </p:cNvPicPr>
          <p:nvPr/>
        </p:nvPicPr>
        <p:blipFill>
          <a:blip r:embed="rId1"/>
          <a:stretch>
            <a:fillRect/>
          </a:stretch>
        </p:blipFill>
        <p:spPr>
          <a:xfrm>
            <a:off x="967801" y="3454969"/>
            <a:ext cx="313822" cy="313822"/>
          </a:xfrm>
          <a:prstGeom prst="rect">
            <a:avLst/>
          </a:prstGeom>
        </p:spPr>
      </p:pic>
      <p:sp>
        <p:nvSpPr>
          <p:cNvPr id="8" name="Text 5"/>
          <p:cNvSpPr txBox="1"/>
          <p:nvPr/>
        </p:nvSpPr>
        <p:spPr>
          <a:xfrm>
            <a:off x="1645920" y="3108960"/>
            <a:ext cx="4069080" cy="457200"/>
          </a:xfrm>
          <a:prstGeom prst="rect">
            <a:avLst/>
          </a:prstGeom>
          <a:noFill/>
          <a:ln/>
        </p:spPr>
        <p:txBody>
          <a:bodyPr wrap="square" lIns="0" tIns="0" rIns="0" bIns="0" rtlCol="0" anchor="ctr"/>
          <a:lstStyle/>
          <a:p>
            <a:pPr indent="0" marL="0">
              <a:buNone/>
            </a:pPr>
            <a:r>
              <a:rPr lang="en-US" sz="1600" b="1" dirty="0">
                <a:solidFill>
                  <a:srgbClr val="0F2533"/>
                </a:solidFill>
                <a:latin typeface="Cambria" pitchFamily="34" charset="0"/>
                <a:ea typeface="Cambria" pitchFamily="34" charset="-122"/>
                <a:cs typeface="Cambria" pitchFamily="34" charset="-120"/>
              </a:rPr>
              <a:t>Tools matter as much as models</a:t>
            </a:r>
            <a:endParaRPr lang="en-US" sz="1600" dirty="0"/>
          </a:p>
        </p:txBody>
      </p:sp>
      <p:sp>
        <p:nvSpPr>
          <p:cNvPr id="9" name="Text 6"/>
          <p:cNvSpPr txBox="1"/>
          <p:nvPr/>
        </p:nvSpPr>
        <p:spPr>
          <a:xfrm>
            <a:off x="1645920" y="3611880"/>
            <a:ext cx="4069080" cy="54864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One aggregation tool turned a failing model into a working one</a:t>
            </a:r>
            <a:endParaRPr lang="en-US" sz="1400" dirty="0"/>
          </a:p>
        </p:txBody>
      </p:sp>
      <p:sp>
        <p:nvSpPr>
          <p:cNvPr id="10" name="Shape 7"/>
          <p:cNvSpPr/>
          <p:nvPr/>
        </p:nvSpPr>
        <p:spPr>
          <a:xfrm>
            <a:off x="6217920" y="2926080"/>
            <a:ext cx="5349240" cy="1371600"/>
          </a:xfrm>
          <a:prstGeom prst="roundRect">
            <a:avLst>
              <a:gd name="adj" fmla="val 5333"/>
            </a:avLst>
          </a:prstGeom>
          <a:solidFill>
            <a:srgbClr val="EEF3F8"/>
          </a:solidFill>
          <a:ln w="12700">
            <a:solidFill>
              <a:srgbClr val="EEF3F8"/>
            </a:solidFill>
            <a:prstDash val="solid"/>
          </a:ln>
        </p:spPr>
      </p:sp>
      <p:sp>
        <p:nvSpPr>
          <p:cNvPr id="11" name="Shape 8"/>
          <p:cNvSpPr/>
          <p:nvPr/>
        </p:nvSpPr>
        <p:spPr>
          <a:xfrm>
            <a:off x="6492240" y="3310128"/>
            <a:ext cx="603504" cy="603504"/>
          </a:xfrm>
          <a:prstGeom prst="ellipse">
            <a:avLst/>
          </a:prstGeom>
          <a:solidFill>
            <a:srgbClr val="D9822B"/>
          </a:solidFill>
          <a:ln w="12700">
            <a:solidFill>
              <a:srgbClr val="D9822B"/>
            </a:solidFill>
            <a:prstDash val="solid"/>
          </a:ln>
        </p:spPr>
      </p:sp>
      <p:pic>
        <p:nvPicPr>
          <p:cNvPr id="12" name="Image 1" descr="preencoded.png">    </p:cNvPr>
          <p:cNvPicPr>
            <a:picLocks noChangeAspect="1"/>
          </p:cNvPicPr>
          <p:nvPr/>
        </p:nvPicPr>
        <p:blipFill>
          <a:blip r:embed="rId2"/>
          <a:stretch>
            <a:fillRect/>
          </a:stretch>
        </p:blipFill>
        <p:spPr>
          <a:xfrm>
            <a:off x="6637081" y="3454969"/>
            <a:ext cx="313822" cy="313822"/>
          </a:xfrm>
          <a:prstGeom prst="rect">
            <a:avLst/>
          </a:prstGeom>
        </p:spPr>
      </p:pic>
      <p:sp>
        <p:nvSpPr>
          <p:cNvPr id="13" name="Text 9"/>
          <p:cNvSpPr txBox="1"/>
          <p:nvPr/>
        </p:nvSpPr>
        <p:spPr>
          <a:xfrm>
            <a:off x="7315200" y="3108960"/>
            <a:ext cx="4069080" cy="457200"/>
          </a:xfrm>
          <a:prstGeom prst="rect">
            <a:avLst/>
          </a:prstGeom>
          <a:noFill/>
          <a:ln/>
        </p:spPr>
        <p:txBody>
          <a:bodyPr wrap="square" lIns="0" tIns="0" rIns="0" bIns="0" rtlCol="0" anchor="ctr"/>
          <a:lstStyle/>
          <a:p>
            <a:pPr indent="0" marL="0">
              <a:buNone/>
            </a:pPr>
            <a:r>
              <a:rPr lang="en-US" sz="1600" b="1" dirty="0">
                <a:solidFill>
                  <a:srgbClr val="0F2533"/>
                </a:solidFill>
                <a:latin typeface="Cambria" pitchFamily="34" charset="0"/>
                <a:ea typeface="Cambria" pitchFamily="34" charset="-122"/>
                <a:cs typeface="Cambria" pitchFamily="34" charset="-120"/>
              </a:rPr>
              <a:t>Keep the safety asymmetry</a:t>
            </a:r>
            <a:endParaRPr lang="en-US" sz="1600" dirty="0"/>
          </a:p>
        </p:txBody>
      </p:sp>
      <p:sp>
        <p:nvSpPr>
          <p:cNvPr id="14" name="Text 10"/>
          <p:cNvSpPr txBox="1"/>
          <p:nvPr/>
        </p:nvSpPr>
        <p:spPr>
          <a:xfrm>
            <a:off x="7315200" y="3611880"/>
            <a:ext cx="4069080" cy="54864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It stopped a suppression that would have hidden a real exploit</a:t>
            </a:r>
            <a:endParaRPr lang="en-US" sz="1400" dirty="0"/>
          </a:p>
        </p:txBody>
      </p:sp>
      <p:sp>
        <p:nvSpPr>
          <p:cNvPr id="15" name="Shape 11"/>
          <p:cNvSpPr/>
          <p:nvPr/>
        </p:nvSpPr>
        <p:spPr>
          <a:xfrm>
            <a:off x="548640" y="4526280"/>
            <a:ext cx="5349240" cy="1371600"/>
          </a:xfrm>
          <a:prstGeom prst="roundRect">
            <a:avLst>
              <a:gd name="adj" fmla="val 5333"/>
            </a:avLst>
          </a:prstGeom>
          <a:solidFill>
            <a:srgbClr val="EEF3F8"/>
          </a:solidFill>
          <a:ln w="12700">
            <a:solidFill>
              <a:srgbClr val="EEF3F8"/>
            </a:solidFill>
            <a:prstDash val="solid"/>
          </a:ln>
        </p:spPr>
      </p:sp>
      <p:sp>
        <p:nvSpPr>
          <p:cNvPr id="16" name="Shape 12"/>
          <p:cNvSpPr/>
          <p:nvPr/>
        </p:nvSpPr>
        <p:spPr>
          <a:xfrm>
            <a:off x="822960" y="4910328"/>
            <a:ext cx="603504" cy="603504"/>
          </a:xfrm>
          <a:prstGeom prst="ellipse">
            <a:avLst/>
          </a:prstGeom>
          <a:solidFill>
            <a:srgbClr val="1F4E79"/>
          </a:solidFill>
          <a:ln w="12700">
            <a:solidFill>
              <a:srgbClr val="1F4E79"/>
            </a:solidFill>
            <a:prstDash val="solid"/>
          </a:ln>
        </p:spPr>
      </p:sp>
      <p:pic>
        <p:nvPicPr>
          <p:cNvPr id="17" name="Image 2" descr="preencoded.png">    </p:cNvPr>
          <p:cNvPicPr>
            <a:picLocks noChangeAspect="1"/>
          </p:cNvPicPr>
          <p:nvPr/>
        </p:nvPicPr>
        <p:blipFill>
          <a:blip r:embed="rId3"/>
          <a:stretch>
            <a:fillRect/>
          </a:stretch>
        </p:blipFill>
        <p:spPr>
          <a:xfrm>
            <a:off x="967801" y="5055169"/>
            <a:ext cx="313822" cy="313822"/>
          </a:xfrm>
          <a:prstGeom prst="rect">
            <a:avLst/>
          </a:prstGeom>
        </p:spPr>
      </p:pic>
      <p:sp>
        <p:nvSpPr>
          <p:cNvPr id="18" name="Text 13"/>
          <p:cNvSpPr txBox="1"/>
          <p:nvPr/>
        </p:nvSpPr>
        <p:spPr>
          <a:xfrm>
            <a:off x="1645920" y="4709160"/>
            <a:ext cx="4069080" cy="457200"/>
          </a:xfrm>
          <a:prstGeom prst="rect">
            <a:avLst/>
          </a:prstGeom>
          <a:noFill/>
          <a:ln/>
        </p:spPr>
        <p:txBody>
          <a:bodyPr wrap="square" lIns="0" tIns="0" rIns="0" bIns="0" rtlCol="0" anchor="ctr"/>
          <a:lstStyle/>
          <a:p>
            <a:pPr indent="0" marL="0">
              <a:buNone/>
            </a:pPr>
            <a:r>
              <a:rPr lang="en-US" sz="1600" b="1" dirty="0">
                <a:solidFill>
                  <a:srgbClr val="0F2533"/>
                </a:solidFill>
                <a:latin typeface="Cambria" pitchFamily="34" charset="0"/>
                <a:ea typeface="Cambria" pitchFamily="34" charset="-122"/>
                <a:cs typeface="Cambria" pitchFamily="34" charset="-120"/>
              </a:rPr>
              <a:t>Validate in the right environment</a:t>
            </a:r>
            <a:endParaRPr lang="en-US" sz="1600" dirty="0"/>
          </a:p>
        </p:txBody>
      </p:sp>
      <p:sp>
        <p:nvSpPr>
          <p:cNvPr id="19" name="Text 14"/>
          <p:cNvSpPr txBox="1"/>
          <p:nvPr/>
        </p:nvSpPr>
        <p:spPr>
          <a:xfrm>
            <a:off x="1645920" y="5212080"/>
            <a:ext cx="4069080" cy="54864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Replay must load the new rules, or 'validated' means nothing</a:t>
            </a:r>
            <a:endParaRPr lang="en-US" sz="1400" dirty="0"/>
          </a:p>
        </p:txBody>
      </p:sp>
      <p:sp>
        <p:nvSpPr>
          <p:cNvPr id="20" name="Shape 15"/>
          <p:cNvSpPr/>
          <p:nvPr/>
        </p:nvSpPr>
        <p:spPr>
          <a:xfrm>
            <a:off x="6217920" y="4526280"/>
            <a:ext cx="5349240" cy="1371600"/>
          </a:xfrm>
          <a:prstGeom prst="roundRect">
            <a:avLst>
              <a:gd name="adj" fmla="val 5333"/>
            </a:avLst>
          </a:prstGeom>
          <a:solidFill>
            <a:srgbClr val="EEF3F8"/>
          </a:solidFill>
          <a:ln w="12700">
            <a:solidFill>
              <a:srgbClr val="EEF3F8"/>
            </a:solidFill>
            <a:prstDash val="solid"/>
          </a:ln>
        </p:spPr>
      </p:sp>
      <p:sp>
        <p:nvSpPr>
          <p:cNvPr id="21" name="Shape 16"/>
          <p:cNvSpPr/>
          <p:nvPr/>
        </p:nvSpPr>
        <p:spPr>
          <a:xfrm>
            <a:off x="6492240" y="4910328"/>
            <a:ext cx="603504" cy="603504"/>
          </a:xfrm>
          <a:prstGeom prst="ellipse">
            <a:avLst/>
          </a:prstGeom>
          <a:solidFill>
            <a:srgbClr val="1F4E79"/>
          </a:solidFill>
          <a:ln w="12700">
            <a:solidFill>
              <a:srgbClr val="1F4E79"/>
            </a:solidFill>
            <a:prstDash val="solid"/>
          </a:ln>
        </p:spPr>
      </p:sp>
      <p:pic>
        <p:nvPicPr>
          <p:cNvPr id="22" name="Image 3" descr="preencoded.png">    </p:cNvPr>
          <p:cNvPicPr>
            <a:picLocks noChangeAspect="1"/>
          </p:cNvPicPr>
          <p:nvPr/>
        </p:nvPicPr>
        <p:blipFill>
          <a:blip r:embed="rId4"/>
          <a:stretch>
            <a:fillRect/>
          </a:stretch>
        </p:blipFill>
        <p:spPr>
          <a:xfrm>
            <a:off x="6637081" y="5055169"/>
            <a:ext cx="313822" cy="313822"/>
          </a:xfrm>
          <a:prstGeom prst="rect">
            <a:avLst/>
          </a:prstGeom>
        </p:spPr>
      </p:pic>
      <p:sp>
        <p:nvSpPr>
          <p:cNvPr id="23" name="Text 17"/>
          <p:cNvSpPr txBox="1"/>
          <p:nvPr/>
        </p:nvSpPr>
        <p:spPr>
          <a:xfrm>
            <a:off x="7315200" y="4709160"/>
            <a:ext cx="4069080" cy="457200"/>
          </a:xfrm>
          <a:prstGeom prst="rect">
            <a:avLst/>
          </a:prstGeom>
          <a:noFill/>
          <a:ln/>
        </p:spPr>
        <p:txBody>
          <a:bodyPr wrap="square" lIns="0" tIns="0" rIns="0" bIns="0" rtlCol="0" anchor="ctr"/>
          <a:lstStyle/>
          <a:p>
            <a:pPr indent="0" marL="0">
              <a:buNone/>
            </a:pPr>
            <a:r>
              <a:rPr lang="en-US" sz="1600" b="1" dirty="0">
                <a:solidFill>
                  <a:srgbClr val="0F2533"/>
                </a:solidFill>
                <a:latin typeface="Cambria" pitchFamily="34" charset="0"/>
                <a:ea typeface="Cambria" pitchFamily="34" charset="-122"/>
                <a:cs typeface="Cambria" pitchFamily="34" charset="-120"/>
              </a:rPr>
              <a:t>Context buys depth</a:t>
            </a:r>
            <a:endParaRPr lang="en-US" sz="1600" dirty="0"/>
          </a:p>
        </p:txBody>
      </p:sp>
      <p:sp>
        <p:nvSpPr>
          <p:cNvPr id="24" name="Text 18"/>
          <p:cNvSpPr txBox="1"/>
          <p:nvPr/>
        </p:nvSpPr>
        <p:spPr>
          <a:xfrm>
            <a:off x="7315200" y="5212080"/>
            <a:ext cx="4069080" cy="548640"/>
          </a:xfrm>
          <a:prstGeom prst="rect">
            <a:avLst/>
          </a:prstGeom>
          <a:noFill/>
          <a:ln/>
        </p:spPr>
        <p:txBody>
          <a:bodyPr wrap="square" lIns="0" tIns="0" rIns="0" bIns="0" rtlCol="0" anchor="t"/>
          <a:lstStyle/>
          <a:p>
            <a:pPr indent="0" marL="0">
              <a:buNone/>
            </a:pPr>
            <a:r>
              <a:rPr lang="en-US" sz="1400" dirty="0">
                <a:solidFill>
                  <a:srgbClr val="5B6B7A"/>
                </a:solidFill>
                <a:latin typeface="Calibri" pitchFamily="34" charset="0"/>
                <a:ea typeface="Calibri" pitchFamily="34" charset="-122"/>
                <a:cs typeface="Calibri" pitchFamily="34" charset="-120"/>
              </a:rPr>
              <a:t>Alerts find attacks; flows and app-layer data confirm outcomes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2533"/>
        </a:solidFill>
      </p:bgPr>
    </p:bg>
    <p:spTree>
      <p:nvGrpSpPr>
        <p:cNvPr id="1" name=""/>
        <p:cNvGrpSpPr/>
        <p:nvPr/>
      </p:nvGrpSpPr>
      <p:grpSpPr>
        <a:xfrm>
          <a:off x="0" y="0"/>
          <a:ext cx="0" cy="0"/>
          <a:chOff x="0" y="0"/>
          <a:chExt cx="0" cy="0"/>
        </a:xfrm>
      </p:grpSpPr>
      <p:sp>
        <p:nvSpPr>
          <p:cNvPr id="2" name="Text 0"/>
          <p:cNvSpPr txBox="1"/>
          <p:nvPr/>
        </p:nvSpPr>
        <p:spPr>
          <a:xfrm>
            <a:off x="548640" y="548640"/>
            <a:ext cx="64008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Next steps</a:t>
            </a:r>
            <a:endParaRPr lang="en-US" sz="3600" dirty="0"/>
          </a:p>
        </p:txBody>
      </p:sp>
      <p:sp>
        <p:nvSpPr>
          <p:cNvPr id="3" name="Shape 1"/>
          <p:cNvSpPr/>
          <p:nvPr/>
        </p:nvSpPr>
        <p:spPr>
          <a:xfrm>
            <a:off x="548640" y="1554480"/>
            <a:ext cx="603504" cy="603504"/>
          </a:xfrm>
          <a:prstGeom prst="ellipse">
            <a:avLst/>
          </a:prstGeom>
          <a:solidFill>
            <a:srgbClr val="D9822B"/>
          </a:solidFill>
          <a:ln w="12700">
            <a:solidFill>
              <a:srgbClr val="D9822B"/>
            </a:solidFill>
            <a:prstDash val="solid"/>
          </a:ln>
        </p:spPr>
      </p:sp>
      <p:pic>
        <p:nvPicPr>
          <p:cNvPr id="4" name="Image 0" descr="preencoded.png">    </p:cNvPr>
          <p:cNvPicPr>
            <a:picLocks noChangeAspect="1"/>
          </p:cNvPicPr>
          <p:nvPr/>
        </p:nvPicPr>
        <p:blipFill>
          <a:blip r:embed="rId1"/>
          <a:stretch>
            <a:fillRect/>
          </a:stretch>
        </p:blipFill>
        <p:spPr>
          <a:xfrm>
            <a:off x="693481" y="1699321"/>
            <a:ext cx="313822" cy="313822"/>
          </a:xfrm>
          <a:prstGeom prst="rect">
            <a:avLst/>
          </a:prstGeom>
        </p:spPr>
      </p:pic>
      <p:sp>
        <p:nvSpPr>
          <p:cNvPr id="5" name="Text 2"/>
          <p:cNvSpPr txBox="1"/>
          <p:nvPr/>
        </p:nvSpPr>
        <p:spPr>
          <a:xfrm>
            <a:off x="1417320" y="1536192"/>
            <a:ext cx="585216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Controlled model comparison</a:t>
            </a:r>
            <a:endParaRPr lang="en-US" sz="1800" dirty="0"/>
          </a:p>
        </p:txBody>
      </p:sp>
      <p:sp>
        <p:nvSpPr>
          <p:cNvPr id="6" name="Text 3"/>
          <p:cNvSpPr txBox="1"/>
          <p:nvPr/>
        </p:nvSpPr>
        <p:spPr>
          <a:xfrm>
            <a:off x="1417320" y="1901952"/>
            <a:ext cx="5852160" cy="64008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Two providers, same capture, locked-down environment</a:t>
            </a:r>
            <a:endParaRPr lang="en-US" sz="1400" dirty="0"/>
          </a:p>
        </p:txBody>
      </p:sp>
      <p:sp>
        <p:nvSpPr>
          <p:cNvPr id="7" name="Shape 4"/>
          <p:cNvSpPr/>
          <p:nvPr/>
        </p:nvSpPr>
        <p:spPr>
          <a:xfrm>
            <a:off x="548640" y="2651760"/>
            <a:ext cx="603504" cy="603504"/>
          </a:xfrm>
          <a:prstGeom prst="ellipse">
            <a:avLst/>
          </a:prstGeom>
          <a:solidFill>
            <a:srgbClr val="D9822B"/>
          </a:solidFill>
          <a:ln w="12700">
            <a:solidFill>
              <a:srgbClr val="D9822B"/>
            </a:solidFill>
            <a:prstDash val="solid"/>
          </a:ln>
        </p:spPr>
      </p:sp>
      <p:pic>
        <p:nvPicPr>
          <p:cNvPr id="8" name="Image 1" descr="preencoded.png">    </p:cNvPr>
          <p:cNvPicPr>
            <a:picLocks noChangeAspect="1"/>
          </p:cNvPicPr>
          <p:nvPr/>
        </p:nvPicPr>
        <p:blipFill>
          <a:blip r:embed="rId2"/>
          <a:stretch>
            <a:fillRect/>
          </a:stretch>
        </p:blipFill>
        <p:spPr>
          <a:xfrm>
            <a:off x="693481" y="2796601"/>
            <a:ext cx="313822" cy="313822"/>
          </a:xfrm>
          <a:prstGeom prst="rect">
            <a:avLst/>
          </a:prstGeom>
        </p:spPr>
      </p:pic>
      <p:sp>
        <p:nvSpPr>
          <p:cNvPr id="9" name="Text 5"/>
          <p:cNvSpPr txBox="1"/>
          <p:nvPr/>
        </p:nvSpPr>
        <p:spPr>
          <a:xfrm>
            <a:off x="1417320" y="2633472"/>
            <a:ext cx="585216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Human analyst baseline</a:t>
            </a:r>
            <a:endParaRPr lang="en-US" sz="1800" dirty="0"/>
          </a:p>
        </p:txBody>
      </p:sp>
      <p:sp>
        <p:nvSpPr>
          <p:cNvPr id="10" name="Text 6"/>
          <p:cNvSpPr txBox="1"/>
          <p:nvPr/>
        </p:nvSpPr>
        <p:spPr>
          <a:xfrm>
            <a:off x="1417320" y="2999232"/>
            <a:ext cx="5852160" cy="64008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Timed manual triage scored with the same scripts</a:t>
            </a:r>
            <a:endParaRPr lang="en-US" sz="1400" dirty="0"/>
          </a:p>
        </p:txBody>
      </p:sp>
      <p:sp>
        <p:nvSpPr>
          <p:cNvPr id="11" name="Shape 7"/>
          <p:cNvSpPr/>
          <p:nvPr/>
        </p:nvSpPr>
        <p:spPr>
          <a:xfrm>
            <a:off x="548640" y="3749040"/>
            <a:ext cx="603504" cy="603504"/>
          </a:xfrm>
          <a:prstGeom prst="ellipse">
            <a:avLst/>
          </a:prstGeom>
          <a:solidFill>
            <a:srgbClr val="D9822B"/>
          </a:solidFill>
          <a:ln w="12700">
            <a:solidFill>
              <a:srgbClr val="D9822B"/>
            </a:solidFill>
            <a:prstDash val="solid"/>
          </a:ln>
        </p:spPr>
      </p:sp>
      <p:pic>
        <p:nvPicPr>
          <p:cNvPr id="12" name="Image 2" descr="preencoded.png">    </p:cNvPr>
          <p:cNvPicPr>
            <a:picLocks noChangeAspect="1"/>
          </p:cNvPicPr>
          <p:nvPr/>
        </p:nvPicPr>
        <p:blipFill>
          <a:blip r:embed="rId3"/>
          <a:stretch>
            <a:fillRect/>
          </a:stretch>
        </p:blipFill>
        <p:spPr>
          <a:xfrm>
            <a:off x="693481" y="3893881"/>
            <a:ext cx="313822" cy="313822"/>
          </a:xfrm>
          <a:prstGeom prst="rect">
            <a:avLst/>
          </a:prstGeom>
        </p:spPr>
      </p:pic>
      <p:sp>
        <p:nvSpPr>
          <p:cNvPr id="13" name="Text 8"/>
          <p:cNvSpPr txBox="1"/>
          <p:nvPr/>
        </p:nvSpPr>
        <p:spPr>
          <a:xfrm>
            <a:off x="1417320" y="3730752"/>
            <a:ext cx="585216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Context bundle</a:t>
            </a:r>
            <a:endParaRPr lang="en-US" sz="1800" dirty="0"/>
          </a:p>
        </p:txBody>
      </p:sp>
      <p:sp>
        <p:nvSpPr>
          <p:cNvPr id="14" name="Text 9"/>
          <p:cNvSpPr txBox="1"/>
          <p:nvPr/>
        </p:nvSpPr>
        <p:spPr>
          <a:xfrm>
            <a:off x="1417320" y="4096512"/>
            <a:ext cx="5852160" cy="64008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Source history, asset context and rule history (the full Experiment 1 design)</a:t>
            </a:r>
            <a:endParaRPr lang="en-US" sz="1400" dirty="0"/>
          </a:p>
        </p:txBody>
      </p:sp>
      <p:sp>
        <p:nvSpPr>
          <p:cNvPr id="15" name="Shape 10"/>
          <p:cNvSpPr/>
          <p:nvPr/>
        </p:nvSpPr>
        <p:spPr>
          <a:xfrm>
            <a:off x="548640" y="4846320"/>
            <a:ext cx="603504" cy="603504"/>
          </a:xfrm>
          <a:prstGeom prst="ellipse">
            <a:avLst/>
          </a:prstGeom>
          <a:solidFill>
            <a:srgbClr val="D9822B"/>
          </a:solidFill>
          <a:ln w="12700">
            <a:solidFill>
              <a:srgbClr val="D9822B"/>
            </a:solidFill>
            <a:prstDash val="solid"/>
          </a:ln>
        </p:spPr>
      </p:sp>
      <p:pic>
        <p:nvPicPr>
          <p:cNvPr id="16" name="Image 3" descr="preencoded.png">    </p:cNvPr>
          <p:cNvPicPr>
            <a:picLocks noChangeAspect="1"/>
          </p:cNvPicPr>
          <p:nvPr/>
        </p:nvPicPr>
        <p:blipFill>
          <a:blip r:embed="rId4"/>
          <a:stretch>
            <a:fillRect/>
          </a:stretch>
        </p:blipFill>
        <p:spPr>
          <a:xfrm>
            <a:off x="693481" y="4991161"/>
            <a:ext cx="313822" cy="313822"/>
          </a:xfrm>
          <a:prstGeom prst="rect">
            <a:avLst/>
          </a:prstGeom>
        </p:spPr>
      </p:pic>
      <p:sp>
        <p:nvSpPr>
          <p:cNvPr id="17" name="Text 11"/>
          <p:cNvSpPr txBox="1"/>
          <p:nvPr/>
        </p:nvSpPr>
        <p:spPr>
          <a:xfrm>
            <a:off x="1417320" y="4828032"/>
            <a:ext cx="5852160" cy="365760"/>
          </a:xfrm>
          <a:prstGeom prst="rect">
            <a:avLst/>
          </a:prstGeom>
          <a:noFill/>
          <a:ln/>
        </p:spPr>
        <p:txBody>
          <a:bodyPr wrap="square" lIns="0" tIns="0" rIns="0" bIns="0" rtlCol="0" anchor="t"/>
          <a:lstStyle/>
          <a:p>
            <a:pPr indent="0" marL="0">
              <a:buNone/>
            </a:pPr>
            <a:r>
              <a:rPr lang="en-US" sz="1800" b="1" dirty="0">
                <a:solidFill>
                  <a:srgbClr val="FFFFFF"/>
                </a:solidFill>
                <a:latin typeface="Cambria" pitchFamily="34" charset="0"/>
                <a:ea typeface="Cambria" pitchFamily="34" charset="-122"/>
                <a:cs typeface="Cambria" pitchFamily="34" charset="-120"/>
              </a:rPr>
              <a:t>Live deployment</a:t>
            </a:r>
            <a:endParaRPr lang="en-US" sz="1800" dirty="0"/>
          </a:p>
        </p:txBody>
      </p:sp>
      <p:sp>
        <p:nvSpPr>
          <p:cNvPr id="18" name="Text 12"/>
          <p:cNvSpPr txBox="1"/>
          <p:nvPr/>
        </p:nvSpPr>
        <p:spPr>
          <a:xfrm>
            <a:off x="1417320" y="5193792"/>
            <a:ext cx="5852160" cy="640080"/>
          </a:xfrm>
          <a:prstGeom prst="rect">
            <a:avLst/>
          </a:prstGeom>
          <a:noFill/>
          <a:ln/>
        </p:spPr>
        <p:txBody>
          <a:bodyPr wrap="square" lIns="0" tIns="0" rIns="0" bIns="0" rtlCol="0" anchor="t"/>
          <a:lstStyle/>
          <a:p>
            <a:pPr indent="0" marL="0">
              <a:buNone/>
            </a:pPr>
            <a:r>
              <a:rPr lang="en-US" sz="1400" dirty="0">
                <a:solidFill>
                  <a:srgbClr val="CADCFC"/>
                </a:solidFill>
                <a:latin typeface="Calibri" pitchFamily="34" charset="0"/>
                <a:ea typeface="Calibri" pitchFamily="34" charset="-122"/>
                <a:cs typeface="Calibri" pitchFamily="34" charset="-120"/>
              </a:rPr>
              <a:t>Time-windowed alert batches and live rule reload via the Suricata socket</a:t>
            </a:r>
            <a:endParaRPr lang="en-US" sz="1400" dirty="0"/>
          </a:p>
        </p:txBody>
      </p:sp>
      <p:pic>
        <p:nvPicPr>
          <p:cNvPr id="19" name="Image 4" descr="preencoded.png">    </p:cNvPr>
          <p:cNvPicPr>
            <a:picLocks noChangeAspect="1"/>
          </p:cNvPicPr>
          <p:nvPr/>
        </p:nvPicPr>
        <p:blipFill>
          <a:blip r:embed="rId5"/>
          <a:stretch>
            <a:fillRect/>
          </a:stretch>
        </p:blipFill>
        <p:spPr>
          <a:xfrm>
            <a:off x="8778240" y="1463040"/>
            <a:ext cx="2194560" cy="2194560"/>
          </a:xfrm>
          <a:prstGeom prst="rect">
            <a:avLst/>
          </a:prstGeom>
        </p:spPr>
      </p:pic>
      <p:sp>
        <p:nvSpPr>
          <p:cNvPr id="20" name="Text 13"/>
          <p:cNvSpPr txBox="1"/>
          <p:nvPr/>
        </p:nvSpPr>
        <p:spPr>
          <a:xfrm>
            <a:off x="7589520" y="4023360"/>
            <a:ext cx="4206240" cy="822960"/>
          </a:xfrm>
          <a:prstGeom prst="rect">
            <a:avLst/>
          </a:prstGeom>
          <a:noFill/>
          <a:ln/>
        </p:spPr>
        <p:txBody>
          <a:bodyPr wrap="square" lIns="0" tIns="0" rIns="0" bIns="0" rtlCol="0" anchor="ctr"/>
          <a:lstStyle/>
          <a:p>
            <a:pPr algn="ctr" indent="0" marL="0">
              <a:buNone/>
            </a:pPr>
            <a:r>
              <a:rPr lang="en-US" sz="4000" b="1" dirty="0">
                <a:solidFill>
                  <a:srgbClr val="D9822B"/>
                </a:solidFill>
                <a:latin typeface="Cambria" pitchFamily="34" charset="0"/>
                <a:ea typeface="Cambria" pitchFamily="34" charset="-122"/>
                <a:cs typeface="Cambria" pitchFamily="34" charset="-120"/>
              </a:rPr>
              <a:t>Questions?</a:t>
            </a:r>
            <a:endParaRPr lang="en-US" sz="4000" dirty="0"/>
          </a:p>
        </p:txBody>
      </p:sp>
      <p:sp>
        <p:nvSpPr>
          <p:cNvPr id="21" name="Text 14"/>
          <p:cNvSpPr txBox="1"/>
          <p:nvPr/>
        </p:nvSpPr>
        <p:spPr>
          <a:xfrm>
            <a:off x="7315200" y="4937760"/>
            <a:ext cx="4572000" cy="73152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Code, rules, transcripts and evaluation scripts:</a:t>
            </a:r>
            <a:endParaRPr lang="en-US" sz="1300" dirty="0"/>
          </a:p>
          <a:p>
            <a:pPr algn="ctr" indent="0" marL="0">
              <a:buNone/>
            </a:pPr>
            <a:r>
              <a:rPr lang="en-US" sz="1300" dirty="0">
                <a:solidFill>
                  <a:srgbClr val="CADCFC"/>
                </a:solidFill>
                <a:latin typeface="Calibri" pitchFamily="34" charset="0"/>
                <a:ea typeface="Calibri" pitchFamily="34" charset="-122"/>
                <a:cs typeface="Calibri" pitchFamily="34" charset="-120"/>
              </a:rPr>
              <a:t>github.com/bigyan-siwakoti/Intrusion_Detection_System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Can an LLM Replace the IDS Analyst? — Group 13</dc:title>
  <dc:subject>PptxGenJS Presentation</dc:subject>
  <dc:creator>PptxGenJS</dc:creator>
  <cp:lastModifiedBy>PptxGenJS</cp:lastModifiedBy>
  <cp:revision>1</cp:revision>
  <dcterms:created xsi:type="dcterms:W3CDTF">2026-09-27T03:12:08Z</dcterms:created>
  <dcterms:modified xsi:type="dcterms:W3CDTF">2026-09-27T03:12:08Z</dcterms:modified>
</cp:coreProperties>
</file>