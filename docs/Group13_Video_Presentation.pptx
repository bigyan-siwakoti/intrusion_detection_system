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Looked like (AI-rule alerts incl. topology rules)</c:v>
                </c:pt>
              </c:strCache>
            </c:strRef>
          </c:tx>
          <c:spPr>
            <a:solidFill>
              <a:srgbClr val="C9D3DD"/>
            </a:solidFill>
            <a:effectLst/>
          </c:spPr>
          <c:invertIfNegative val="0"/>
          <c:dLbls>
            <c:numFmt formatCode="+0.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Plain</c:v>
                  </c:pt>
                  <c:pt idx="1">
                    <c:v>Research</c:v>
                  </c:pt>
                  <c:pt idx="2">
                    <c:v>Hunt</c:v>
                  </c:pt>
                  <c:pt idx="3">
                    <c:v>Hunt2</c:v>
                  </c:pt>
                </c:lvl>
              </c:multiLvlStrCache>
            </c:multiLvlStrRef>
          </c:cat>
          <c:val>
            <c:numRef>
              <c:f>Sheet1!$B$2:$B$5</c:f>
              <c:numCache>
                <c:formatCode>General</c:formatCode>
                <c:ptCount val="4"/>
                <c:pt idx="0">
                  <c:v>11.31</c:v>
                </c:pt>
                <c:pt idx="1">
                  <c:v>2.68</c:v>
                </c:pt>
                <c:pt idx="2">
                  <c:v>1.21</c:v>
                </c:pt>
                <c:pt idx="3">
                  <c:v>0.96</c:v>
                </c:pt>
              </c:numCache>
            </c:numRef>
          </c:val>
        </c:ser>
        <c:ser>
          <c:idx val="1"/>
          <c:order val="1"/>
          <c:tx>
            <c:strRef>
              <c:f>Sheet1!$C$1</c:f>
              <c:strCache>
                <c:ptCount val="1"/>
                <c:pt idx="0">
                  <c:v>Genuine (signature + behaviour rules only)</c:v>
                </c:pt>
              </c:strCache>
            </c:strRef>
          </c:tx>
          <c:spPr>
            <a:solidFill>
              <a:srgbClr val="D9822B"/>
            </a:solidFill>
            <a:effectLst/>
          </c:spPr>
          <c:invertIfNegative val="0"/>
          <c:dLbls>
            <c:numFmt formatCode="+0.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Plain</c:v>
                  </c:pt>
                  <c:pt idx="1">
                    <c:v>Research</c:v>
                  </c:pt>
                  <c:pt idx="2">
                    <c:v>Hunt</c:v>
                  </c:pt>
                  <c:pt idx="3">
                    <c:v>Hunt2</c:v>
                  </c:pt>
                </c:lvl>
              </c:multiLvlStrCache>
            </c:multiLvlStrRef>
          </c:cat>
          <c:val>
            <c:numRef>
              <c:f>Sheet1!$C$2:$C$5</c:f>
              <c:numCache>
                <c:formatCode>General</c:formatCode>
                <c:ptCount val="4"/>
                <c:pt idx="0">
                  <c:v>0.08</c:v>
                </c:pt>
                <c:pt idx="1">
                  <c:v>0.33</c:v>
                </c:pt>
                <c:pt idx="2">
                  <c:v>1.21</c:v>
                </c:pt>
                <c:pt idx="3">
                  <c:v>0.91</c:v>
                </c:pt>
              </c:numCache>
            </c:numRef>
          </c:val>
        </c:ser>
        <c:dLbls>
          <c:numFmt formatCode="+0.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B"/>
              </a:solidFill>
              <a:prstDash val="solid"/>
              <a:round/>
            </a:ln>
          </c:spPr>
        </c:majorGridlines>
        <c:title>
          <c:tx>
            <c:rich>
              <a:bodyPr/>
              <a:lstStyle/>
              <a:p>
                <a:pPr>
                  <a:defRPr sz="1100" b="0" i="0" u="none" strike="noStrike">
                    <a:solidFill>
                      <a:srgbClr val="5B6B7A"/>
                    </a:solidFill>
                    <a:latin typeface="Arial"/>
                  </a:defRPr>
                </a:pPr>
                <a:r>
                  <a:rPr sz="1100" b="0" i="0" u="none" strike="noStrike">
                    <a:solidFill>
                      <a:srgbClr val="5B6B7A"/>
                    </a:solidFill>
                    <a:latin typeface="Arial"/>
                  </a:rPr>
                  <a:t>detection gain (points, 6 dev captures)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Development captures</c:v>
                </c:pt>
              </c:strCache>
            </c:strRef>
          </c:tx>
          <c:spPr>
            <a:solidFill>
              <a:srgbClr val="1F4E79"/>
            </a:solidFill>
            <a:effectLst/>
          </c:spPr>
          <c:invertIfNegative val="0"/>
          <c:dLbls>
            <c:numFmt formatCode="+0.0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Plain</c:v>
                  </c:pt>
                  <c:pt idx="1">
                    <c:v>Research</c:v>
                  </c:pt>
                  <c:pt idx="2">
                    <c:v>Hunt</c:v>
                  </c:pt>
                  <c:pt idx="3">
                    <c:v>Hunt2</c:v>
                  </c:pt>
                </c:lvl>
              </c:multiLvlStrCache>
            </c:multiLvlStrRef>
          </c:cat>
          <c:val>
            <c:numRef>
              <c:f>Sheet1!$B$2:$B$5</c:f>
              <c:numCache>
                <c:formatCode>General</c:formatCode>
                <c:ptCount val="4"/>
                <c:pt idx="0">
                  <c:v>0.08</c:v>
                </c:pt>
                <c:pt idx="1">
                  <c:v>0.33</c:v>
                </c:pt>
                <c:pt idx="2">
                  <c:v>1.21</c:v>
                </c:pt>
                <c:pt idx="3">
                  <c:v>0.91</c:v>
                </c:pt>
              </c:numCache>
            </c:numRef>
          </c:val>
        </c:ser>
        <c:ser>
          <c:idx val="1"/>
          <c:order val="1"/>
          <c:tx>
            <c:strRef>
              <c:f>Sheet1!$C$1</c:f>
              <c:strCache>
                <c:ptCount val="1"/>
                <c:pt idx="0">
                  <c:v>Hold-out (unseen)</c:v>
                </c:pt>
              </c:strCache>
            </c:strRef>
          </c:tx>
          <c:spPr>
            <a:solidFill>
              <a:srgbClr val="D9822B"/>
            </a:solidFill>
            <a:effectLst/>
          </c:spPr>
          <c:invertIfNegative val="0"/>
          <c:dLbls>
            <c:numFmt formatCode="+0.0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Plain</c:v>
                  </c:pt>
                  <c:pt idx="1">
                    <c:v>Research</c:v>
                  </c:pt>
                  <c:pt idx="2">
                    <c:v>Hunt</c:v>
                  </c:pt>
                  <c:pt idx="3">
                    <c:v>Hunt2</c:v>
                  </c:pt>
                </c:lvl>
              </c:multiLvlStrCache>
            </c:multiLvlStrRef>
          </c:cat>
          <c:val>
            <c:numRef>
              <c:f>Sheet1!$C$2:$C$5</c:f>
              <c:numCache>
                <c:formatCode>General</c:formatCode>
                <c:ptCount val="4"/>
                <c:pt idx="0">
                  <c:v>0.11</c:v>
                </c:pt>
                <c:pt idx="1">
                  <c:v>0.28</c:v>
                </c:pt>
                <c:pt idx="2">
                  <c:v>1.53</c:v>
                </c:pt>
                <c:pt idx="3">
                  <c:v>1.06</c:v>
                </c:pt>
              </c:numCache>
            </c:numRef>
          </c:val>
        </c:ser>
        <c:dLbls>
          <c:numFmt formatCode="+0.0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B"/>
              </a:solidFill>
              <a:prstDash val="solid"/>
              <a:round/>
            </a:ln>
          </c:spPr>
        </c:majorGridlines>
        <c:title>
          <c:tx>
            <c:rich>
              <a:bodyPr/>
              <a:lstStyle/>
              <a:p>
                <a:pPr>
                  <a:defRPr sz="1100" b="0" i="0" u="none" strike="noStrike">
                    <a:solidFill>
                      <a:srgbClr val="5B6B7A"/>
                    </a:solidFill>
                    <a:latin typeface="Arial"/>
                  </a:defRPr>
                </a:pPr>
                <a:r>
                  <a:rPr sz="1100" b="0" i="0" u="none" strike="noStrike">
                    <a:solidFill>
                      <a:srgbClr val="5B6B7A"/>
                    </a:solidFill>
                    <a:latin typeface="Arial"/>
                  </a:rPr>
                  <a:t>genuine detection gain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BIGYAN (0:00–0:20)
Hi, we are Group 13 — Bigyan, Binay, Irab and Shashwat, supervised by Professor Bharanidharan Shanmugam. Our question: can a large language model replace the human analyst in a rule-based intrusion detection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BIGYAN (0:20–1:00)
A signature IDS like Suricata only detects what it has rules for. Turning a new attack into a tested rule is manual work — investigate, find what is unique, write, validate, deploy — and it takes scarce expertise. We kept detection rule-based and open-source, with no machine learning: the AI only does the analyst's job around the engine — investigating alerts and authoring rules. And we asked what context it needs to do that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IRAB (1:00–1:40)
Our literature review covered three areas. Intrusion-detection foundations, from Denning to Snort and NIST's guidance, which show that writing rules is the bottleneck. Recent LLM rule-generation work — GRIDAI, GenTI and RuleAutoPilot — which shows rules must be validated by actually running them. And detection-engineering practice — Palantir's ADS framework, SpecterOps and stack counting — which our supervisor asked us to replicate with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BINAY (1:40–2:25)
Here is our design. Packet captures from two public datasets are replayed through Suricata 8 with the open ET ruleset. Suricata writes eve.json, and our Python triage engine runs an agentic loop over it. A provider adapter means DeepSeek and Claude run the identical loop. The model has two exits: a threat becomes a detection rule, validated by replay and deployed automatically; benign noise becomes a suppression, which needs human approval. A web interface streams every step live, and experiment profiles keep each condition's tools and rules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BINAY (2:25–3:05)
The model never touches the system directly. It proposes a tool call, and the engine checks and runs it. Thirteen tools in five groups: investigate, hunt, research, validate and write. The engine enforces the safeguards: an allowlist so the model can never read ground-truth labels, and in the hunt profile a rule is saved only after it passes test_rule — which replays it and rejects any rule that fires on normal internal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IRAB (3:05–3:45)
We scored everything against the datasets' ground-truth labels, never the model's own claims. On CIC-IDS2017 the model identified 13 of 14 attack categories, and 99.4 percent of its rules' alerts on the noisiest days fell on real attacks, against 6.1 percent for the stock rules. On UNSW-NB15, a dataset it had never seen, it found 8 of 9 categories and raised detection from 9.2 to 15.5 percent. And the safety design proved itself: one run wanted to suppress rules that were catching a real Cisco exploit — because suppressions need approval, nothing was blinded.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IRAB (3:45–4:25)
Four examples show the model reasoning like an analyst. On the FAKEVERB attack, its first rule caught nothing; it worked out that Suricata's HTTP parser hides non-standard methods and rewrote the rule on raw bytes — 463 alerts. It wrote a rule for a Hulk flood that no stock rule covered. It found the ARES botnet that our own interim report had missed. And its SSH fingerprint rule raised detection from 1 to 28 percent with no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SHASHWAT (4:25–5:00)
The second half of our question asks what context the model needs. We ran the same captures twice — once with everything Suricata logs, once with alerts only. The result surprised us: with alerts alone the model found attacks just as broadly. What context buys is depth. With flows and application data it could say whether an attack succeeded — 52 evidence-backed outcome statements against 9 — and that is what decides an analyst's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SHASHWAT (5:00–5:35)
The model was not always right, and its mistakes were confident. It deleted two of its own best rules, claiming they were stock rules — they were not. It reported rules as validated that Suricata could not even load. It read ordinary FTP uploads as data theft. On CIC only half its rules ever fired, because our configuration did not load its files — its validation tested nothing. Once the environment was fixed for UNSW, all 18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SHASHWAT (5:35–6:15)
Our supervisor then challenged us to beat a strong human baseline. Re-enabling rule families lifted it to about 25 percent. Against it, the triage rounds looked like 11 points — but most of that was topology: rules that fire on anything from outside, which only works because every outsider in UNSW is an attacker. Counting only what the AI's own real rules caught, plain and research added under half a point. The hunt workflow, copying real detection engineers, added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BINAY (6:15–6:50)
This is the part that felt most like real engineering. The first hunt on capture 1 ran 100 turns, its rules passed the gate, and it saved nothing. We checked each layer until the raw API showed the cause: DeepSeek was thinking in a separate field our adapter threw away, so every turn it forgot its own plan. One fix, and the rerun finished in 90 turns with 9 rules. Rules written after the fix added 175 events; before it,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IRAB (6:50–7:25)
All of this was on development captures, so to check we were not overfitting we froze every rule file and ran a day nobody had looked at, once. The pattern held. The hunt rules gained 1.5 points — slightly more than on the development set — and no AI rule of any condition fired on the benign-only captures. The human baseline generalised too, at 29.5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BIGYAN (7:25–8:20)
So, can an LLM replace the IDS analyst? Our answer is split. Yes for triage: with sensor context the model investigates end to end. Only partly for detection: over a strong human baseline it adds about one and a half points — real, but modest. Our lessons: tools and procedure shape the agent, its reasoning must be carried between turns, and you must measure what the AI alone caught. Next, we would separate the workflow from that fix and test on a live network. Using AI to build this also taught us the same lesson our results show: it speeds up the work enormously, but it needs engineering, checking and a human in the loop.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1371600"/>
            <a:ext cx="2194560" cy="2194560"/>
          </a:xfrm>
          <a:prstGeom prst="rect">
            <a:avLst/>
          </a:prstGeom>
        </p:spPr>
      </p:pic>
      <p:sp>
        <p:nvSpPr>
          <p:cNvPr id="3" name="Text 0"/>
          <p:cNvSpPr txBox="1"/>
          <p:nvPr/>
        </p:nvSpPr>
        <p:spPr>
          <a:xfrm>
            <a:off x="548640" y="1280160"/>
            <a:ext cx="822960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Can an LLM replace the IDS analyst?</a:t>
            </a:r>
            <a:endParaRPr lang="en-US" sz="4400" dirty="0"/>
          </a:p>
        </p:txBody>
      </p:sp>
      <p:sp>
        <p:nvSpPr>
          <p:cNvPr id="4" name="Text 1"/>
          <p:cNvSpPr txBox="1"/>
          <p:nvPr/>
        </p:nvSpPr>
        <p:spPr>
          <a:xfrm>
            <a:off x="548640" y="2926080"/>
            <a:ext cx="8046720" cy="822960"/>
          </a:xfrm>
          <a:prstGeom prst="rect">
            <a:avLst/>
          </a:prstGeom>
          <a:noFill/>
          <a:ln/>
        </p:spPr>
        <p:txBody>
          <a:bodyPr wrap="square" lIns="0" tIns="0" rIns="0" bIns="0" rtlCol="0" anchor="t"/>
          <a:lstStyle/>
          <a:p>
            <a:pPr indent="0" marL="0">
              <a:buNone/>
            </a:pPr>
            <a:r>
              <a:rPr lang="en-US" sz="2000" dirty="0">
                <a:solidFill>
                  <a:srgbClr val="D9822B"/>
                </a:solidFill>
                <a:latin typeface="Calibri" pitchFamily="34" charset="0"/>
                <a:ea typeface="Calibri" pitchFamily="34" charset="-122"/>
                <a:cs typeface="Calibri" pitchFamily="34" charset="-120"/>
              </a:rPr>
              <a:t>Generative AI that investigates Suricata alerts and writes detection rules — measured against ground truth</a:t>
            </a:r>
            <a:endParaRPr lang="en-US" sz="2000" dirty="0"/>
          </a:p>
        </p:txBody>
      </p:sp>
      <p:sp>
        <p:nvSpPr>
          <p:cNvPr id="5" name="Text 2"/>
          <p:cNvSpPr txBox="1"/>
          <p:nvPr/>
        </p:nvSpPr>
        <p:spPr>
          <a:xfrm>
            <a:off x="548640" y="5212080"/>
            <a:ext cx="11094415" cy="731520"/>
          </a:xfrm>
          <a:prstGeom prst="rect">
            <a:avLst/>
          </a:prstGeom>
          <a:noFill/>
          <a:ln/>
        </p:spPr>
        <p:txBody>
          <a:bodyPr wrap="square" lIns="0" tIns="0" rIns="0" bIns="0" rtlCol="0" anchor="ctr"/>
          <a:lstStyle/>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Group 13  ·  Bigyan Siwakoti  ·  Binay Siwakoti  ·  Irab Baral  ·  Shashwat Acharya</a:t>
            </a:r>
            <a:endParaRPr lang="en-US" sz="1500" dirty="0"/>
          </a:p>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Supervisor: Prof. Bharanidharan Shanmugam  ·  HIT401 Capstone Project  ·  Charles Darwin University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No rule, no detection</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A signature IDS is only as good as the rules a human analyst writes for it</a:t>
            </a:r>
            <a:endParaRPr lang="en-US" sz="1600" dirty="0"/>
          </a:p>
        </p:txBody>
      </p:sp>
      <p:sp>
        <p:nvSpPr>
          <p:cNvPr id="4" name="Shape 2"/>
          <p:cNvSpPr/>
          <p:nvPr/>
        </p:nvSpPr>
        <p:spPr>
          <a:xfrm>
            <a:off x="548640" y="1691640"/>
            <a:ext cx="1920240" cy="868680"/>
          </a:xfrm>
          <a:prstGeom prst="roundRect">
            <a:avLst>
              <a:gd name="adj" fmla="val 8421"/>
            </a:avLst>
          </a:prstGeom>
          <a:solidFill>
            <a:srgbClr val="EEF3F8"/>
          </a:solidFill>
          <a:ln w="12700">
            <a:solidFill>
              <a:srgbClr val="EEF3F8"/>
            </a:solidFill>
            <a:prstDash val="solid"/>
          </a:ln>
        </p:spPr>
      </p:sp>
      <p:sp>
        <p:nvSpPr>
          <p:cNvPr id="5" name="Text 3"/>
          <p:cNvSpPr txBox="1"/>
          <p:nvPr/>
        </p:nvSpPr>
        <p:spPr>
          <a:xfrm>
            <a:off x="548640" y="1691640"/>
            <a:ext cx="1920240" cy="868680"/>
          </a:xfrm>
          <a:prstGeom prst="rect">
            <a:avLst/>
          </a:prstGeom>
          <a:noFill/>
          <a:ln/>
        </p:spPr>
        <p:txBody>
          <a:bodyPr wrap="square" lIns="0" tIns="0" rIns="0" bIns="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Investigate</a:t>
            </a:r>
            <a:endParaRPr lang="en-US" sz="1500" dirty="0"/>
          </a:p>
        </p:txBody>
      </p:sp>
      <p:sp>
        <p:nvSpPr>
          <p:cNvPr id="6" name="Shape 4"/>
          <p:cNvSpPr/>
          <p:nvPr/>
        </p:nvSpPr>
        <p:spPr>
          <a:xfrm>
            <a:off x="2468880" y="2121408"/>
            <a:ext cx="320040" cy="0"/>
          </a:xfrm>
          <a:prstGeom prst="line">
            <a:avLst/>
          </a:prstGeom>
          <a:noFill/>
          <a:ln w="25400">
            <a:solidFill>
              <a:srgbClr val="5B6B7A"/>
            </a:solidFill>
            <a:prstDash val="solid"/>
            <a:tailEnd type="triangle"/>
          </a:ln>
        </p:spPr>
      </p:sp>
      <p:sp>
        <p:nvSpPr>
          <p:cNvPr id="7" name="Shape 5"/>
          <p:cNvSpPr/>
          <p:nvPr/>
        </p:nvSpPr>
        <p:spPr>
          <a:xfrm>
            <a:off x="2788920" y="1691640"/>
            <a:ext cx="1920240" cy="868680"/>
          </a:xfrm>
          <a:prstGeom prst="roundRect">
            <a:avLst>
              <a:gd name="adj" fmla="val 8421"/>
            </a:avLst>
          </a:prstGeom>
          <a:solidFill>
            <a:srgbClr val="EEF3F8"/>
          </a:solidFill>
          <a:ln w="12700">
            <a:solidFill>
              <a:srgbClr val="EEF3F8"/>
            </a:solidFill>
            <a:prstDash val="solid"/>
          </a:ln>
        </p:spPr>
      </p:sp>
      <p:sp>
        <p:nvSpPr>
          <p:cNvPr id="8" name="Text 6"/>
          <p:cNvSpPr txBox="1"/>
          <p:nvPr/>
        </p:nvSpPr>
        <p:spPr>
          <a:xfrm>
            <a:off x="2788920" y="1691640"/>
            <a:ext cx="1920240" cy="868680"/>
          </a:xfrm>
          <a:prstGeom prst="rect">
            <a:avLst/>
          </a:prstGeom>
          <a:noFill/>
          <a:ln/>
        </p:spPr>
        <p:txBody>
          <a:bodyPr wrap="square" lIns="0" tIns="0" rIns="0" bIns="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Find what is unique</a:t>
            </a:r>
            <a:endParaRPr lang="en-US" sz="1500" dirty="0"/>
          </a:p>
        </p:txBody>
      </p:sp>
      <p:sp>
        <p:nvSpPr>
          <p:cNvPr id="9" name="Shape 7"/>
          <p:cNvSpPr/>
          <p:nvPr/>
        </p:nvSpPr>
        <p:spPr>
          <a:xfrm>
            <a:off x="4709160" y="2121408"/>
            <a:ext cx="320040" cy="0"/>
          </a:xfrm>
          <a:prstGeom prst="line">
            <a:avLst/>
          </a:prstGeom>
          <a:noFill/>
          <a:ln w="25400">
            <a:solidFill>
              <a:srgbClr val="5B6B7A"/>
            </a:solidFill>
            <a:prstDash val="solid"/>
            <a:tailEnd type="triangle"/>
          </a:ln>
        </p:spPr>
      </p:sp>
      <p:sp>
        <p:nvSpPr>
          <p:cNvPr id="10" name="Shape 8"/>
          <p:cNvSpPr/>
          <p:nvPr/>
        </p:nvSpPr>
        <p:spPr>
          <a:xfrm>
            <a:off x="5029200" y="1691640"/>
            <a:ext cx="1920240" cy="868680"/>
          </a:xfrm>
          <a:prstGeom prst="roundRect">
            <a:avLst>
              <a:gd name="adj" fmla="val 8421"/>
            </a:avLst>
          </a:prstGeom>
          <a:solidFill>
            <a:srgbClr val="1F4E79"/>
          </a:solidFill>
          <a:ln w="12700">
            <a:solidFill>
              <a:srgbClr val="1F4E79"/>
            </a:solidFill>
            <a:prstDash val="solid"/>
          </a:ln>
        </p:spPr>
      </p:sp>
      <p:sp>
        <p:nvSpPr>
          <p:cNvPr id="11" name="Text 9"/>
          <p:cNvSpPr txBox="1"/>
          <p:nvPr/>
        </p:nvSpPr>
        <p:spPr>
          <a:xfrm>
            <a:off x="5029200" y="1691640"/>
            <a:ext cx="192024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Write rule</a:t>
            </a:r>
            <a:endParaRPr lang="en-US" sz="1500" dirty="0"/>
          </a:p>
        </p:txBody>
      </p:sp>
      <p:sp>
        <p:nvSpPr>
          <p:cNvPr id="12" name="Shape 10"/>
          <p:cNvSpPr/>
          <p:nvPr/>
        </p:nvSpPr>
        <p:spPr>
          <a:xfrm>
            <a:off x="6949440" y="2121408"/>
            <a:ext cx="320040" cy="0"/>
          </a:xfrm>
          <a:prstGeom prst="line">
            <a:avLst/>
          </a:prstGeom>
          <a:noFill/>
          <a:ln w="25400">
            <a:solidFill>
              <a:srgbClr val="5B6B7A"/>
            </a:solidFill>
            <a:prstDash val="solid"/>
            <a:tailEnd type="triangle"/>
          </a:ln>
        </p:spPr>
      </p:sp>
      <p:sp>
        <p:nvSpPr>
          <p:cNvPr id="13" name="Shape 11"/>
          <p:cNvSpPr/>
          <p:nvPr/>
        </p:nvSpPr>
        <p:spPr>
          <a:xfrm>
            <a:off x="7269480" y="1691640"/>
            <a:ext cx="1920240" cy="868680"/>
          </a:xfrm>
          <a:prstGeom prst="roundRect">
            <a:avLst>
              <a:gd name="adj" fmla="val 8421"/>
            </a:avLst>
          </a:prstGeom>
          <a:solidFill>
            <a:srgbClr val="EEF3F8"/>
          </a:solidFill>
          <a:ln w="12700">
            <a:solidFill>
              <a:srgbClr val="EEF3F8"/>
            </a:solidFill>
            <a:prstDash val="solid"/>
          </a:ln>
        </p:spPr>
      </p:sp>
      <p:sp>
        <p:nvSpPr>
          <p:cNvPr id="14" name="Text 12"/>
          <p:cNvSpPr txBox="1"/>
          <p:nvPr/>
        </p:nvSpPr>
        <p:spPr>
          <a:xfrm>
            <a:off x="7269480" y="1691640"/>
            <a:ext cx="1920240" cy="868680"/>
          </a:xfrm>
          <a:prstGeom prst="rect">
            <a:avLst/>
          </a:prstGeom>
          <a:noFill/>
          <a:ln/>
        </p:spPr>
        <p:txBody>
          <a:bodyPr wrap="square" lIns="0" tIns="0" rIns="0" bIns="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Validate</a:t>
            </a:r>
            <a:endParaRPr lang="en-US" sz="1500" dirty="0"/>
          </a:p>
        </p:txBody>
      </p:sp>
      <p:sp>
        <p:nvSpPr>
          <p:cNvPr id="15" name="Shape 13"/>
          <p:cNvSpPr/>
          <p:nvPr/>
        </p:nvSpPr>
        <p:spPr>
          <a:xfrm>
            <a:off x="9189720" y="2121408"/>
            <a:ext cx="320040" cy="0"/>
          </a:xfrm>
          <a:prstGeom prst="line">
            <a:avLst/>
          </a:prstGeom>
          <a:noFill/>
          <a:ln w="25400">
            <a:solidFill>
              <a:srgbClr val="5B6B7A"/>
            </a:solidFill>
            <a:prstDash val="solid"/>
            <a:tailEnd type="triangle"/>
          </a:ln>
        </p:spPr>
      </p:sp>
      <p:sp>
        <p:nvSpPr>
          <p:cNvPr id="16" name="Shape 14"/>
          <p:cNvSpPr/>
          <p:nvPr/>
        </p:nvSpPr>
        <p:spPr>
          <a:xfrm>
            <a:off x="9509760" y="1691640"/>
            <a:ext cx="1920240" cy="868680"/>
          </a:xfrm>
          <a:prstGeom prst="roundRect">
            <a:avLst>
              <a:gd name="adj" fmla="val 8421"/>
            </a:avLst>
          </a:prstGeom>
          <a:solidFill>
            <a:srgbClr val="EEF3F8"/>
          </a:solidFill>
          <a:ln w="12700">
            <a:solidFill>
              <a:srgbClr val="EEF3F8"/>
            </a:solidFill>
            <a:prstDash val="solid"/>
          </a:ln>
        </p:spPr>
      </p:sp>
      <p:sp>
        <p:nvSpPr>
          <p:cNvPr id="17" name="Text 15"/>
          <p:cNvSpPr txBox="1"/>
          <p:nvPr/>
        </p:nvSpPr>
        <p:spPr>
          <a:xfrm>
            <a:off x="9509760" y="1691640"/>
            <a:ext cx="1920240" cy="868680"/>
          </a:xfrm>
          <a:prstGeom prst="rect">
            <a:avLst/>
          </a:prstGeom>
          <a:noFill/>
          <a:ln/>
        </p:spPr>
        <p:txBody>
          <a:bodyPr wrap="square" lIns="0" tIns="0" rIns="0" bIns="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Deploy</a:t>
            </a:r>
            <a:endParaRPr lang="en-US" sz="1500" dirty="0"/>
          </a:p>
        </p:txBody>
      </p:sp>
      <p:sp>
        <p:nvSpPr>
          <p:cNvPr id="18" name="Shape 16"/>
          <p:cNvSpPr/>
          <p:nvPr/>
        </p:nvSpPr>
        <p:spPr>
          <a:xfrm>
            <a:off x="548640" y="2743200"/>
            <a:ext cx="502920" cy="502920"/>
          </a:xfrm>
          <a:prstGeom prst="ellipse">
            <a:avLst/>
          </a:prstGeom>
          <a:solidFill>
            <a:srgbClr val="D9822B"/>
          </a:solidFill>
          <a:ln w="12700">
            <a:solidFill>
              <a:srgbClr val="D9822B"/>
            </a:solidFill>
            <a:prstDash val="solid"/>
          </a:ln>
        </p:spPr>
      </p:sp>
      <p:pic>
        <p:nvPicPr>
          <p:cNvPr id="19" name="Image 0" descr="preencoded.png">    </p:cNvPr>
          <p:cNvPicPr>
            <a:picLocks noChangeAspect="1"/>
          </p:cNvPicPr>
          <p:nvPr/>
        </p:nvPicPr>
        <p:blipFill>
          <a:blip r:embed="rId1"/>
          <a:stretch>
            <a:fillRect/>
          </a:stretch>
        </p:blipFill>
        <p:spPr>
          <a:xfrm>
            <a:off x="669341" y="2863901"/>
            <a:ext cx="261518" cy="261518"/>
          </a:xfrm>
          <a:prstGeom prst="rect">
            <a:avLst/>
          </a:prstGeom>
        </p:spPr>
      </p:pic>
      <p:sp>
        <p:nvSpPr>
          <p:cNvPr id="20" name="Text 17"/>
          <p:cNvSpPr txBox="1"/>
          <p:nvPr/>
        </p:nvSpPr>
        <p:spPr>
          <a:xfrm>
            <a:off x="1234440" y="2743200"/>
            <a:ext cx="10058400" cy="50292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Today a person does every step, for every new attack — hours to days of scarce expertise (Scarfone &amp; Mell 2007)</a:t>
            </a:r>
            <a:endParaRPr lang="en-US" sz="1500" dirty="0"/>
          </a:p>
        </p:txBody>
      </p:sp>
      <p:sp>
        <p:nvSpPr>
          <p:cNvPr id="21" name="Shape 18"/>
          <p:cNvSpPr/>
          <p:nvPr/>
        </p:nvSpPr>
        <p:spPr>
          <a:xfrm>
            <a:off x="548640" y="3566160"/>
            <a:ext cx="11094415" cy="1234440"/>
          </a:xfrm>
          <a:prstGeom prst="roundRect">
            <a:avLst>
              <a:gd name="adj" fmla="val 5926"/>
            </a:avLst>
          </a:prstGeom>
          <a:solidFill>
            <a:srgbClr val="0F2533"/>
          </a:solidFill>
          <a:ln w="12700">
            <a:solidFill>
              <a:srgbClr val="0F2533"/>
            </a:solidFill>
            <a:prstDash val="solid"/>
          </a:ln>
        </p:spPr>
      </p:sp>
      <p:sp>
        <p:nvSpPr>
          <p:cNvPr id="22" name="Text 19"/>
          <p:cNvSpPr txBox="1"/>
          <p:nvPr/>
        </p:nvSpPr>
        <p:spPr>
          <a:xfrm>
            <a:off x="914400" y="3566160"/>
            <a:ext cx="10362895" cy="1234440"/>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Can a large language model take over the analyst’s role — and what context does it need to do that job well?</a:t>
            </a:r>
            <a:endParaRPr lang="en-US" sz="2200" dirty="0"/>
          </a:p>
        </p:txBody>
      </p:sp>
      <p:sp>
        <p:nvSpPr>
          <p:cNvPr id="23" name="Shape 20"/>
          <p:cNvSpPr/>
          <p:nvPr/>
        </p:nvSpPr>
        <p:spPr>
          <a:xfrm>
            <a:off x="548640" y="5120640"/>
            <a:ext cx="502920" cy="502920"/>
          </a:xfrm>
          <a:prstGeom prst="ellipse">
            <a:avLst/>
          </a:prstGeom>
          <a:solidFill>
            <a:srgbClr val="1F4E79"/>
          </a:solidFill>
          <a:ln w="12700">
            <a:solidFill>
              <a:srgbClr val="1F4E79"/>
            </a:solidFill>
            <a:prstDash val="solid"/>
          </a:ln>
        </p:spPr>
      </p:sp>
      <p:pic>
        <p:nvPicPr>
          <p:cNvPr id="24" name="Image 1" descr="preencoded.png">    </p:cNvPr>
          <p:cNvPicPr>
            <a:picLocks noChangeAspect="1"/>
          </p:cNvPicPr>
          <p:nvPr/>
        </p:nvPicPr>
        <p:blipFill>
          <a:blip r:embed="rId2"/>
          <a:stretch>
            <a:fillRect/>
          </a:stretch>
        </p:blipFill>
        <p:spPr>
          <a:xfrm>
            <a:off x="669341" y="5241341"/>
            <a:ext cx="261518" cy="261518"/>
          </a:xfrm>
          <a:prstGeom prst="rect">
            <a:avLst/>
          </a:prstGeom>
        </p:spPr>
      </p:pic>
      <p:sp>
        <p:nvSpPr>
          <p:cNvPr id="25" name="Text 21"/>
          <p:cNvSpPr txBox="1"/>
          <p:nvPr/>
        </p:nvSpPr>
        <p:spPr>
          <a:xfrm>
            <a:off x="1188720" y="5120640"/>
            <a:ext cx="2103120" cy="502920"/>
          </a:xfrm>
          <a:prstGeom prst="rect">
            <a:avLst/>
          </a:prstGeom>
          <a:noFill/>
          <a:ln/>
        </p:spPr>
        <p:txBody>
          <a:bodyPr wrap="square" lIns="0" tIns="0" rIns="0" bIns="0" rtlCol="0" anchor="ctr"/>
          <a:lstStyle/>
          <a:p>
            <a:pPr indent="0" marL="0">
              <a:buNone/>
            </a:pPr>
            <a:r>
              <a:rPr lang="en-US" sz="1350" dirty="0">
                <a:solidFill>
                  <a:srgbClr val="0F2533"/>
                </a:solidFill>
                <a:latin typeface="Calibri" pitchFamily="34" charset="0"/>
                <a:ea typeface="Calibri" pitchFamily="34" charset="-122"/>
                <a:cs typeface="Calibri" pitchFamily="34" charset="-120"/>
              </a:rPr>
              <a:t>Open-source only</a:t>
            </a:r>
            <a:endParaRPr lang="en-US" sz="1350" dirty="0"/>
          </a:p>
        </p:txBody>
      </p:sp>
      <p:sp>
        <p:nvSpPr>
          <p:cNvPr id="26" name="Shape 22"/>
          <p:cNvSpPr/>
          <p:nvPr/>
        </p:nvSpPr>
        <p:spPr>
          <a:xfrm>
            <a:off x="3355848" y="5120640"/>
            <a:ext cx="502920" cy="502920"/>
          </a:xfrm>
          <a:prstGeom prst="ellipse">
            <a:avLst/>
          </a:prstGeom>
          <a:solidFill>
            <a:srgbClr val="1F4E79"/>
          </a:solidFill>
          <a:ln w="12700">
            <a:solidFill>
              <a:srgbClr val="1F4E79"/>
            </a:solidFill>
            <a:prstDash val="solid"/>
          </a:ln>
        </p:spPr>
      </p:sp>
      <p:pic>
        <p:nvPicPr>
          <p:cNvPr id="27" name="Image 2" descr="preencoded.png">    </p:cNvPr>
          <p:cNvPicPr>
            <a:picLocks noChangeAspect="1"/>
          </p:cNvPicPr>
          <p:nvPr/>
        </p:nvPicPr>
        <p:blipFill>
          <a:blip r:embed="rId3"/>
          <a:stretch>
            <a:fillRect/>
          </a:stretch>
        </p:blipFill>
        <p:spPr>
          <a:xfrm>
            <a:off x="3476549" y="5241341"/>
            <a:ext cx="261518" cy="261518"/>
          </a:xfrm>
          <a:prstGeom prst="rect">
            <a:avLst/>
          </a:prstGeom>
        </p:spPr>
      </p:pic>
      <p:sp>
        <p:nvSpPr>
          <p:cNvPr id="28" name="Text 23"/>
          <p:cNvSpPr txBox="1"/>
          <p:nvPr/>
        </p:nvSpPr>
        <p:spPr>
          <a:xfrm>
            <a:off x="3995928" y="5120640"/>
            <a:ext cx="2103120" cy="502920"/>
          </a:xfrm>
          <a:prstGeom prst="rect">
            <a:avLst/>
          </a:prstGeom>
          <a:noFill/>
          <a:ln/>
        </p:spPr>
        <p:txBody>
          <a:bodyPr wrap="square" lIns="0" tIns="0" rIns="0" bIns="0" rtlCol="0" anchor="ctr"/>
          <a:lstStyle/>
          <a:p>
            <a:pPr indent="0" marL="0">
              <a:buNone/>
            </a:pPr>
            <a:r>
              <a:rPr lang="en-US" sz="1350" dirty="0">
                <a:solidFill>
                  <a:srgbClr val="0F2533"/>
                </a:solidFill>
                <a:latin typeface="Calibri" pitchFamily="34" charset="0"/>
                <a:ea typeface="Calibri" pitchFamily="34" charset="-122"/>
                <a:cs typeface="Calibri" pitchFamily="34" charset="-120"/>
              </a:rPr>
              <a:t>Rule-based detection, no ML</a:t>
            </a:r>
            <a:endParaRPr lang="en-US" sz="1350" dirty="0"/>
          </a:p>
        </p:txBody>
      </p:sp>
      <p:sp>
        <p:nvSpPr>
          <p:cNvPr id="29" name="Shape 24"/>
          <p:cNvSpPr/>
          <p:nvPr/>
        </p:nvSpPr>
        <p:spPr>
          <a:xfrm>
            <a:off x="6163056" y="5120640"/>
            <a:ext cx="502920" cy="502920"/>
          </a:xfrm>
          <a:prstGeom prst="ellipse">
            <a:avLst/>
          </a:prstGeom>
          <a:solidFill>
            <a:srgbClr val="1F4E79"/>
          </a:solidFill>
          <a:ln w="12700">
            <a:solidFill>
              <a:srgbClr val="1F4E79"/>
            </a:solidFill>
            <a:prstDash val="solid"/>
          </a:ln>
        </p:spPr>
      </p:sp>
      <p:pic>
        <p:nvPicPr>
          <p:cNvPr id="30" name="Image 3" descr="preencoded.png">    </p:cNvPr>
          <p:cNvPicPr>
            <a:picLocks noChangeAspect="1"/>
          </p:cNvPicPr>
          <p:nvPr/>
        </p:nvPicPr>
        <p:blipFill>
          <a:blip r:embed="rId4"/>
          <a:stretch>
            <a:fillRect/>
          </a:stretch>
        </p:blipFill>
        <p:spPr>
          <a:xfrm>
            <a:off x="6283757" y="5241341"/>
            <a:ext cx="261518" cy="261518"/>
          </a:xfrm>
          <a:prstGeom prst="rect">
            <a:avLst/>
          </a:prstGeom>
        </p:spPr>
      </p:pic>
      <p:sp>
        <p:nvSpPr>
          <p:cNvPr id="31" name="Text 25"/>
          <p:cNvSpPr txBox="1"/>
          <p:nvPr/>
        </p:nvSpPr>
        <p:spPr>
          <a:xfrm>
            <a:off x="6803136" y="5120640"/>
            <a:ext cx="2103120" cy="502920"/>
          </a:xfrm>
          <a:prstGeom prst="rect">
            <a:avLst/>
          </a:prstGeom>
          <a:noFill/>
          <a:ln/>
        </p:spPr>
        <p:txBody>
          <a:bodyPr wrap="square" lIns="0" tIns="0" rIns="0" bIns="0" rtlCol="0" anchor="ctr"/>
          <a:lstStyle/>
          <a:p>
            <a:pPr indent="0" marL="0">
              <a:buNone/>
            </a:pPr>
            <a:r>
              <a:rPr lang="en-US" sz="1350" dirty="0">
                <a:solidFill>
                  <a:srgbClr val="0F2533"/>
                </a:solidFill>
                <a:latin typeface="Calibri" pitchFamily="34" charset="0"/>
                <a:ea typeface="Calibri" pitchFamily="34" charset="-122"/>
                <a:cs typeface="Calibri" pitchFamily="34" charset="-120"/>
              </a:rPr>
              <a:t>AI writes rules, never classifies traffic</a:t>
            </a:r>
            <a:endParaRPr lang="en-US" sz="1350" dirty="0"/>
          </a:p>
        </p:txBody>
      </p:sp>
      <p:sp>
        <p:nvSpPr>
          <p:cNvPr id="32" name="Shape 26"/>
          <p:cNvSpPr/>
          <p:nvPr/>
        </p:nvSpPr>
        <p:spPr>
          <a:xfrm>
            <a:off x="8970264" y="5120640"/>
            <a:ext cx="502920" cy="502920"/>
          </a:xfrm>
          <a:prstGeom prst="ellipse">
            <a:avLst/>
          </a:prstGeom>
          <a:solidFill>
            <a:srgbClr val="1F4E79"/>
          </a:solidFill>
          <a:ln w="12700">
            <a:solidFill>
              <a:srgbClr val="1F4E79"/>
            </a:solidFill>
            <a:prstDash val="solid"/>
          </a:ln>
        </p:spPr>
      </p:sp>
      <p:pic>
        <p:nvPicPr>
          <p:cNvPr id="33" name="Image 4" descr="preencoded.png">    </p:cNvPr>
          <p:cNvPicPr>
            <a:picLocks noChangeAspect="1"/>
          </p:cNvPicPr>
          <p:nvPr/>
        </p:nvPicPr>
        <p:blipFill>
          <a:blip r:embed="rId5"/>
          <a:stretch>
            <a:fillRect/>
          </a:stretch>
        </p:blipFill>
        <p:spPr>
          <a:xfrm>
            <a:off x="9090965" y="5241341"/>
            <a:ext cx="261518" cy="261518"/>
          </a:xfrm>
          <a:prstGeom prst="rect">
            <a:avLst/>
          </a:prstGeom>
        </p:spPr>
      </p:pic>
      <p:sp>
        <p:nvSpPr>
          <p:cNvPr id="34" name="Text 27"/>
          <p:cNvSpPr txBox="1"/>
          <p:nvPr/>
        </p:nvSpPr>
        <p:spPr>
          <a:xfrm>
            <a:off x="9610344" y="5120640"/>
            <a:ext cx="2103120" cy="502920"/>
          </a:xfrm>
          <a:prstGeom prst="rect">
            <a:avLst/>
          </a:prstGeom>
          <a:noFill/>
          <a:ln/>
        </p:spPr>
        <p:txBody>
          <a:bodyPr wrap="square" lIns="0" tIns="0" rIns="0" bIns="0" rtlCol="0" anchor="ctr"/>
          <a:lstStyle/>
          <a:p>
            <a:pPr indent="0" marL="0">
              <a:buNone/>
            </a:pPr>
            <a:r>
              <a:rPr lang="en-US" sz="1350" dirty="0">
                <a:solidFill>
                  <a:srgbClr val="0F2533"/>
                </a:solidFill>
                <a:latin typeface="Calibri" pitchFamily="34" charset="0"/>
                <a:ea typeface="Calibri" pitchFamily="34" charset="-122"/>
                <a:cs typeface="Calibri" pitchFamily="34" charset="-120"/>
              </a:rPr>
              <a:t>Network IDS, offline pcap replay</a:t>
            </a:r>
            <a:endParaRPr lang="en-US" sz="1350" dirty="0"/>
          </a:p>
        </p:txBody>
      </p:sp>
      <p:sp>
        <p:nvSpPr>
          <p:cNvPr id="35" name="Text 28"/>
          <p:cNvSpPr txBox="1"/>
          <p:nvPr/>
        </p:nvSpPr>
        <p:spPr>
          <a:xfrm>
            <a:off x="548640" y="4846320"/>
            <a:ext cx="1828800" cy="274320"/>
          </a:xfrm>
          <a:prstGeom prst="rect">
            <a:avLst/>
          </a:prstGeom>
          <a:noFill/>
          <a:ln/>
        </p:spPr>
        <p:txBody>
          <a:bodyPr wrap="square" lIns="0" tIns="0" rIns="0" bIns="0" rtlCol="0" anchor="t"/>
          <a:lstStyle/>
          <a:p>
            <a:pPr indent="0" marL="0">
              <a:buNone/>
            </a:pPr>
            <a:r>
              <a:rPr lang="en-US" sz="1100" b="1" dirty="0">
                <a:solidFill>
                  <a:srgbClr val="9AA3AD"/>
                </a:solidFill>
                <a:latin typeface="Calibri" pitchFamily="34" charset="0"/>
                <a:ea typeface="Calibri" pitchFamily="34" charset="-122"/>
                <a:cs typeface="Calibri" pitchFamily="34" charset="-120"/>
              </a:rPr>
              <a:t>Scope</a:t>
            </a:r>
            <a:endParaRPr lang="en-US" sz="1100" dirty="0"/>
          </a:p>
        </p:txBody>
      </p:sp>
      <p:sp>
        <p:nvSpPr>
          <p:cNvPr id="36" name="Text 29"/>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Bigyan  ·  aim &amp; scope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What research and industry practice told us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38 sources across three themes — each one shaped a design decision</a:t>
            </a:r>
            <a:endParaRPr lang="en-US" sz="1600" dirty="0"/>
          </a:p>
        </p:txBody>
      </p:sp>
      <p:sp>
        <p:nvSpPr>
          <p:cNvPr id="4" name="Shape 2"/>
          <p:cNvSpPr/>
          <p:nvPr/>
        </p:nvSpPr>
        <p:spPr>
          <a:xfrm>
            <a:off x="548640" y="1691640"/>
            <a:ext cx="3520440" cy="4343400"/>
          </a:xfrm>
          <a:prstGeom prst="roundRect">
            <a:avLst>
              <a:gd name="adj" fmla="val 2078"/>
            </a:avLst>
          </a:prstGeom>
          <a:solidFill>
            <a:srgbClr val="EEF3F8"/>
          </a:solidFill>
          <a:ln w="12700">
            <a:solidFill>
              <a:srgbClr val="EEF3F8"/>
            </a:solidFill>
            <a:prstDash val="solid"/>
          </a:ln>
        </p:spPr>
      </p:sp>
      <p:sp>
        <p:nvSpPr>
          <p:cNvPr id="5" name="Shape 3"/>
          <p:cNvSpPr/>
          <p:nvPr/>
        </p:nvSpPr>
        <p:spPr>
          <a:xfrm>
            <a:off x="822960" y="1920240"/>
            <a:ext cx="640080" cy="640080"/>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976579" y="2073859"/>
            <a:ext cx="332842" cy="332842"/>
          </a:xfrm>
          <a:prstGeom prst="rect">
            <a:avLst/>
          </a:prstGeom>
        </p:spPr>
      </p:pic>
      <p:sp>
        <p:nvSpPr>
          <p:cNvPr id="7" name="Text 4"/>
          <p:cNvSpPr txBox="1"/>
          <p:nvPr/>
        </p:nvSpPr>
        <p:spPr>
          <a:xfrm>
            <a:off x="1600200" y="1938528"/>
            <a:ext cx="2377440" cy="59436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Rule-based IDS</a:t>
            </a:r>
            <a:endParaRPr lang="en-US" sz="2000" dirty="0"/>
          </a:p>
        </p:txBody>
      </p:sp>
      <p:sp>
        <p:nvSpPr>
          <p:cNvPr id="8" name="Text 5"/>
          <p:cNvSpPr txBox="1"/>
          <p:nvPr/>
        </p:nvSpPr>
        <p:spPr>
          <a:xfrm>
            <a:off x="822960" y="2788920"/>
            <a:ext cx="2971800" cy="1005840"/>
          </a:xfrm>
          <a:prstGeom prst="rect">
            <a:avLst/>
          </a:prstGeom>
          <a:noFill/>
          <a:ln/>
        </p:spPr>
        <p:txBody>
          <a:bodyPr wrap="square" lIns="0" tIns="0" rIns="0" bIns="0" rtlCol="0" anchor="t"/>
          <a:lstStyle/>
          <a:p>
            <a:pPr indent="0" marL="0">
              <a:buNone/>
            </a:pPr>
            <a:r>
              <a:rPr lang="en-US" sz="1250" i="1" dirty="0">
                <a:solidFill>
                  <a:srgbClr val="5B6B7A"/>
                </a:solidFill>
                <a:latin typeface="Calibri" pitchFamily="34" charset="0"/>
                <a:ea typeface="Calibri" pitchFamily="34" charset="-122"/>
                <a:cs typeface="Calibri" pitchFamily="34" charset="-120"/>
              </a:rPr>
              <a:t>Denning 1987 · Roesch 1999 · Scarfone &amp; Mell 2007 · Sommer &amp; Paxson 2010</a:t>
            </a:r>
            <a:endParaRPr lang="en-US" sz="1250" dirty="0"/>
          </a:p>
        </p:txBody>
      </p:sp>
      <p:sp>
        <p:nvSpPr>
          <p:cNvPr id="9" name="Shape 6"/>
          <p:cNvSpPr/>
          <p:nvPr/>
        </p:nvSpPr>
        <p:spPr>
          <a:xfrm>
            <a:off x="822960" y="3886200"/>
            <a:ext cx="2971800" cy="0"/>
          </a:xfrm>
          <a:prstGeom prst="line">
            <a:avLst/>
          </a:prstGeom>
          <a:noFill/>
          <a:ln w="9525">
            <a:solidFill>
              <a:srgbClr val="9AA3AD"/>
            </a:solidFill>
            <a:prstDash val="solid"/>
          </a:ln>
        </p:spPr>
      </p:sp>
      <p:sp>
        <p:nvSpPr>
          <p:cNvPr id="10" name="Text 7"/>
          <p:cNvSpPr txBox="1"/>
          <p:nvPr/>
        </p:nvSpPr>
        <p:spPr>
          <a:xfrm>
            <a:off x="822960" y="4023360"/>
            <a:ext cx="2971800" cy="1828800"/>
          </a:xfrm>
          <a:prstGeom prst="rect">
            <a:avLst/>
          </a:prstGeom>
          <a:noFill/>
          <a:ln/>
        </p:spPr>
        <p:txBody>
          <a:bodyPr wrap="square" lIns="0" tIns="0" rIns="0" bIns="0" rtlCol="0" anchor="t"/>
          <a:lstStyle/>
          <a:p>
            <a:pPr indent="0" marL="0">
              <a:buNone/>
            </a:pPr>
            <a:r>
              <a:rPr lang="en-US" sz="1500" dirty="0">
                <a:solidFill>
                  <a:srgbClr val="0F2533"/>
                </a:solidFill>
                <a:latin typeface="Calibri" pitchFamily="34" charset="0"/>
                <a:ea typeface="Calibri" pitchFamily="34" charset="-122"/>
                <a:cs typeface="Calibri" pitchFamily="34" charset="-120"/>
              </a:rPr>
              <a:t>Signatures are precise and inspectable; authoring them is the bottleneck. ML detectors are hard to trust in operation.</a:t>
            </a:r>
            <a:endParaRPr lang="en-US" sz="1500" dirty="0"/>
          </a:p>
        </p:txBody>
      </p:sp>
      <p:sp>
        <p:nvSpPr>
          <p:cNvPr id="11" name="Shape 8"/>
          <p:cNvSpPr/>
          <p:nvPr/>
        </p:nvSpPr>
        <p:spPr>
          <a:xfrm>
            <a:off x="4297680" y="1691640"/>
            <a:ext cx="3520440" cy="4343400"/>
          </a:xfrm>
          <a:prstGeom prst="roundRect">
            <a:avLst>
              <a:gd name="adj" fmla="val 2078"/>
            </a:avLst>
          </a:prstGeom>
          <a:solidFill>
            <a:srgbClr val="EEF3F8"/>
          </a:solidFill>
          <a:ln w="12700">
            <a:solidFill>
              <a:srgbClr val="EEF3F8"/>
            </a:solidFill>
            <a:prstDash val="solid"/>
          </a:ln>
        </p:spPr>
      </p:sp>
      <p:sp>
        <p:nvSpPr>
          <p:cNvPr id="12" name="Shape 9"/>
          <p:cNvSpPr/>
          <p:nvPr/>
        </p:nvSpPr>
        <p:spPr>
          <a:xfrm>
            <a:off x="4572000" y="1920240"/>
            <a:ext cx="640080" cy="640080"/>
          </a:xfrm>
          <a:prstGeom prst="ellipse">
            <a:avLst/>
          </a:prstGeom>
          <a:solidFill>
            <a:srgbClr val="1F4E79"/>
          </a:solidFill>
          <a:ln w="12700">
            <a:solidFill>
              <a:srgbClr val="1F4E79"/>
            </a:solidFill>
            <a:prstDash val="solid"/>
          </a:ln>
        </p:spPr>
      </p:sp>
      <p:pic>
        <p:nvPicPr>
          <p:cNvPr id="13" name="Image 1" descr="preencoded.png">    </p:cNvPr>
          <p:cNvPicPr>
            <a:picLocks noChangeAspect="1"/>
          </p:cNvPicPr>
          <p:nvPr/>
        </p:nvPicPr>
        <p:blipFill>
          <a:blip r:embed="rId2"/>
          <a:stretch>
            <a:fillRect/>
          </a:stretch>
        </p:blipFill>
        <p:spPr>
          <a:xfrm>
            <a:off x="4725619" y="2073859"/>
            <a:ext cx="332842" cy="332842"/>
          </a:xfrm>
          <a:prstGeom prst="rect">
            <a:avLst/>
          </a:prstGeom>
        </p:spPr>
      </p:pic>
      <p:sp>
        <p:nvSpPr>
          <p:cNvPr id="14" name="Text 10"/>
          <p:cNvSpPr txBox="1"/>
          <p:nvPr/>
        </p:nvSpPr>
        <p:spPr>
          <a:xfrm>
            <a:off x="5349240" y="1938528"/>
            <a:ext cx="2377440" cy="59436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LLMs that write rules</a:t>
            </a:r>
            <a:endParaRPr lang="en-US" sz="2000" dirty="0"/>
          </a:p>
        </p:txBody>
      </p:sp>
      <p:sp>
        <p:nvSpPr>
          <p:cNvPr id="15" name="Text 11"/>
          <p:cNvSpPr txBox="1"/>
          <p:nvPr/>
        </p:nvSpPr>
        <p:spPr>
          <a:xfrm>
            <a:off x="4572000" y="2788920"/>
            <a:ext cx="2971800" cy="1005840"/>
          </a:xfrm>
          <a:prstGeom prst="rect">
            <a:avLst/>
          </a:prstGeom>
          <a:noFill/>
          <a:ln/>
        </p:spPr>
        <p:txBody>
          <a:bodyPr wrap="square" lIns="0" tIns="0" rIns="0" bIns="0" rtlCol="0" anchor="t"/>
          <a:lstStyle/>
          <a:p>
            <a:pPr indent="0" marL="0">
              <a:buNone/>
            </a:pPr>
            <a:r>
              <a:rPr lang="en-US" sz="1250" i="1" dirty="0">
                <a:solidFill>
                  <a:srgbClr val="5B6B7A"/>
                </a:solidFill>
                <a:latin typeface="Calibri" pitchFamily="34" charset="0"/>
                <a:ea typeface="Calibri" pitchFamily="34" charset="-122"/>
                <a:cs typeface="Calibri" pitchFamily="34" charset="-120"/>
              </a:rPr>
              <a:t>GRIDAI (Li et al. 2025) · GenTI (Hadi et al. 2026) · RuleAutoPilot (Rehman et al. 2026)</a:t>
            </a:r>
            <a:endParaRPr lang="en-US" sz="1250" dirty="0"/>
          </a:p>
        </p:txBody>
      </p:sp>
      <p:sp>
        <p:nvSpPr>
          <p:cNvPr id="16" name="Shape 12"/>
          <p:cNvSpPr/>
          <p:nvPr/>
        </p:nvSpPr>
        <p:spPr>
          <a:xfrm>
            <a:off x="4572000" y="3886200"/>
            <a:ext cx="2971800" cy="0"/>
          </a:xfrm>
          <a:prstGeom prst="line">
            <a:avLst/>
          </a:prstGeom>
          <a:noFill/>
          <a:ln w="9525">
            <a:solidFill>
              <a:srgbClr val="9AA3AD"/>
            </a:solidFill>
            <a:prstDash val="solid"/>
          </a:ln>
        </p:spPr>
      </p:sp>
      <p:sp>
        <p:nvSpPr>
          <p:cNvPr id="17" name="Text 13"/>
          <p:cNvSpPr txBox="1"/>
          <p:nvPr/>
        </p:nvSpPr>
        <p:spPr>
          <a:xfrm>
            <a:off x="4572000" y="4023360"/>
            <a:ext cx="2971800" cy="1828800"/>
          </a:xfrm>
          <a:prstGeom prst="rect">
            <a:avLst/>
          </a:prstGeom>
          <a:noFill/>
          <a:ln/>
        </p:spPr>
        <p:txBody>
          <a:bodyPr wrap="square" lIns="0" tIns="0" rIns="0" bIns="0" rtlCol="0" anchor="t"/>
          <a:lstStyle/>
          <a:p>
            <a:pPr indent="0" marL="0">
              <a:buNone/>
            </a:pPr>
            <a:r>
              <a:rPr lang="en-US" sz="1500" dirty="0">
                <a:solidFill>
                  <a:srgbClr val="0F2533"/>
                </a:solidFill>
                <a:latin typeface="Calibri" pitchFamily="34" charset="0"/>
                <a:ea typeface="Calibri" pitchFamily="34" charset="-122"/>
                <a:cs typeface="Calibri" pitchFamily="34" charset="-120"/>
              </a:rPr>
              <a:t>LLMs can draft Suricata rules — but only rules validated by actually running them can be trusted.</a:t>
            </a:r>
            <a:endParaRPr lang="en-US" sz="1500" dirty="0"/>
          </a:p>
        </p:txBody>
      </p:sp>
      <p:sp>
        <p:nvSpPr>
          <p:cNvPr id="18" name="Shape 14"/>
          <p:cNvSpPr/>
          <p:nvPr/>
        </p:nvSpPr>
        <p:spPr>
          <a:xfrm>
            <a:off x="8046720" y="1691640"/>
            <a:ext cx="3520440" cy="4343400"/>
          </a:xfrm>
          <a:prstGeom prst="roundRect">
            <a:avLst>
              <a:gd name="adj" fmla="val 2078"/>
            </a:avLst>
          </a:prstGeom>
          <a:solidFill>
            <a:srgbClr val="EEF3F8"/>
          </a:solidFill>
          <a:ln w="12700">
            <a:solidFill>
              <a:srgbClr val="EEF3F8"/>
            </a:solidFill>
            <a:prstDash val="solid"/>
          </a:ln>
        </p:spPr>
      </p:sp>
      <p:sp>
        <p:nvSpPr>
          <p:cNvPr id="19" name="Shape 15"/>
          <p:cNvSpPr/>
          <p:nvPr/>
        </p:nvSpPr>
        <p:spPr>
          <a:xfrm>
            <a:off x="8321040" y="1920240"/>
            <a:ext cx="640080" cy="640080"/>
          </a:xfrm>
          <a:prstGeom prst="ellipse">
            <a:avLst/>
          </a:prstGeom>
          <a:solidFill>
            <a:srgbClr val="D9822B"/>
          </a:solidFill>
          <a:ln w="12700">
            <a:solidFill>
              <a:srgbClr val="D9822B"/>
            </a:solidFill>
            <a:prstDash val="solid"/>
          </a:ln>
        </p:spPr>
      </p:sp>
      <p:pic>
        <p:nvPicPr>
          <p:cNvPr id="20" name="Image 2" descr="preencoded.png">    </p:cNvPr>
          <p:cNvPicPr>
            <a:picLocks noChangeAspect="1"/>
          </p:cNvPicPr>
          <p:nvPr/>
        </p:nvPicPr>
        <p:blipFill>
          <a:blip r:embed="rId3"/>
          <a:stretch>
            <a:fillRect/>
          </a:stretch>
        </p:blipFill>
        <p:spPr>
          <a:xfrm>
            <a:off x="8474659" y="2073859"/>
            <a:ext cx="332842" cy="332842"/>
          </a:xfrm>
          <a:prstGeom prst="rect">
            <a:avLst/>
          </a:prstGeom>
        </p:spPr>
      </p:pic>
      <p:sp>
        <p:nvSpPr>
          <p:cNvPr id="21" name="Text 16"/>
          <p:cNvSpPr txBox="1"/>
          <p:nvPr/>
        </p:nvSpPr>
        <p:spPr>
          <a:xfrm>
            <a:off x="9098280" y="1938528"/>
            <a:ext cx="2377440" cy="59436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Detection engineering</a:t>
            </a:r>
            <a:endParaRPr lang="en-US" sz="2000" dirty="0"/>
          </a:p>
        </p:txBody>
      </p:sp>
      <p:sp>
        <p:nvSpPr>
          <p:cNvPr id="22" name="Text 17"/>
          <p:cNvSpPr txBox="1"/>
          <p:nvPr/>
        </p:nvSpPr>
        <p:spPr>
          <a:xfrm>
            <a:off x="8321040" y="2788920"/>
            <a:ext cx="2971800" cy="1005840"/>
          </a:xfrm>
          <a:prstGeom prst="rect">
            <a:avLst/>
          </a:prstGeom>
          <a:noFill/>
          <a:ln/>
        </p:spPr>
        <p:txBody>
          <a:bodyPr wrap="square" lIns="0" tIns="0" rIns="0" bIns="0" rtlCol="0" anchor="t"/>
          <a:lstStyle/>
          <a:p>
            <a:pPr indent="0" marL="0">
              <a:buNone/>
            </a:pPr>
            <a:r>
              <a:rPr lang="en-US" sz="1250" i="1" dirty="0">
                <a:solidFill>
                  <a:srgbClr val="5B6B7A"/>
                </a:solidFill>
                <a:latin typeface="Calibri" pitchFamily="34" charset="0"/>
                <a:ea typeface="Calibri" pitchFamily="34" charset="-122"/>
                <a:cs typeface="Calibri" pitchFamily="34" charset="-120"/>
              </a:rPr>
              <a:t>Palantir ADS 2017 · SpecterOps (Atkinson 2020) · stack counting (Dragos 2023)</a:t>
            </a:r>
            <a:endParaRPr lang="en-US" sz="1250" dirty="0"/>
          </a:p>
        </p:txBody>
      </p:sp>
      <p:sp>
        <p:nvSpPr>
          <p:cNvPr id="23" name="Shape 18"/>
          <p:cNvSpPr/>
          <p:nvPr/>
        </p:nvSpPr>
        <p:spPr>
          <a:xfrm>
            <a:off x="8321040" y="3886200"/>
            <a:ext cx="2971800" cy="0"/>
          </a:xfrm>
          <a:prstGeom prst="line">
            <a:avLst/>
          </a:prstGeom>
          <a:noFill/>
          <a:ln w="9525">
            <a:solidFill>
              <a:srgbClr val="9AA3AD"/>
            </a:solidFill>
            <a:prstDash val="solid"/>
          </a:ln>
        </p:spPr>
      </p:sp>
      <p:sp>
        <p:nvSpPr>
          <p:cNvPr id="24" name="Text 19"/>
          <p:cNvSpPr txBox="1"/>
          <p:nvPr/>
        </p:nvSpPr>
        <p:spPr>
          <a:xfrm>
            <a:off x="8321040" y="4023360"/>
            <a:ext cx="2971800" cy="1828800"/>
          </a:xfrm>
          <a:prstGeom prst="rect">
            <a:avLst/>
          </a:prstGeom>
          <a:noFill/>
          <a:ln/>
        </p:spPr>
        <p:txBody>
          <a:bodyPr wrap="square" lIns="0" tIns="0" rIns="0" bIns="0" rtlCol="0" anchor="t"/>
          <a:lstStyle/>
          <a:p>
            <a:pPr indent="0" marL="0">
              <a:buNone/>
            </a:pPr>
            <a:r>
              <a:rPr lang="en-US" sz="1500" dirty="0">
                <a:solidFill>
                  <a:srgbClr val="0F2533"/>
                </a:solidFill>
                <a:latin typeface="Calibri" pitchFamily="34" charset="0"/>
                <a:ea typeface="Calibri" pitchFamily="34" charset="-122"/>
                <a:cs typeface="Calibri" pitchFamily="34" charset="-120"/>
              </a:rPr>
              <a:t>Document every rule, detect the technique not the tool, look at the rarest values first.</a:t>
            </a:r>
            <a:endParaRPr lang="en-US" sz="1500" dirty="0"/>
          </a:p>
        </p:txBody>
      </p:sp>
      <p:sp>
        <p:nvSpPr>
          <p:cNvPr id="25" name="Text 20"/>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Irab  ·  literature review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Design: keep the engine, automate the analyst</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Detection stays deterministic; the model works around it through an agentic loop</a:t>
            </a:r>
            <a:endParaRPr lang="en-US" sz="1600" dirty="0"/>
          </a:p>
        </p:txBody>
      </p:sp>
      <p:sp>
        <p:nvSpPr>
          <p:cNvPr id="4" name="Shape 2"/>
          <p:cNvSpPr/>
          <p:nvPr/>
        </p:nvSpPr>
        <p:spPr>
          <a:xfrm>
            <a:off x="548640" y="1783080"/>
            <a:ext cx="2011680" cy="914400"/>
          </a:xfrm>
          <a:prstGeom prst="roundRect">
            <a:avLst>
              <a:gd name="adj" fmla="val 8000"/>
            </a:avLst>
          </a:prstGeom>
          <a:solidFill>
            <a:srgbClr val="EEF3F8"/>
          </a:solidFill>
          <a:ln w="12700">
            <a:solidFill>
              <a:srgbClr val="EEF3F8"/>
            </a:solidFill>
            <a:prstDash val="solid"/>
          </a:ln>
        </p:spPr>
      </p:sp>
      <p:sp>
        <p:nvSpPr>
          <p:cNvPr id="5" name="Text 3"/>
          <p:cNvSpPr txBox="1"/>
          <p:nvPr/>
        </p:nvSpPr>
        <p:spPr>
          <a:xfrm>
            <a:off x="548640" y="1783080"/>
            <a:ext cx="2011680" cy="914400"/>
          </a:xfrm>
          <a:prstGeom prst="rect">
            <a:avLst/>
          </a:prstGeom>
          <a:noFill/>
          <a:ln/>
        </p:spPr>
        <p:txBody>
          <a:bodyPr wrap="square" lIns="25400" tIns="25400" rIns="25400" bIns="2540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pcap captures</a:t>
            </a:r>
            <a:endParaRPr lang="en-US" sz="1500" dirty="0"/>
          </a:p>
          <a:p>
            <a:pPr algn="ctr" indent="0" marL="0">
              <a:buNone/>
            </a:pPr>
            <a:r>
              <a:rPr lang="en-US" sz="1150" dirty="0">
                <a:solidFill>
                  <a:srgbClr val="5B6B7A"/>
                </a:solidFill>
                <a:latin typeface="Calibri" pitchFamily="34" charset="0"/>
                <a:ea typeface="Calibri" pitchFamily="34" charset="-122"/>
                <a:cs typeface="Calibri" pitchFamily="34" charset="-120"/>
              </a:rPr>
              <a:t>CIC-IDS2017 · UNSW-NB15</a:t>
            </a:r>
            <a:endParaRPr lang="en-US" sz="1500" dirty="0"/>
          </a:p>
        </p:txBody>
      </p:sp>
      <p:sp>
        <p:nvSpPr>
          <p:cNvPr id="6" name="Shape 4"/>
          <p:cNvSpPr/>
          <p:nvPr/>
        </p:nvSpPr>
        <p:spPr>
          <a:xfrm>
            <a:off x="2926080" y="1783080"/>
            <a:ext cx="2011680" cy="914400"/>
          </a:xfrm>
          <a:prstGeom prst="roundRect">
            <a:avLst>
              <a:gd name="adj" fmla="val 8000"/>
            </a:avLst>
          </a:prstGeom>
          <a:solidFill>
            <a:srgbClr val="1F4E79"/>
          </a:solidFill>
          <a:ln w="12700">
            <a:solidFill>
              <a:srgbClr val="1F4E79"/>
            </a:solidFill>
            <a:prstDash val="solid"/>
          </a:ln>
        </p:spPr>
      </p:sp>
      <p:sp>
        <p:nvSpPr>
          <p:cNvPr id="7" name="Text 5"/>
          <p:cNvSpPr txBox="1"/>
          <p:nvPr/>
        </p:nvSpPr>
        <p:spPr>
          <a:xfrm>
            <a:off x="2926080" y="1783080"/>
            <a:ext cx="2011680" cy="914400"/>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Suricata 8.0.6</a:t>
            </a:r>
            <a:endParaRPr lang="en-US" sz="1500" dirty="0"/>
          </a:p>
          <a:p>
            <a:pPr algn="ctr" indent="0" marL="0">
              <a:buNone/>
            </a:pPr>
            <a:r>
              <a:rPr lang="en-US" sz="1150" dirty="0">
                <a:solidFill>
                  <a:srgbClr val="D6E2EE"/>
                </a:solidFill>
                <a:latin typeface="Calibri" pitchFamily="34" charset="0"/>
                <a:ea typeface="Calibri" pitchFamily="34" charset="-122"/>
                <a:cs typeface="Calibri" pitchFamily="34" charset="-120"/>
              </a:rPr>
              <a:t>ET Open + extra rulesets</a:t>
            </a:r>
            <a:endParaRPr lang="en-US" sz="1500" dirty="0"/>
          </a:p>
        </p:txBody>
      </p:sp>
      <p:sp>
        <p:nvSpPr>
          <p:cNvPr id="8" name="Shape 6"/>
          <p:cNvSpPr/>
          <p:nvPr/>
        </p:nvSpPr>
        <p:spPr>
          <a:xfrm>
            <a:off x="5303520" y="1783080"/>
            <a:ext cx="2011680" cy="914400"/>
          </a:xfrm>
          <a:prstGeom prst="roundRect">
            <a:avLst>
              <a:gd name="adj" fmla="val 8000"/>
            </a:avLst>
          </a:prstGeom>
          <a:solidFill>
            <a:srgbClr val="EEF3F8"/>
          </a:solidFill>
          <a:ln w="12700">
            <a:solidFill>
              <a:srgbClr val="EEF3F8"/>
            </a:solidFill>
            <a:prstDash val="solid"/>
          </a:ln>
        </p:spPr>
      </p:sp>
      <p:sp>
        <p:nvSpPr>
          <p:cNvPr id="9" name="Text 7"/>
          <p:cNvSpPr txBox="1"/>
          <p:nvPr/>
        </p:nvSpPr>
        <p:spPr>
          <a:xfrm>
            <a:off x="5303520" y="1783080"/>
            <a:ext cx="2011680" cy="914400"/>
          </a:xfrm>
          <a:prstGeom prst="rect">
            <a:avLst/>
          </a:prstGeom>
          <a:noFill/>
          <a:ln/>
        </p:spPr>
        <p:txBody>
          <a:bodyPr wrap="square" lIns="25400" tIns="25400" rIns="25400" bIns="2540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eve.json</a:t>
            </a:r>
            <a:endParaRPr lang="en-US" sz="1500" dirty="0"/>
          </a:p>
          <a:p>
            <a:pPr algn="ctr" indent="0" marL="0">
              <a:buNone/>
            </a:pPr>
            <a:r>
              <a:rPr lang="en-US" sz="1150" dirty="0">
                <a:solidFill>
                  <a:srgbClr val="5B6B7A"/>
                </a:solidFill>
                <a:latin typeface="Calibri" pitchFamily="34" charset="0"/>
                <a:ea typeface="Calibri" pitchFamily="34" charset="-122"/>
                <a:cs typeface="Calibri" pitchFamily="34" charset="-120"/>
              </a:rPr>
              <a:t>alerts · flows · app-layer</a:t>
            </a:r>
            <a:endParaRPr lang="en-US" sz="1500" dirty="0"/>
          </a:p>
        </p:txBody>
      </p:sp>
      <p:sp>
        <p:nvSpPr>
          <p:cNvPr id="10" name="Shape 8"/>
          <p:cNvSpPr/>
          <p:nvPr/>
        </p:nvSpPr>
        <p:spPr>
          <a:xfrm>
            <a:off x="7680960" y="1783080"/>
            <a:ext cx="2103120" cy="914400"/>
          </a:xfrm>
          <a:prstGeom prst="roundRect">
            <a:avLst>
              <a:gd name="adj" fmla="val 8000"/>
            </a:avLst>
          </a:prstGeom>
          <a:solidFill>
            <a:srgbClr val="D9822B"/>
          </a:solidFill>
          <a:ln w="12700">
            <a:solidFill>
              <a:srgbClr val="D9822B"/>
            </a:solidFill>
            <a:prstDash val="solid"/>
          </a:ln>
        </p:spPr>
      </p:sp>
      <p:sp>
        <p:nvSpPr>
          <p:cNvPr id="11" name="Text 9"/>
          <p:cNvSpPr txBox="1"/>
          <p:nvPr/>
        </p:nvSpPr>
        <p:spPr>
          <a:xfrm>
            <a:off x="7680960" y="1783080"/>
            <a:ext cx="2103120" cy="914400"/>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Triage engine</a:t>
            </a:r>
            <a:endParaRPr lang="en-US" sz="1500" dirty="0"/>
          </a:p>
          <a:p>
            <a:pPr algn="ctr" indent="0" marL="0">
              <a:buNone/>
            </a:pPr>
            <a:r>
              <a:rPr lang="en-US" sz="1150" dirty="0">
                <a:solidFill>
                  <a:srgbClr val="D6E2EE"/>
                </a:solidFill>
                <a:latin typeface="Calibri" pitchFamily="34" charset="0"/>
                <a:ea typeface="Calibri" pitchFamily="34" charset="-122"/>
                <a:cs typeface="Calibri" pitchFamily="34" charset="-120"/>
              </a:rPr>
              <a:t>Python agentic loop + tools</a:t>
            </a:r>
            <a:endParaRPr lang="en-US" sz="1500" dirty="0"/>
          </a:p>
        </p:txBody>
      </p:sp>
      <p:sp>
        <p:nvSpPr>
          <p:cNvPr id="12" name="Shape 10"/>
          <p:cNvSpPr/>
          <p:nvPr/>
        </p:nvSpPr>
        <p:spPr>
          <a:xfrm>
            <a:off x="10058400" y="1783080"/>
            <a:ext cx="1600200" cy="914400"/>
          </a:xfrm>
          <a:prstGeom prst="roundRect">
            <a:avLst>
              <a:gd name="adj" fmla="val 8000"/>
            </a:avLst>
          </a:prstGeom>
          <a:solidFill>
            <a:srgbClr val="0F2533"/>
          </a:solidFill>
          <a:ln w="12700">
            <a:solidFill>
              <a:srgbClr val="0F2533"/>
            </a:solidFill>
            <a:prstDash val="solid"/>
          </a:ln>
        </p:spPr>
      </p:sp>
      <p:sp>
        <p:nvSpPr>
          <p:cNvPr id="13" name="Text 11"/>
          <p:cNvSpPr txBox="1"/>
          <p:nvPr/>
        </p:nvSpPr>
        <p:spPr>
          <a:xfrm>
            <a:off x="10058400" y="1783080"/>
            <a:ext cx="1600200" cy="914400"/>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LLM via adapter</a:t>
            </a:r>
            <a:endParaRPr lang="en-US" sz="1500" dirty="0"/>
          </a:p>
          <a:p>
            <a:pPr algn="ctr" indent="0" marL="0">
              <a:buNone/>
            </a:pPr>
            <a:r>
              <a:rPr lang="en-US" sz="1150" dirty="0">
                <a:solidFill>
                  <a:srgbClr val="D6E2EE"/>
                </a:solidFill>
                <a:latin typeface="Calibri" pitchFamily="34" charset="0"/>
                <a:ea typeface="Calibri" pitchFamily="34" charset="-122"/>
                <a:cs typeface="Calibri" pitchFamily="34" charset="-120"/>
              </a:rPr>
              <a:t>DeepSeek V4 Pro · Claude</a:t>
            </a:r>
            <a:endParaRPr lang="en-US" sz="1500" dirty="0"/>
          </a:p>
        </p:txBody>
      </p:sp>
      <p:sp>
        <p:nvSpPr>
          <p:cNvPr id="14" name="Shape 12"/>
          <p:cNvSpPr/>
          <p:nvPr/>
        </p:nvSpPr>
        <p:spPr>
          <a:xfrm>
            <a:off x="2560320" y="2240280"/>
            <a:ext cx="365760" cy="0"/>
          </a:xfrm>
          <a:prstGeom prst="line">
            <a:avLst/>
          </a:prstGeom>
          <a:noFill/>
          <a:ln w="25400">
            <a:solidFill>
              <a:srgbClr val="5B6B7A"/>
            </a:solidFill>
            <a:prstDash val="solid"/>
            <a:tailEnd type="triangle"/>
          </a:ln>
        </p:spPr>
      </p:sp>
      <p:sp>
        <p:nvSpPr>
          <p:cNvPr id="15" name="Shape 13"/>
          <p:cNvSpPr/>
          <p:nvPr/>
        </p:nvSpPr>
        <p:spPr>
          <a:xfrm>
            <a:off x="4937760" y="2240280"/>
            <a:ext cx="365760" cy="0"/>
          </a:xfrm>
          <a:prstGeom prst="line">
            <a:avLst/>
          </a:prstGeom>
          <a:noFill/>
          <a:ln w="25400">
            <a:solidFill>
              <a:srgbClr val="5B6B7A"/>
            </a:solidFill>
            <a:prstDash val="solid"/>
            <a:tailEnd type="triangle"/>
          </a:ln>
        </p:spPr>
      </p:sp>
      <p:sp>
        <p:nvSpPr>
          <p:cNvPr id="16" name="Shape 14"/>
          <p:cNvSpPr/>
          <p:nvPr/>
        </p:nvSpPr>
        <p:spPr>
          <a:xfrm>
            <a:off x="7315200" y="2240280"/>
            <a:ext cx="365760" cy="0"/>
          </a:xfrm>
          <a:prstGeom prst="line">
            <a:avLst/>
          </a:prstGeom>
          <a:noFill/>
          <a:ln w="25400">
            <a:solidFill>
              <a:srgbClr val="5B6B7A"/>
            </a:solidFill>
            <a:prstDash val="solid"/>
            <a:tailEnd type="triangle"/>
          </a:ln>
        </p:spPr>
      </p:sp>
      <p:sp>
        <p:nvSpPr>
          <p:cNvPr id="17" name="Shape 15"/>
          <p:cNvSpPr/>
          <p:nvPr/>
        </p:nvSpPr>
        <p:spPr>
          <a:xfrm>
            <a:off x="9784080" y="2103120"/>
            <a:ext cx="274320" cy="0"/>
          </a:xfrm>
          <a:prstGeom prst="line">
            <a:avLst/>
          </a:prstGeom>
          <a:noFill/>
          <a:ln w="25400">
            <a:solidFill>
              <a:srgbClr val="5B6B7A"/>
            </a:solidFill>
            <a:prstDash val="solid"/>
            <a:tailEnd type="triangle"/>
          </a:ln>
        </p:spPr>
      </p:sp>
      <p:sp>
        <p:nvSpPr>
          <p:cNvPr id="18" name="Shape 16"/>
          <p:cNvSpPr/>
          <p:nvPr/>
        </p:nvSpPr>
        <p:spPr>
          <a:xfrm flipH="1">
            <a:off x="9784080" y="2377440"/>
            <a:ext cx="274320" cy="0"/>
          </a:xfrm>
          <a:prstGeom prst="line">
            <a:avLst/>
          </a:prstGeom>
          <a:noFill/>
          <a:ln w="25400">
            <a:solidFill>
              <a:srgbClr val="5B6B7A"/>
            </a:solidFill>
            <a:prstDash val="solid"/>
            <a:tailEnd type="triangle"/>
          </a:ln>
        </p:spPr>
      </p:sp>
      <p:sp>
        <p:nvSpPr>
          <p:cNvPr id="19" name="Shape 17"/>
          <p:cNvSpPr/>
          <p:nvPr/>
        </p:nvSpPr>
        <p:spPr>
          <a:xfrm>
            <a:off x="8732520" y="2697480"/>
            <a:ext cx="0" cy="457200"/>
          </a:xfrm>
          <a:prstGeom prst="line">
            <a:avLst/>
          </a:prstGeom>
          <a:noFill/>
          <a:ln w="25400">
            <a:solidFill>
              <a:srgbClr val="D9822B"/>
            </a:solidFill>
            <a:prstDash val="solid"/>
            <a:tailEnd type="triangle"/>
          </a:ln>
        </p:spPr>
      </p:sp>
      <p:sp>
        <p:nvSpPr>
          <p:cNvPr id="20" name="Shape 18"/>
          <p:cNvSpPr/>
          <p:nvPr/>
        </p:nvSpPr>
        <p:spPr>
          <a:xfrm>
            <a:off x="5669280" y="3200400"/>
            <a:ext cx="2926080" cy="914400"/>
          </a:xfrm>
          <a:prstGeom prst="roundRect">
            <a:avLst>
              <a:gd name="adj" fmla="val 8000"/>
            </a:avLst>
          </a:prstGeom>
          <a:solidFill>
            <a:srgbClr val="EEF3F8"/>
          </a:solidFill>
          <a:ln w="12700">
            <a:solidFill>
              <a:srgbClr val="EEF3F8"/>
            </a:solidFill>
            <a:prstDash val="solid"/>
          </a:ln>
        </p:spPr>
      </p:sp>
      <p:sp>
        <p:nvSpPr>
          <p:cNvPr id="21" name="Text 19"/>
          <p:cNvSpPr txBox="1"/>
          <p:nvPr/>
        </p:nvSpPr>
        <p:spPr>
          <a:xfrm>
            <a:off x="5669280" y="3200400"/>
            <a:ext cx="2926080" cy="914400"/>
          </a:xfrm>
          <a:prstGeom prst="rect">
            <a:avLst/>
          </a:prstGeom>
          <a:noFill/>
          <a:ln/>
        </p:spPr>
        <p:txBody>
          <a:bodyPr wrap="square" lIns="25400" tIns="25400" rIns="25400" bIns="2540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Threat → detection rule</a:t>
            </a:r>
            <a:endParaRPr lang="en-US" sz="1500" dirty="0"/>
          </a:p>
          <a:p>
            <a:pPr algn="ctr" indent="0" marL="0">
              <a:buNone/>
            </a:pPr>
            <a:r>
              <a:rPr lang="en-US" sz="1150" dirty="0">
                <a:solidFill>
                  <a:srgbClr val="5B6B7A"/>
                </a:solidFill>
                <a:latin typeface="Calibri" pitchFamily="34" charset="0"/>
                <a:ea typeface="Calibri" pitchFamily="34" charset="-122"/>
                <a:cs typeface="Calibri" pitchFamily="34" charset="-120"/>
              </a:rPr>
              <a:t>validated by replay → auto-deploy</a:t>
            </a:r>
            <a:endParaRPr lang="en-US" sz="1500" dirty="0"/>
          </a:p>
        </p:txBody>
      </p:sp>
      <p:sp>
        <p:nvSpPr>
          <p:cNvPr id="22" name="Shape 20"/>
          <p:cNvSpPr/>
          <p:nvPr/>
        </p:nvSpPr>
        <p:spPr>
          <a:xfrm>
            <a:off x="8915400" y="3200400"/>
            <a:ext cx="2743200" cy="914400"/>
          </a:xfrm>
          <a:prstGeom prst="roundRect">
            <a:avLst>
              <a:gd name="adj" fmla="val 8000"/>
            </a:avLst>
          </a:prstGeom>
          <a:solidFill>
            <a:srgbClr val="EEF3F8"/>
          </a:solidFill>
          <a:ln w="12700">
            <a:solidFill>
              <a:srgbClr val="EEF3F8"/>
            </a:solidFill>
            <a:prstDash val="solid"/>
          </a:ln>
        </p:spPr>
      </p:sp>
      <p:sp>
        <p:nvSpPr>
          <p:cNvPr id="23" name="Text 21"/>
          <p:cNvSpPr txBox="1"/>
          <p:nvPr/>
        </p:nvSpPr>
        <p:spPr>
          <a:xfrm>
            <a:off x="8915400" y="3200400"/>
            <a:ext cx="2743200" cy="914400"/>
          </a:xfrm>
          <a:prstGeom prst="rect">
            <a:avLst/>
          </a:prstGeom>
          <a:noFill/>
          <a:ln/>
        </p:spPr>
        <p:txBody>
          <a:bodyPr wrap="square" lIns="25400" tIns="25400" rIns="25400" bIns="2540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Benign noise → suppression</a:t>
            </a:r>
            <a:endParaRPr lang="en-US" sz="1500" dirty="0"/>
          </a:p>
          <a:p>
            <a:pPr algn="ctr" indent="0" marL="0">
              <a:buNone/>
            </a:pPr>
            <a:r>
              <a:rPr lang="en-US" sz="1150" dirty="0">
                <a:solidFill>
                  <a:srgbClr val="5B6B7A"/>
                </a:solidFill>
                <a:latin typeface="Calibri" pitchFamily="34" charset="0"/>
                <a:ea typeface="Calibri" pitchFamily="34" charset="-122"/>
                <a:cs typeface="Calibri" pitchFamily="34" charset="-120"/>
              </a:rPr>
              <a:t>→ human approval required</a:t>
            </a:r>
            <a:endParaRPr lang="en-US" sz="1500" dirty="0"/>
          </a:p>
        </p:txBody>
      </p:sp>
      <p:sp>
        <p:nvSpPr>
          <p:cNvPr id="24" name="Shape 22"/>
          <p:cNvSpPr/>
          <p:nvPr/>
        </p:nvSpPr>
        <p:spPr>
          <a:xfrm flipH="1">
            <a:off x="7132320" y="3154680"/>
            <a:ext cx="1600200" cy="45720"/>
          </a:xfrm>
          <a:prstGeom prst="line">
            <a:avLst/>
          </a:prstGeom>
          <a:noFill/>
          <a:ln w="25400">
            <a:solidFill>
              <a:srgbClr val="D9822B"/>
            </a:solidFill>
            <a:prstDash val="solid"/>
            <a:tailEnd type="triangle"/>
          </a:ln>
        </p:spPr>
      </p:sp>
      <p:sp>
        <p:nvSpPr>
          <p:cNvPr id="25" name="Shape 23"/>
          <p:cNvSpPr/>
          <p:nvPr/>
        </p:nvSpPr>
        <p:spPr>
          <a:xfrm>
            <a:off x="8732520" y="3154680"/>
            <a:ext cx="1554480" cy="45720"/>
          </a:xfrm>
          <a:prstGeom prst="line">
            <a:avLst/>
          </a:prstGeom>
          <a:noFill/>
          <a:ln w="25400">
            <a:solidFill>
              <a:srgbClr val="D9822B"/>
            </a:solidFill>
            <a:prstDash val="solid"/>
            <a:tailEnd type="triangle"/>
          </a:ln>
        </p:spPr>
      </p:sp>
      <p:sp>
        <p:nvSpPr>
          <p:cNvPr id="26" name="Shape 24"/>
          <p:cNvSpPr/>
          <p:nvPr/>
        </p:nvSpPr>
        <p:spPr>
          <a:xfrm flipH="1">
            <a:off x="3931920" y="3657600"/>
            <a:ext cx="1737360" cy="0"/>
          </a:xfrm>
          <a:prstGeom prst="line">
            <a:avLst/>
          </a:prstGeom>
          <a:noFill/>
          <a:ln w="19050">
            <a:solidFill>
              <a:srgbClr val="5B6B7A"/>
            </a:solidFill>
            <a:prstDash val="dash"/>
            <a:tailEnd type="triangle"/>
          </a:ln>
        </p:spPr>
      </p:sp>
      <p:sp>
        <p:nvSpPr>
          <p:cNvPr id="27" name="Shape 25"/>
          <p:cNvSpPr/>
          <p:nvPr/>
        </p:nvSpPr>
        <p:spPr>
          <a:xfrm flipV="1">
            <a:off x="3931920" y="2697480"/>
            <a:ext cx="0" cy="960120"/>
          </a:xfrm>
          <a:prstGeom prst="line">
            <a:avLst/>
          </a:prstGeom>
          <a:noFill/>
          <a:ln w="19050">
            <a:solidFill>
              <a:srgbClr val="5B6B7A"/>
            </a:solidFill>
            <a:prstDash val="dash"/>
            <a:tailEnd type="triangle"/>
          </a:ln>
        </p:spPr>
      </p:sp>
      <p:sp>
        <p:nvSpPr>
          <p:cNvPr id="28" name="Text 26"/>
          <p:cNvSpPr txBox="1"/>
          <p:nvPr/>
        </p:nvSpPr>
        <p:spPr>
          <a:xfrm>
            <a:off x="548640" y="3337560"/>
            <a:ext cx="3291840" cy="548640"/>
          </a:xfrm>
          <a:prstGeom prst="rect">
            <a:avLst/>
          </a:prstGeom>
          <a:noFill/>
          <a:ln/>
        </p:spPr>
        <p:txBody>
          <a:bodyPr wrap="square" lIns="0" tIns="0" rIns="0" bIns="0" rtlCol="0" anchor="t"/>
          <a:lstStyle/>
          <a:p>
            <a:pPr algn="r" indent="0" marL="0">
              <a:buNone/>
            </a:pPr>
            <a:r>
              <a:rPr lang="en-US" sz="1200" i="1" dirty="0">
                <a:solidFill>
                  <a:srgbClr val="5B6B7A"/>
                </a:solidFill>
                <a:latin typeface="Calibri" pitchFamily="34" charset="0"/>
                <a:ea typeface="Calibri" pitchFamily="34" charset="-122"/>
                <a:cs typeface="Calibri" pitchFamily="34" charset="-120"/>
              </a:rPr>
              <a:t>new rules loaded into the next replay</a:t>
            </a:r>
            <a:endParaRPr lang="en-US" sz="1200" dirty="0"/>
          </a:p>
        </p:txBody>
      </p:sp>
      <p:sp>
        <p:nvSpPr>
          <p:cNvPr id="29" name="Shape 27"/>
          <p:cNvSpPr/>
          <p:nvPr/>
        </p:nvSpPr>
        <p:spPr>
          <a:xfrm>
            <a:off x="548640" y="4343400"/>
            <a:ext cx="4937760" cy="777240"/>
          </a:xfrm>
          <a:prstGeom prst="roundRect">
            <a:avLst>
              <a:gd name="adj" fmla="val 9412"/>
            </a:avLst>
          </a:prstGeom>
          <a:solidFill>
            <a:srgbClr val="EEF3F8"/>
          </a:solidFill>
          <a:ln w="12700">
            <a:solidFill>
              <a:srgbClr val="EEF3F8"/>
            </a:solidFill>
            <a:prstDash val="solid"/>
          </a:ln>
        </p:spPr>
      </p:sp>
      <p:sp>
        <p:nvSpPr>
          <p:cNvPr id="30" name="Text 28"/>
          <p:cNvSpPr txBox="1"/>
          <p:nvPr/>
        </p:nvSpPr>
        <p:spPr>
          <a:xfrm>
            <a:off x="548640" y="4343400"/>
            <a:ext cx="4937760" cy="777240"/>
          </a:xfrm>
          <a:prstGeom prst="rect">
            <a:avLst/>
          </a:prstGeom>
          <a:noFill/>
          <a:ln/>
        </p:spPr>
        <p:txBody>
          <a:bodyPr wrap="square" lIns="25400" tIns="25400" rIns="25400" bIns="2540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Web UI (FastAPI + SSE)</a:t>
            </a:r>
            <a:endParaRPr lang="en-US" sz="1500" dirty="0"/>
          </a:p>
          <a:p>
            <a:pPr algn="ctr" indent="0" marL="0">
              <a:buNone/>
            </a:pPr>
            <a:r>
              <a:rPr lang="en-US" sz="1150" dirty="0">
                <a:solidFill>
                  <a:srgbClr val="5B6B7A"/>
                </a:solidFill>
                <a:latin typeface="Calibri" pitchFamily="34" charset="0"/>
                <a:ea typeface="Calibri" pitchFamily="34" charset="-122"/>
                <a:cs typeface="Calibri" pitchFamily="34" charset="-120"/>
              </a:rPr>
              <a:t>pick dataset, profile &amp; model; watch each step live; export transcript</a:t>
            </a:r>
            <a:endParaRPr lang="en-US" sz="1500" dirty="0"/>
          </a:p>
        </p:txBody>
      </p:sp>
      <p:sp>
        <p:nvSpPr>
          <p:cNvPr id="31" name="Shape 29"/>
          <p:cNvSpPr/>
          <p:nvPr/>
        </p:nvSpPr>
        <p:spPr>
          <a:xfrm>
            <a:off x="5669280" y="4343400"/>
            <a:ext cx="5989320" cy="777240"/>
          </a:xfrm>
          <a:prstGeom prst="roundRect">
            <a:avLst>
              <a:gd name="adj" fmla="val 9412"/>
            </a:avLst>
          </a:prstGeom>
          <a:solidFill>
            <a:srgbClr val="EEF3F8"/>
          </a:solidFill>
          <a:ln w="12700">
            <a:solidFill>
              <a:srgbClr val="EEF3F8"/>
            </a:solidFill>
            <a:prstDash val="solid"/>
          </a:ln>
        </p:spPr>
      </p:sp>
      <p:sp>
        <p:nvSpPr>
          <p:cNvPr id="32" name="Text 30"/>
          <p:cNvSpPr txBox="1"/>
          <p:nvPr/>
        </p:nvSpPr>
        <p:spPr>
          <a:xfrm>
            <a:off x="5669280" y="4343400"/>
            <a:ext cx="5989320" cy="777240"/>
          </a:xfrm>
          <a:prstGeom prst="rect">
            <a:avLst/>
          </a:prstGeom>
          <a:noFill/>
          <a:ln/>
        </p:spPr>
        <p:txBody>
          <a:bodyPr wrap="square" lIns="25400" tIns="25400" rIns="25400" bIns="25400" rtlCol="0" anchor="ctr"/>
          <a:lstStyle/>
          <a:p>
            <a:pPr algn="ctr" indent="0" marL="0">
              <a:buNone/>
            </a:pPr>
            <a:r>
              <a:rPr lang="en-US" sz="1500" b="1" dirty="0">
                <a:solidFill>
                  <a:srgbClr val="0F2533"/>
                </a:solidFill>
                <a:latin typeface="Calibri" pitchFamily="34" charset="0"/>
                <a:ea typeface="Calibri" pitchFamily="34" charset="-122"/>
                <a:cs typeface="Calibri" pitchFamily="34" charset="-120"/>
              </a:rPr>
              <a:t>Experiment profiles</a:t>
            </a:r>
            <a:endParaRPr lang="en-US" sz="1500" dirty="0"/>
          </a:p>
          <a:p>
            <a:pPr algn="ctr" indent="0" marL="0">
              <a:buNone/>
            </a:pPr>
            <a:r>
              <a:rPr lang="en-US" sz="1150" dirty="0">
                <a:solidFill>
                  <a:srgbClr val="5B6B7A"/>
                </a:solidFill>
                <a:latin typeface="Calibri" pitchFamily="34" charset="0"/>
                <a:ea typeface="Calibri" pitchFamily="34" charset="-122"/>
                <a:cs typeface="Calibri" pitchFamily="34" charset="-120"/>
              </a:rPr>
              <a:t>tools, prompt, config &amp; rule file fixed per condition</a:t>
            </a:r>
            <a:endParaRPr lang="en-US" sz="1500" dirty="0"/>
          </a:p>
        </p:txBody>
      </p:sp>
      <p:sp>
        <p:nvSpPr>
          <p:cNvPr id="33" name="Text 31"/>
          <p:cNvSpPr txBox="1"/>
          <p:nvPr/>
        </p:nvSpPr>
        <p:spPr>
          <a:xfrm>
            <a:off x="548640" y="5349240"/>
            <a:ext cx="1828800" cy="274320"/>
          </a:xfrm>
          <a:prstGeom prst="rect">
            <a:avLst/>
          </a:prstGeom>
          <a:noFill/>
          <a:ln/>
        </p:spPr>
        <p:txBody>
          <a:bodyPr wrap="square" lIns="0" tIns="0" rIns="0" bIns="0" rtlCol="0" anchor="t"/>
          <a:lstStyle/>
          <a:p>
            <a:pPr indent="0" marL="0">
              <a:buNone/>
            </a:pPr>
            <a:r>
              <a:rPr lang="en-US" sz="1100" b="1" dirty="0">
                <a:solidFill>
                  <a:srgbClr val="9AA3AD"/>
                </a:solidFill>
                <a:latin typeface="Calibri" pitchFamily="34" charset="0"/>
                <a:ea typeface="Calibri" pitchFamily="34" charset="-122"/>
                <a:cs typeface="Calibri" pitchFamily="34" charset="-120"/>
              </a:rPr>
              <a:t>Tech stack</a:t>
            </a:r>
            <a:endParaRPr lang="en-US" sz="1100" dirty="0"/>
          </a:p>
        </p:txBody>
      </p:sp>
      <p:sp>
        <p:nvSpPr>
          <p:cNvPr id="34" name="Shape 32"/>
          <p:cNvSpPr/>
          <p:nvPr/>
        </p:nvSpPr>
        <p:spPr>
          <a:xfrm>
            <a:off x="548640" y="5669280"/>
            <a:ext cx="1618488" cy="384048"/>
          </a:xfrm>
          <a:prstGeom prst="roundRect">
            <a:avLst>
              <a:gd name="adj" fmla="val 19048"/>
            </a:avLst>
          </a:prstGeom>
          <a:solidFill>
            <a:srgbClr val="EEF3F8"/>
          </a:solidFill>
          <a:ln w="12700">
            <a:solidFill>
              <a:srgbClr val="EEF3F8"/>
            </a:solidFill>
            <a:prstDash val="solid"/>
          </a:ln>
        </p:spPr>
      </p:sp>
      <p:sp>
        <p:nvSpPr>
          <p:cNvPr id="35" name="Text 33"/>
          <p:cNvSpPr txBox="1"/>
          <p:nvPr/>
        </p:nvSpPr>
        <p:spPr>
          <a:xfrm>
            <a:off x="548640" y="5669280"/>
            <a:ext cx="1618488"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Suricata 8.0.6</a:t>
            </a:r>
            <a:endParaRPr lang="en-US" sz="1200" dirty="0"/>
          </a:p>
        </p:txBody>
      </p:sp>
      <p:sp>
        <p:nvSpPr>
          <p:cNvPr id="36" name="Shape 34"/>
          <p:cNvSpPr/>
          <p:nvPr/>
        </p:nvSpPr>
        <p:spPr>
          <a:xfrm>
            <a:off x="2304288" y="5669280"/>
            <a:ext cx="946404" cy="384048"/>
          </a:xfrm>
          <a:prstGeom prst="roundRect">
            <a:avLst>
              <a:gd name="adj" fmla="val 19048"/>
            </a:avLst>
          </a:prstGeom>
          <a:solidFill>
            <a:srgbClr val="EEF3F8"/>
          </a:solidFill>
          <a:ln w="12700">
            <a:solidFill>
              <a:srgbClr val="EEF3F8"/>
            </a:solidFill>
            <a:prstDash val="solid"/>
          </a:ln>
        </p:spPr>
      </p:sp>
      <p:sp>
        <p:nvSpPr>
          <p:cNvPr id="37" name="Text 35"/>
          <p:cNvSpPr txBox="1"/>
          <p:nvPr/>
        </p:nvSpPr>
        <p:spPr>
          <a:xfrm>
            <a:off x="2304288" y="5669280"/>
            <a:ext cx="946404"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ET Open</a:t>
            </a:r>
            <a:endParaRPr lang="en-US" sz="1200" dirty="0"/>
          </a:p>
        </p:txBody>
      </p:sp>
      <p:sp>
        <p:nvSpPr>
          <p:cNvPr id="38" name="Shape 36"/>
          <p:cNvSpPr/>
          <p:nvPr/>
        </p:nvSpPr>
        <p:spPr>
          <a:xfrm>
            <a:off x="3387852" y="5669280"/>
            <a:ext cx="1330452" cy="384048"/>
          </a:xfrm>
          <a:prstGeom prst="roundRect">
            <a:avLst>
              <a:gd name="adj" fmla="val 19048"/>
            </a:avLst>
          </a:prstGeom>
          <a:solidFill>
            <a:srgbClr val="EEF3F8"/>
          </a:solidFill>
          <a:ln w="12700">
            <a:solidFill>
              <a:srgbClr val="EEF3F8"/>
            </a:solidFill>
            <a:prstDash val="solid"/>
          </a:ln>
        </p:spPr>
      </p:sp>
      <p:sp>
        <p:nvSpPr>
          <p:cNvPr id="39" name="Text 37"/>
          <p:cNvSpPr txBox="1"/>
          <p:nvPr/>
        </p:nvSpPr>
        <p:spPr>
          <a:xfrm>
            <a:off x="3387852" y="5669280"/>
            <a:ext cx="1330452"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Python 3.12</a:t>
            </a:r>
            <a:endParaRPr lang="en-US" sz="1200" dirty="0"/>
          </a:p>
        </p:txBody>
      </p:sp>
      <p:sp>
        <p:nvSpPr>
          <p:cNvPr id="40" name="Shape 38"/>
          <p:cNvSpPr/>
          <p:nvPr/>
        </p:nvSpPr>
        <p:spPr>
          <a:xfrm>
            <a:off x="4855464" y="5669280"/>
            <a:ext cx="946404" cy="384048"/>
          </a:xfrm>
          <a:prstGeom prst="roundRect">
            <a:avLst>
              <a:gd name="adj" fmla="val 19048"/>
            </a:avLst>
          </a:prstGeom>
          <a:solidFill>
            <a:srgbClr val="EEF3F8"/>
          </a:solidFill>
          <a:ln w="12700">
            <a:solidFill>
              <a:srgbClr val="EEF3F8"/>
            </a:solidFill>
            <a:prstDash val="solid"/>
          </a:ln>
        </p:spPr>
      </p:sp>
      <p:sp>
        <p:nvSpPr>
          <p:cNvPr id="41" name="Text 39"/>
          <p:cNvSpPr txBox="1"/>
          <p:nvPr/>
        </p:nvSpPr>
        <p:spPr>
          <a:xfrm>
            <a:off x="4855464" y="5669280"/>
            <a:ext cx="946404"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FastAPI</a:t>
            </a:r>
            <a:endParaRPr lang="en-US" sz="1200" dirty="0"/>
          </a:p>
        </p:txBody>
      </p:sp>
      <p:sp>
        <p:nvSpPr>
          <p:cNvPr id="42" name="Shape 40"/>
          <p:cNvSpPr/>
          <p:nvPr/>
        </p:nvSpPr>
        <p:spPr>
          <a:xfrm>
            <a:off x="5939028" y="5669280"/>
            <a:ext cx="466344" cy="384048"/>
          </a:xfrm>
          <a:prstGeom prst="roundRect">
            <a:avLst>
              <a:gd name="adj" fmla="val 19048"/>
            </a:avLst>
          </a:prstGeom>
          <a:solidFill>
            <a:srgbClr val="EEF3F8"/>
          </a:solidFill>
          <a:ln w="12700">
            <a:solidFill>
              <a:srgbClr val="EEF3F8"/>
            </a:solidFill>
            <a:prstDash val="solid"/>
          </a:ln>
        </p:spPr>
      </p:sp>
      <p:sp>
        <p:nvSpPr>
          <p:cNvPr id="43" name="Text 41"/>
          <p:cNvSpPr txBox="1"/>
          <p:nvPr/>
        </p:nvSpPr>
        <p:spPr>
          <a:xfrm>
            <a:off x="5939028" y="5669280"/>
            <a:ext cx="466344"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jq</a:t>
            </a:r>
            <a:endParaRPr lang="en-US" sz="1200" dirty="0"/>
          </a:p>
        </p:txBody>
      </p:sp>
      <p:sp>
        <p:nvSpPr>
          <p:cNvPr id="44" name="Shape 42"/>
          <p:cNvSpPr/>
          <p:nvPr/>
        </p:nvSpPr>
        <p:spPr>
          <a:xfrm>
            <a:off x="6542532" y="5669280"/>
            <a:ext cx="850392" cy="384048"/>
          </a:xfrm>
          <a:prstGeom prst="roundRect">
            <a:avLst>
              <a:gd name="adj" fmla="val 19048"/>
            </a:avLst>
          </a:prstGeom>
          <a:solidFill>
            <a:srgbClr val="EEF3F8"/>
          </a:solidFill>
          <a:ln w="12700">
            <a:solidFill>
              <a:srgbClr val="EEF3F8"/>
            </a:solidFill>
            <a:prstDash val="solid"/>
          </a:ln>
        </p:spPr>
      </p:sp>
      <p:sp>
        <p:nvSpPr>
          <p:cNvPr id="45" name="Text 43"/>
          <p:cNvSpPr txBox="1"/>
          <p:nvPr/>
        </p:nvSpPr>
        <p:spPr>
          <a:xfrm>
            <a:off x="6542532" y="5669280"/>
            <a:ext cx="850392"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tshark</a:t>
            </a:r>
            <a:endParaRPr lang="en-US" sz="1200" dirty="0"/>
          </a:p>
        </p:txBody>
      </p:sp>
      <p:sp>
        <p:nvSpPr>
          <p:cNvPr id="46" name="Shape 44"/>
          <p:cNvSpPr/>
          <p:nvPr/>
        </p:nvSpPr>
        <p:spPr>
          <a:xfrm>
            <a:off x="7530084" y="5669280"/>
            <a:ext cx="1714500" cy="384048"/>
          </a:xfrm>
          <a:prstGeom prst="roundRect">
            <a:avLst>
              <a:gd name="adj" fmla="val 19048"/>
            </a:avLst>
          </a:prstGeom>
          <a:solidFill>
            <a:srgbClr val="EEF3F8"/>
          </a:solidFill>
          <a:ln w="12700">
            <a:solidFill>
              <a:srgbClr val="EEF3F8"/>
            </a:solidFill>
            <a:prstDash val="solid"/>
          </a:ln>
        </p:spPr>
      </p:sp>
      <p:sp>
        <p:nvSpPr>
          <p:cNvPr id="47" name="Text 45"/>
          <p:cNvSpPr txBox="1"/>
          <p:nvPr/>
        </p:nvSpPr>
        <p:spPr>
          <a:xfrm>
            <a:off x="7530084" y="5669280"/>
            <a:ext cx="1714500"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DeepSeek V4 Pro</a:t>
            </a:r>
            <a:endParaRPr lang="en-US" sz="1200" dirty="0"/>
          </a:p>
        </p:txBody>
      </p:sp>
      <p:sp>
        <p:nvSpPr>
          <p:cNvPr id="48" name="Shape 46"/>
          <p:cNvSpPr/>
          <p:nvPr/>
        </p:nvSpPr>
        <p:spPr>
          <a:xfrm>
            <a:off x="9381744" y="5669280"/>
            <a:ext cx="850392" cy="384048"/>
          </a:xfrm>
          <a:prstGeom prst="roundRect">
            <a:avLst>
              <a:gd name="adj" fmla="val 19048"/>
            </a:avLst>
          </a:prstGeom>
          <a:solidFill>
            <a:srgbClr val="EEF3F8"/>
          </a:solidFill>
          <a:ln w="12700">
            <a:solidFill>
              <a:srgbClr val="EEF3F8"/>
            </a:solidFill>
            <a:prstDash val="solid"/>
          </a:ln>
        </p:spPr>
      </p:sp>
      <p:sp>
        <p:nvSpPr>
          <p:cNvPr id="49" name="Text 47"/>
          <p:cNvSpPr txBox="1"/>
          <p:nvPr/>
        </p:nvSpPr>
        <p:spPr>
          <a:xfrm>
            <a:off x="9381744" y="5669280"/>
            <a:ext cx="850392"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Claude</a:t>
            </a:r>
            <a:endParaRPr lang="en-US" sz="1200" dirty="0"/>
          </a:p>
        </p:txBody>
      </p:sp>
      <p:sp>
        <p:nvSpPr>
          <p:cNvPr id="50" name="Shape 48"/>
          <p:cNvSpPr/>
          <p:nvPr/>
        </p:nvSpPr>
        <p:spPr>
          <a:xfrm>
            <a:off x="10369296" y="5669280"/>
            <a:ext cx="1426464" cy="384048"/>
          </a:xfrm>
          <a:prstGeom prst="roundRect">
            <a:avLst>
              <a:gd name="adj" fmla="val 19048"/>
            </a:avLst>
          </a:prstGeom>
          <a:solidFill>
            <a:srgbClr val="EEF3F8"/>
          </a:solidFill>
          <a:ln w="12700">
            <a:solidFill>
              <a:srgbClr val="EEF3F8"/>
            </a:solidFill>
            <a:prstDash val="solid"/>
          </a:ln>
        </p:spPr>
      </p:sp>
      <p:sp>
        <p:nvSpPr>
          <p:cNvPr id="51" name="Text 49"/>
          <p:cNvSpPr txBox="1"/>
          <p:nvPr/>
        </p:nvSpPr>
        <p:spPr>
          <a:xfrm>
            <a:off x="10369296" y="5669280"/>
            <a:ext cx="1426464" cy="384048"/>
          </a:xfrm>
          <a:prstGeom prst="rect">
            <a:avLst/>
          </a:prstGeom>
          <a:noFill/>
          <a:ln/>
        </p:spPr>
        <p:txBody>
          <a:bodyPr wrap="square" lIns="0" tIns="0" rIns="0" bIns="0" rtlCol="0" anchor="ctr"/>
          <a:lstStyle/>
          <a:p>
            <a:pPr algn="ctr" indent="0" marL="0">
              <a:buNone/>
            </a:pPr>
            <a:r>
              <a:rPr lang="en-US" sz="1200" dirty="0">
                <a:solidFill>
                  <a:srgbClr val="0F2533"/>
                </a:solidFill>
                <a:latin typeface="Calibri" pitchFamily="34" charset="0"/>
                <a:ea typeface="Calibri" pitchFamily="34" charset="-122"/>
                <a:cs typeface="Calibri" pitchFamily="34" charset="-120"/>
              </a:rPr>
              <a:t>Ubuntu (WSL)</a:t>
            </a:r>
            <a:endParaRPr lang="en-US" sz="1200" dirty="0"/>
          </a:p>
        </p:txBody>
      </p:sp>
      <p:sp>
        <p:nvSpPr>
          <p:cNvPr id="52" name="Text 50"/>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Binay  ·  design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The agent’s tools: it proposes, the engine runs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13 tools in five groups; each experiment profile switches on only the ones it needs</a:t>
            </a:r>
            <a:endParaRPr lang="en-US" sz="1600" dirty="0"/>
          </a:p>
        </p:txBody>
      </p:sp>
      <p:pic>
        <p:nvPicPr>
          <p:cNvPr id="4" name="Image 0" descr="/home/bigyan/capstone-ids/docs/figures/_video_tools_crop.png">    </p:cNvPr>
          <p:cNvPicPr>
            <a:picLocks noChangeAspect="1"/>
          </p:cNvPicPr>
          <p:nvPr/>
        </p:nvPicPr>
        <p:blipFill>
          <a:blip r:embed="rId1"/>
          <a:srcRect l="0" r="0" t="0" b="0"/>
          <a:stretch/>
        </p:blipFill>
        <p:spPr>
          <a:xfrm>
            <a:off x="822960" y="1508760"/>
            <a:ext cx="10515600" cy="4800600"/>
          </a:xfrm>
          <a:prstGeom prst="rect">
            <a:avLst/>
          </a:prstGeom>
        </p:spPr>
      </p:pic>
      <p:sp>
        <p:nvSpPr>
          <p:cNvPr id="5" name="Text 2"/>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Binay  ·  tools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Results: triage works on two datasets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Every number scored against the datasets’ ground-truth labels — not the model’s own claims</a:t>
            </a:r>
            <a:endParaRPr lang="en-US" sz="1600" dirty="0"/>
          </a:p>
        </p:txBody>
      </p:sp>
      <p:sp>
        <p:nvSpPr>
          <p:cNvPr id="4" name="Shape 2"/>
          <p:cNvSpPr/>
          <p:nvPr/>
        </p:nvSpPr>
        <p:spPr>
          <a:xfrm>
            <a:off x="548640" y="1645920"/>
            <a:ext cx="5394960" cy="3017520"/>
          </a:xfrm>
          <a:prstGeom prst="roundRect">
            <a:avLst>
              <a:gd name="adj" fmla="val 2424"/>
            </a:avLst>
          </a:prstGeom>
          <a:solidFill>
            <a:srgbClr val="EEF3F8"/>
          </a:solidFill>
          <a:ln w="12700">
            <a:solidFill>
              <a:srgbClr val="EEF3F8"/>
            </a:solidFill>
            <a:prstDash val="solid"/>
          </a:ln>
        </p:spPr>
      </p:sp>
      <p:sp>
        <p:nvSpPr>
          <p:cNvPr id="5" name="Shape 3"/>
          <p:cNvSpPr/>
          <p:nvPr/>
        </p:nvSpPr>
        <p:spPr>
          <a:xfrm>
            <a:off x="6245352" y="1645920"/>
            <a:ext cx="5394960" cy="3017520"/>
          </a:xfrm>
          <a:prstGeom prst="roundRect">
            <a:avLst>
              <a:gd name="adj" fmla="val 2424"/>
            </a:avLst>
          </a:prstGeom>
          <a:solidFill>
            <a:srgbClr val="EEF3F8"/>
          </a:solidFill>
          <a:ln w="12700">
            <a:solidFill>
              <a:srgbClr val="EEF3F8"/>
            </a:solidFill>
            <a:prstDash val="solid"/>
          </a:ln>
        </p:spPr>
      </p:sp>
      <p:sp>
        <p:nvSpPr>
          <p:cNvPr id="6" name="Text 4"/>
          <p:cNvSpPr txBox="1"/>
          <p:nvPr/>
        </p:nvSpPr>
        <p:spPr>
          <a:xfrm>
            <a:off x="822960" y="1783080"/>
            <a:ext cx="4937760" cy="411480"/>
          </a:xfrm>
          <a:prstGeom prst="rect">
            <a:avLst/>
          </a:prstGeom>
          <a:noFill/>
          <a:ln/>
        </p:spPr>
        <p:txBody>
          <a:bodyPr wrap="square" lIns="0" tIns="0" rIns="0" bIns="0" rtlCol="0" anchor="t"/>
          <a:lstStyle/>
          <a:p>
            <a:pPr indent="0" marL="0">
              <a:buNone/>
            </a:pPr>
            <a:r>
              <a:rPr lang="en-US" sz="1800" b="1" dirty="0">
                <a:solidFill>
                  <a:srgbClr val="0F2533"/>
                </a:solidFill>
                <a:latin typeface="Cambria" pitchFamily="34" charset="0"/>
                <a:ea typeface="Cambria" pitchFamily="34" charset="-122"/>
                <a:cs typeface="Cambria" pitchFamily="34" charset="-120"/>
              </a:rPr>
              <a:t>CIC-IDS2017 (development)</a:t>
            </a:r>
            <a:endParaRPr lang="en-US" sz="1800" dirty="0"/>
          </a:p>
        </p:txBody>
      </p:sp>
      <p:sp>
        <p:nvSpPr>
          <p:cNvPr id="7" name="Text 5"/>
          <p:cNvSpPr txBox="1"/>
          <p:nvPr/>
        </p:nvSpPr>
        <p:spPr>
          <a:xfrm>
            <a:off x="822960" y="2240280"/>
            <a:ext cx="246888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13 / 14</a:t>
            </a:r>
            <a:endParaRPr lang="en-US" sz="4400" dirty="0"/>
          </a:p>
        </p:txBody>
      </p:sp>
      <p:sp>
        <p:nvSpPr>
          <p:cNvPr id="8" name="Text 6"/>
          <p:cNvSpPr txBox="1"/>
          <p:nvPr/>
        </p:nvSpPr>
        <p:spPr>
          <a:xfrm>
            <a:off x="822960" y="3017520"/>
            <a:ext cx="24688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attack categories identified by the model</a:t>
            </a:r>
            <a:endParaRPr lang="en-US" sz="1300" dirty="0"/>
          </a:p>
        </p:txBody>
      </p:sp>
      <p:sp>
        <p:nvSpPr>
          <p:cNvPr id="9" name="Text 7"/>
          <p:cNvSpPr txBox="1"/>
          <p:nvPr/>
        </p:nvSpPr>
        <p:spPr>
          <a:xfrm>
            <a:off x="3383280" y="2240280"/>
            <a:ext cx="237744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99.4%</a:t>
            </a:r>
            <a:endParaRPr lang="en-US" sz="4400" dirty="0"/>
          </a:p>
        </p:txBody>
      </p:sp>
      <p:sp>
        <p:nvSpPr>
          <p:cNvPr id="10" name="Text 8"/>
          <p:cNvSpPr txBox="1"/>
          <p:nvPr/>
        </p:nvSpPr>
        <p:spPr>
          <a:xfrm>
            <a:off x="3383280" y="3017520"/>
            <a:ext cx="237744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AI-rule alerts on noisy days fell on real attacks (stock rules: 6.1%)</a:t>
            </a:r>
            <a:endParaRPr lang="en-US" sz="1300" dirty="0"/>
          </a:p>
        </p:txBody>
      </p:sp>
      <p:sp>
        <p:nvSpPr>
          <p:cNvPr id="11" name="Text 9"/>
          <p:cNvSpPr txBox="1"/>
          <p:nvPr/>
        </p:nvSpPr>
        <p:spPr>
          <a:xfrm>
            <a:off x="6519672" y="1783080"/>
            <a:ext cx="4937760" cy="411480"/>
          </a:xfrm>
          <a:prstGeom prst="rect">
            <a:avLst/>
          </a:prstGeom>
          <a:noFill/>
          <a:ln/>
        </p:spPr>
        <p:txBody>
          <a:bodyPr wrap="square" lIns="0" tIns="0" rIns="0" bIns="0" rtlCol="0" anchor="t"/>
          <a:lstStyle/>
          <a:p>
            <a:pPr indent="0" marL="0">
              <a:buNone/>
            </a:pPr>
            <a:r>
              <a:rPr lang="en-US" sz="1800" b="1" dirty="0">
                <a:solidFill>
                  <a:srgbClr val="0F2533"/>
                </a:solidFill>
                <a:latin typeface="Cambria" pitchFamily="34" charset="0"/>
                <a:ea typeface="Cambria" pitchFamily="34" charset="-122"/>
                <a:cs typeface="Cambria" pitchFamily="34" charset="-120"/>
              </a:rPr>
              <a:t>UNSW-NB15 (never seen before)</a:t>
            </a:r>
            <a:endParaRPr lang="en-US" sz="1800" dirty="0"/>
          </a:p>
        </p:txBody>
      </p:sp>
      <p:sp>
        <p:nvSpPr>
          <p:cNvPr id="12" name="Text 10"/>
          <p:cNvSpPr txBox="1"/>
          <p:nvPr/>
        </p:nvSpPr>
        <p:spPr>
          <a:xfrm>
            <a:off x="6519672" y="2240280"/>
            <a:ext cx="219456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8 / 9</a:t>
            </a:r>
            <a:endParaRPr lang="en-US" sz="4400" dirty="0"/>
          </a:p>
        </p:txBody>
      </p:sp>
      <p:sp>
        <p:nvSpPr>
          <p:cNvPr id="13" name="Text 11"/>
          <p:cNvSpPr txBox="1"/>
          <p:nvPr/>
        </p:nvSpPr>
        <p:spPr>
          <a:xfrm>
            <a:off x="6519672" y="3017520"/>
            <a:ext cx="21945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attack categories identified</a:t>
            </a:r>
            <a:endParaRPr lang="en-US" sz="1300" dirty="0"/>
          </a:p>
        </p:txBody>
      </p:sp>
      <p:sp>
        <p:nvSpPr>
          <p:cNvPr id="14" name="Text 12"/>
          <p:cNvSpPr txBox="1"/>
          <p:nvPr/>
        </p:nvSpPr>
        <p:spPr>
          <a:xfrm>
            <a:off x="8778240" y="2240280"/>
            <a:ext cx="2743200" cy="77724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9.2 → 15.5%</a:t>
            </a:r>
            <a:endParaRPr lang="en-US" sz="3600" dirty="0"/>
          </a:p>
        </p:txBody>
      </p:sp>
      <p:sp>
        <p:nvSpPr>
          <p:cNvPr id="15" name="Text 13"/>
          <p:cNvSpPr txBox="1"/>
          <p:nvPr/>
        </p:nvSpPr>
        <p:spPr>
          <a:xfrm>
            <a:off x="8778240" y="3017520"/>
            <a:ext cx="27432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event detection, stock ET Open → + AI rules</a:t>
            </a:r>
            <a:endParaRPr lang="en-US" sz="1300" dirty="0"/>
          </a:p>
        </p:txBody>
      </p:sp>
      <p:sp>
        <p:nvSpPr>
          <p:cNvPr id="16" name="Shape 14"/>
          <p:cNvSpPr/>
          <p:nvPr/>
        </p:nvSpPr>
        <p:spPr>
          <a:xfrm>
            <a:off x="548640" y="4892040"/>
            <a:ext cx="11094415" cy="1280160"/>
          </a:xfrm>
          <a:prstGeom prst="roundRect">
            <a:avLst>
              <a:gd name="adj" fmla="val 5714"/>
            </a:avLst>
          </a:prstGeom>
          <a:solidFill>
            <a:srgbClr val="0F2533"/>
          </a:solidFill>
          <a:ln w="12700">
            <a:solidFill>
              <a:srgbClr val="0F2533"/>
            </a:solidFill>
            <a:prstDash val="solid"/>
          </a:ln>
        </p:spPr>
      </p:sp>
      <p:sp>
        <p:nvSpPr>
          <p:cNvPr id="17" name="Shape 15"/>
          <p:cNvSpPr/>
          <p:nvPr/>
        </p:nvSpPr>
        <p:spPr>
          <a:xfrm>
            <a:off x="822960" y="5257800"/>
            <a:ext cx="548640" cy="548640"/>
          </a:xfrm>
          <a:prstGeom prst="ellipse">
            <a:avLst/>
          </a:prstGeom>
          <a:solidFill>
            <a:srgbClr val="D9822B"/>
          </a:solidFill>
          <a:ln w="12700">
            <a:solidFill>
              <a:srgbClr val="D9822B"/>
            </a:solidFill>
            <a:prstDash val="solid"/>
          </a:ln>
        </p:spPr>
      </p:sp>
      <p:pic>
        <p:nvPicPr>
          <p:cNvPr id="18" name="Image 0" descr="preencoded.png">    </p:cNvPr>
          <p:cNvPicPr>
            <a:picLocks noChangeAspect="1"/>
          </p:cNvPicPr>
          <p:nvPr/>
        </p:nvPicPr>
        <p:blipFill>
          <a:blip r:embed="rId1"/>
          <a:stretch>
            <a:fillRect/>
          </a:stretch>
        </p:blipFill>
        <p:spPr>
          <a:xfrm>
            <a:off x="954634" y="5389474"/>
            <a:ext cx="285293" cy="285293"/>
          </a:xfrm>
          <a:prstGeom prst="rect">
            <a:avLst/>
          </a:prstGeom>
        </p:spPr>
      </p:pic>
      <p:sp>
        <p:nvSpPr>
          <p:cNvPr id="19" name="Text 16"/>
          <p:cNvSpPr txBox="1"/>
          <p:nvPr/>
        </p:nvSpPr>
        <p:spPr>
          <a:xfrm>
            <a:off x="1600200" y="4892040"/>
            <a:ext cx="9814255" cy="1280160"/>
          </a:xfrm>
          <a:prstGeom prst="rect">
            <a:avLst/>
          </a:prstGeom>
          <a:noFill/>
          <a:ln/>
        </p:spPr>
        <p:txBody>
          <a:bodyPr wrap="square" lIns="0" tIns="0" rIns="0" bIns="0" rtlCol="0" anchor="ctr"/>
          <a:lstStyle/>
          <a:p>
            <a:pPr indent="0" marL="0">
              <a:buNone/>
            </a:pPr>
            <a:r>
              <a:rPr lang="en-US" sz="1600" b="1" dirty="0">
                <a:solidFill>
                  <a:srgbClr val="D9822B"/>
                </a:solidFill>
                <a:latin typeface="Calibri" pitchFamily="34" charset="0"/>
                <a:ea typeface="Calibri" pitchFamily="34" charset="-122"/>
                <a:cs typeface="Calibri" pitchFamily="34" charset="-120"/>
              </a:rPr>
              <a:t>The safety design worked.  </a:t>
            </a:r>
            <a:pPr indent="0" marL="0">
              <a:buNone/>
            </a:pPr>
            <a:r>
              <a:rPr lang="en-US" sz="1600" dirty="0">
                <a:solidFill>
                  <a:srgbClr val="FFFFFF"/>
                </a:solidFill>
                <a:latin typeface="Calibri" pitchFamily="34" charset="0"/>
                <a:ea typeface="Calibri" pitchFamily="34" charset="-122"/>
                <a:cs typeface="Calibri" pitchFamily="34" charset="-120"/>
              </a:rPr>
              <a:t>One UNSW run proposed suppressing two rules as false positives — they were catching a real Cisco exploit. Suppressions need human approval, so the sensor was never blinded.</a:t>
            </a:r>
            <a:endParaRPr lang="en-US" sz="1600" dirty="0"/>
          </a:p>
        </p:txBody>
      </p:sp>
      <p:sp>
        <p:nvSpPr>
          <p:cNvPr id="20" name="Text 17"/>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Irab  ·  results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What the AI caught that 52,000 stock rules missed</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Four examples from CIC-IDS2017 — each confirmed against the ground-truth labels</a:t>
            </a:r>
            <a:endParaRPr lang="en-US" sz="1600" dirty="0"/>
          </a:p>
        </p:txBody>
      </p:sp>
      <p:sp>
        <p:nvSpPr>
          <p:cNvPr id="4" name="Shape 2"/>
          <p:cNvSpPr/>
          <p:nvPr/>
        </p:nvSpPr>
        <p:spPr>
          <a:xfrm>
            <a:off x="548640" y="1645920"/>
            <a:ext cx="5440680" cy="2103120"/>
          </a:xfrm>
          <a:prstGeom prst="roundRect">
            <a:avLst>
              <a:gd name="adj" fmla="val 3478"/>
            </a:avLst>
          </a:prstGeom>
          <a:solidFill>
            <a:srgbClr val="EEF3F8"/>
          </a:solidFill>
          <a:ln w="12700">
            <a:solidFill>
              <a:srgbClr val="EEF3F8"/>
            </a:solidFill>
            <a:prstDash val="solid"/>
          </a:ln>
        </p:spPr>
      </p:sp>
      <p:sp>
        <p:nvSpPr>
          <p:cNvPr id="5" name="Shape 3"/>
          <p:cNvSpPr/>
          <p:nvPr/>
        </p:nvSpPr>
        <p:spPr>
          <a:xfrm>
            <a:off x="822960" y="1920240"/>
            <a:ext cx="548640" cy="548640"/>
          </a:xfrm>
          <a:prstGeom prst="ellipse">
            <a:avLst/>
          </a:prstGeom>
          <a:solidFill>
            <a:srgbClr val="D9822B"/>
          </a:solidFill>
          <a:ln w="12700">
            <a:solidFill>
              <a:srgbClr val="D9822B"/>
            </a:solidFill>
            <a:prstDash val="solid"/>
          </a:ln>
        </p:spPr>
      </p:sp>
      <p:pic>
        <p:nvPicPr>
          <p:cNvPr id="6" name="Image 0" descr="preencoded.png">    </p:cNvPr>
          <p:cNvPicPr>
            <a:picLocks noChangeAspect="1"/>
          </p:cNvPicPr>
          <p:nvPr/>
        </p:nvPicPr>
        <p:blipFill>
          <a:blip r:embed="rId1"/>
          <a:stretch>
            <a:fillRect/>
          </a:stretch>
        </p:blipFill>
        <p:spPr>
          <a:xfrm>
            <a:off x="954634" y="2051914"/>
            <a:ext cx="285293" cy="285293"/>
          </a:xfrm>
          <a:prstGeom prst="rect">
            <a:avLst/>
          </a:prstGeom>
        </p:spPr>
      </p:pic>
      <p:sp>
        <p:nvSpPr>
          <p:cNvPr id="7" name="Text 4"/>
          <p:cNvSpPr txBox="1"/>
          <p:nvPr/>
        </p:nvSpPr>
        <p:spPr>
          <a:xfrm>
            <a:off x="1554480" y="1920240"/>
            <a:ext cx="4206240" cy="548640"/>
          </a:xfrm>
          <a:prstGeom prst="rect">
            <a:avLst/>
          </a:prstGeom>
          <a:noFill/>
          <a:ln/>
        </p:spPr>
        <p:txBody>
          <a:bodyPr wrap="square" lIns="0" tIns="0" rIns="0" bIns="0" rtlCol="0" anchor="ctr"/>
          <a:lstStyle/>
          <a:p>
            <a:pPr indent="0" marL="0">
              <a:buNone/>
            </a:pPr>
            <a:r>
              <a:rPr lang="en-US" sz="1900" b="1" dirty="0">
                <a:solidFill>
                  <a:srgbClr val="0F2533"/>
                </a:solidFill>
                <a:latin typeface="Cambria" pitchFamily="34" charset="0"/>
                <a:ea typeface="Cambria" pitchFamily="34" charset="-122"/>
                <a:cs typeface="Cambria" pitchFamily="34" charset="-120"/>
              </a:rPr>
              <a:t>FAKEVERB DoS</a:t>
            </a:r>
            <a:endParaRPr lang="en-US" sz="1900" dirty="0"/>
          </a:p>
        </p:txBody>
      </p:sp>
      <p:sp>
        <p:nvSpPr>
          <p:cNvPr id="8" name="Text 5"/>
          <p:cNvSpPr txBox="1"/>
          <p:nvPr/>
        </p:nvSpPr>
        <p:spPr>
          <a:xfrm>
            <a:off x="822960" y="2560320"/>
            <a:ext cx="3291840" cy="1097280"/>
          </a:xfrm>
          <a:prstGeom prst="rect">
            <a:avLst/>
          </a:prstGeom>
          <a:noFill/>
          <a:ln/>
        </p:spPr>
        <p:txBody>
          <a:bodyPr wrap="square" lIns="0" tIns="0" rIns="0" bIns="0" rtlCol="0" anchor="t"/>
          <a:lstStyle/>
          <a:p>
            <a:pPr indent="0" marL="0">
              <a:buNone/>
            </a:pPr>
            <a:r>
              <a:rPr lang="en-US" sz="1350" dirty="0">
                <a:solidFill>
                  <a:srgbClr val="0F2533"/>
                </a:solidFill>
                <a:latin typeface="Calibri" pitchFamily="34" charset="0"/>
                <a:ea typeface="Calibri" pitchFamily="34" charset="-122"/>
                <a:cs typeface="Calibri" pitchFamily="34" charset="-120"/>
              </a:rPr>
              <a:t>Worked out that Suricata’s HTTP parser hides non-standard methods, and rewrote its rule on the raw payload</a:t>
            </a:r>
            <a:endParaRPr lang="en-US" sz="1350" dirty="0"/>
          </a:p>
        </p:txBody>
      </p:sp>
      <p:sp>
        <p:nvSpPr>
          <p:cNvPr id="9" name="Text 6"/>
          <p:cNvSpPr txBox="1"/>
          <p:nvPr/>
        </p:nvSpPr>
        <p:spPr>
          <a:xfrm>
            <a:off x="4160520" y="2560320"/>
            <a:ext cx="1645920" cy="1005840"/>
          </a:xfrm>
          <a:prstGeom prst="rect">
            <a:avLst/>
          </a:prstGeom>
          <a:noFill/>
          <a:ln/>
        </p:spPr>
        <p:txBody>
          <a:bodyPr wrap="square" lIns="0" tIns="0" rIns="0" bIns="0" rtlCol="0" anchor="ctr"/>
          <a:lstStyle/>
          <a:p>
            <a:pPr algn="r" indent="0" marL="0">
              <a:buNone/>
            </a:pPr>
            <a:r>
              <a:rPr lang="en-US" sz="1700" b="1" dirty="0">
                <a:solidFill>
                  <a:srgbClr val="D9822B"/>
                </a:solidFill>
                <a:latin typeface="Cambria" pitchFamily="34" charset="0"/>
                <a:ea typeface="Cambria" pitchFamily="34" charset="-122"/>
                <a:cs typeface="Cambria" pitchFamily="34" charset="-120"/>
              </a:rPr>
              <a:t>0 → 463 alerts</a:t>
            </a:r>
            <a:endParaRPr lang="en-US" sz="1700" dirty="0"/>
          </a:p>
        </p:txBody>
      </p:sp>
      <p:sp>
        <p:nvSpPr>
          <p:cNvPr id="10" name="Shape 7"/>
          <p:cNvSpPr/>
          <p:nvPr/>
        </p:nvSpPr>
        <p:spPr>
          <a:xfrm>
            <a:off x="6199632" y="1645920"/>
            <a:ext cx="5440680" cy="2103120"/>
          </a:xfrm>
          <a:prstGeom prst="roundRect">
            <a:avLst>
              <a:gd name="adj" fmla="val 3478"/>
            </a:avLst>
          </a:prstGeom>
          <a:solidFill>
            <a:srgbClr val="EEF3F8"/>
          </a:solidFill>
          <a:ln w="12700">
            <a:solidFill>
              <a:srgbClr val="EEF3F8"/>
            </a:solidFill>
            <a:prstDash val="solid"/>
          </a:ln>
        </p:spPr>
      </p:sp>
      <p:sp>
        <p:nvSpPr>
          <p:cNvPr id="11" name="Shape 8"/>
          <p:cNvSpPr/>
          <p:nvPr/>
        </p:nvSpPr>
        <p:spPr>
          <a:xfrm>
            <a:off x="6473952" y="1920240"/>
            <a:ext cx="548640" cy="548640"/>
          </a:xfrm>
          <a:prstGeom prst="ellipse">
            <a:avLst/>
          </a:prstGeom>
          <a:solidFill>
            <a:srgbClr val="1F4E79"/>
          </a:solidFill>
          <a:ln w="12700">
            <a:solidFill>
              <a:srgbClr val="1F4E79"/>
            </a:solidFill>
            <a:prstDash val="solid"/>
          </a:ln>
        </p:spPr>
      </p:sp>
      <p:pic>
        <p:nvPicPr>
          <p:cNvPr id="12" name="Image 1" descr="preencoded.png">    </p:cNvPr>
          <p:cNvPicPr>
            <a:picLocks noChangeAspect="1"/>
          </p:cNvPicPr>
          <p:nvPr/>
        </p:nvPicPr>
        <p:blipFill>
          <a:blip r:embed="rId2"/>
          <a:stretch>
            <a:fillRect/>
          </a:stretch>
        </p:blipFill>
        <p:spPr>
          <a:xfrm>
            <a:off x="6605626" y="2051914"/>
            <a:ext cx="285293" cy="285293"/>
          </a:xfrm>
          <a:prstGeom prst="rect">
            <a:avLst/>
          </a:prstGeom>
        </p:spPr>
      </p:pic>
      <p:sp>
        <p:nvSpPr>
          <p:cNvPr id="13" name="Text 9"/>
          <p:cNvSpPr txBox="1"/>
          <p:nvPr/>
        </p:nvSpPr>
        <p:spPr>
          <a:xfrm>
            <a:off x="7205472" y="1920240"/>
            <a:ext cx="4206240" cy="548640"/>
          </a:xfrm>
          <a:prstGeom prst="rect">
            <a:avLst/>
          </a:prstGeom>
          <a:noFill/>
          <a:ln/>
        </p:spPr>
        <p:txBody>
          <a:bodyPr wrap="square" lIns="0" tIns="0" rIns="0" bIns="0" rtlCol="0" anchor="ctr"/>
          <a:lstStyle/>
          <a:p>
            <a:pPr indent="0" marL="0">
              <a:buNone/>
            </a:pPr>
            <a:r>
              <a:rPr lang="en-US" sz="1900" b="1" dirty="0">
                <a:solidFill>
                  <a:srgbClr val="0F2533"/>
                </a:solidFill>
                <a:latin typeface="Cambria" pitchFamily="34" charset="0"/>
                <a:ea typeface="Cambria" pitchFamily="34" charset="-122"/>
                <a:cs typeface="Cambria" pitchFamily="34" charset="-120"/>
              </a:rPr>
              <a:t>Hulk HTTP flood</a:t>
            </a:r>
            <a:endParaRPr lang="en-US" sz="1900" dirty="0"/>
          </a:p>
        </p:txBody>
      </p:sp>
      <p:sp>
        <p:nvSpPr>
          <p:cNvPr id="14" name="Text 10"/>
          <p:cNvSpPr txBox="1"/>
          <p:nvPr/>
        </p:nvSpPr>
        <p:spPr>
          <a:xfrm>
            <a:off x="6473952" y="2560320"/>
            <a:ext cx="3291840" cy="1097280"/>
          </a:xfrm>
          <a:prstGeom prst="rect">
            <a:avLst/>
          </a:prstGeom>
          <a:noFill/>
          <a:ln/>
        </p:spPr>
        <p:txBody>
          <a:bodyPr wrap="square" lIns="0" tIns="0" rIns="0" bIns="0" rtlCol="0" anchor="t"/>
          <a:lstStyle/>
          <a:p>
            <a:pPr indent="0" marL="0">
              <a:buNone/>
            </a:pPr>
            <a:r>
              <a:rPr lang="en-US" sz="1350" dirty="0">
                <a:solidFill>
                  <a:srgbClr val="0F2533"/>
                </a:solidFill>
                <a:latin typeface="Calibri" pitchFamily="34" charset="0"/>
                <a:ea typeface="Calibri" pitchFamily="34" charset="-122"/>
                <a:cs typeface="Calibri" pitchFamily="34" charset="-120"/>
              </a:rPr>
              <a:t>A 149,703-request cache-busting flood with no dedicated stock rule — the AI wrote and validated one</a:t>
            </a:r>
            <a:endParaRPr lang="en-US" sz="1350" dirty="0"/>
          </a:p>
        </p:txBody>
      </p:sp>
      <p:sp>
        <p:nvSpPr>
          <p:cNvPr id="15" name="Text 11"/>
          <p:cNvSpPr txBox="1"/>
          <p:nvPr/>
        </p:nvSpPr>
        <p:spPr>
          <a:xfrm>
            <a:off x="9811512" y="2560320"/>
            <a:ext cx="1645920" cy="1005840"/>
          </a:xfrm>
          <a:prstGeom prst="rect">
            <a:avLst/>
          </a:prstGeom>
          <a:noFill/>
          <a:ln/>
        </p:spPr>
        <p:txBody>
          <a:bodyPr wrap="square" lIns="0" tIns="0" rIns="0" bIns="0" rtlCol="0" anchor="ctr"/>
          <a:lstStyle/>
          <a:p>
            <a:pPr algn="r" indent="0" marL="0">
              <a:buNone/>
            </a:pPr>
            <a:r>
              <a:rPr lang="en-US" sz="1700" b="1" dirty="0">
                <a:solidFill>
                  <a:srgbClr val="D9822B"/>
                </a:solidFill>
                <a:latin typeface="Cambria" pitchFamily="34" charset="0"/>
                <a:ea typeface="Cambria" pitchFamily="34" charset="-122"/>
                <a:cs typeface="Cambria" pitchFamily="34" charset="-120"/>
              </a:rPr>
              <a:t>new detection</a:t>
            </a:r>
            <a:endParaRPr lang="en-US" sz="1700" dirty="0"/>
          </a:p>
        </p:txBody>
      </p:sp>
      <p:sp>
        <p:nvSpPr>
          <p:cNvPr id="16" name="Shape 12"/>
          <p:cNvSpPr/>
          <p:nvPr/>
        </p:nvSpPr>
        <p:spPr>
          <a:xfrm>
            <a:off x="548640" y="3977640"/>
            <a:ext cx="5440680" cy="2103120"/>
          </a:xfrm>
          <a:prstGeom prst="roundRect">
            <a:avLst>
              <a:gd name="adj" fmla="val 3478"/>
            </a:avLst>
          </a:prstGeom>
          <a:solidFill>
            <a:srgbClr val="EEF3F8"/>
          </a:solidFill>
          <a:ln w="12700">
            <a:solidFill>
              <a:srgbClr val="EEF3F8"/>
            </a:solidFill>
            <a:prstDash val="solid"/>
          </a:ln>
        </p:spPr>
      </p:sp>
      <p:sp>
        <p:nvSpPr>
          <p:cNvPr id="17" name="Shape 13"/>
          <p:cNvSpPr/>
          <p:nvPr/>
        </p:nvSpPr>
        <p:spPr>
          <a:xfrm>
            <a:off x="822960" y="4251960"/>
            <a:ext cx="548640" cy="548640"/>
          </a:xfrm>
          <a:prstGeom prst="ellipse">
            <a:avLst/>
          </a:prstGeom>
          <a:solidFill>
            <a:srgbClr val="1F4E79"/>
          </a:solidFill>
          <a:ln w="12700">
            <a:solidFill>
              <a:srgbClr val="1F4E79"/>
            </a:solidFill>
            <a:prstDash val="solid"/>
          </a:ln>
        </p:spPr>
      </p:sp>
      <p:pic>
        <p:nvPicPr>
          <p:cNvPr id="18" name="Image 2" descr="preencoded.png">    </p:cNvPr>
          <p:cNvPicPr>
            <a:picLocks noChangeAspect="1"/>
          </p:cNvPicPr>
          <p:nvPr/>
        </p:nvPicPr>
        <p:blipFill>
          <a:blip r:embed="rId3"/>
          <a:stretch>
            <a:fillRect/>
          </a:stretch>
        </p:blipFill>
        <p:spPr>
          <a:xfrm>
            <a:off x="954634" y="4383634"/>
            <a:ext cx="285293" cy="285293"/>
          </a:xfrm>
          <a:prstGeom prst="rect">
            <a:avLst/>
          </a:prstGeom>
        </p:spPr>
      </p:pic>
      <p:sp>
        <p:nvSpPr>
          <p:cNvPr id="19" name="Text 14"/>
          <p:cNvSpPr txBox="1"/>
          <p:nvPr/>
        </p:nvSpPr>
        <p:spPr>
          <a:xfrm>
            <a:off x="1554480" y="4251960"/>
            <a:ext cx="4206240" cy="548640"/>
          </a:xfrm>
          <a:prstGeom prst="rect">
            <a:avLst/>
          </a:prstGeom>
          <a:noFill/>
          <a:ln/>
        </p:spPr>
        <p:txBody>
          <a:bodyPr wrap="square" lIns="0" tIns="0" rIns="0" bIns="0" rtlCol="0" anchor="ctr"/>
          <a:lstStyle/>
          <a:p>
            <a:pPr indent="0" marL="0">
              <a:buNone/>
            </a:pPr>
            <a:r>
              <a:rPr lang="en-US" sz="1900" b="1" dirty="0">
                <a:solidFill>
                  <a:srgbClr val="0F2533"/>
                </a:solidFill>
                <a:latin typeface="Cambria" pitchFamily="34" charset="0"/>
                <a:ea typeface="Cambria" pitchFamily="34" charset="-122"/>
                <a:cs typeface="Cambria" pitchFamily="34" charset="-120"/>
              </a:rPr>
              <a:t>ARES botnet</a:t>
            </a:r>
            <a:endParaRPr lang="en-US" sz="1900" dirty="0"/>
          </a:p>
        </p:txBody>
      </p:sp>
      <p:sp>
        <p:nvSpPr>
          <p:cNvPr id="20" name="Text 15"/>
          <p:cNvSpPr txBox="1"/>
          <p:nvPr/>
        </p:nvSpPr>
        <p:spPr>
          <a:xfrm>
            <a:off x="822960" y="4892040"/>
            <a:ext cx="3291840" cy="1097280"/>
          </a:xfrm>
          <a:prstGeom prst="rect">
            <a:avLst/>
          </a:prstGeom>
          <a:noFill/>
          <a:ln/>
        </p:spPr>
        <p:txBody>
          <a:bodyPr wrap="square" lIns="0" tIns="0" rIns="0" bIns="0" rtlCol="0" anchor="t"/>
          <a:lstStyle/>
          <a:p>
            <a:pPr indent="0" marL="0">
              <a:buNone/>
            </a:pPr>
            <a:r>
              <a:rPr lang="en-US" sz="1350" dirty="0">
                <a:solidFill>
                  <a:srgbClr val="0F2533"/>
                </a:solidFill>
                <a:latin typeface="Calibri" pitchFamily="34" charset="0"/>
                <a:ea typeface="Calibri" pitchFamily="34" charset="-122"/>
                <a:cs typeface="Calibri" pitchFamily="34" charset="-120"/>
              </a:rPr>
              <a:t>Five infected hosts polling a C2 server; listed as undetected in our interim report, found later by the model</a:t>
            </a:r>
            <a:endParaRPr lang="en-US" sz="1350" dirty="0"/>
          </a:p>
        </p:txBody>
      </p:sp>
      <p:sp>
        <p:nvSpPr>
          <p:cNvPr id="21" name="Text 16"/>
          <p:cNvSpPr txBox="1"/>
          <p:nvPr/>
        </p:nvSpPr>
        <p:spPr>
          <a:xfrm>
            <a:off x="4160520" y="4892040"/>
            <a:ext cx="1645920" cy="1005840"/>
          </a:xfrm>
          <a:prstGeom prst="rect">
            <a:avLst/>
          </a:prstGeom>
          <a:noFill/>
          <a:ln/>
        </p:spPr>
        <p:txBody>
          <a:bodyPr wrap="square" lIns="0" tIns="0" rIns="0" bIns="0" rtlCol="0" anchor="ctr"/>
          <a:lstStyle/>
          <a:p>
            <a:pPr algn="r" indent="0" marL="0">
              <a:buNone/>
            </a:pPr>
            <a:r>
              <a:rPr lang="en-US" sz="1700" b="1" dirty="0">
                <a:solidFill>
                  <a:srgbClr val="D9822B"/>
                </a:solidFill>
                <a:latin typeface="Cambria" pitchFamily="34" charset="0"/>
                <a:ea typeface="Cambria" pitchFamily="34" charset="-122"/>
                <a:cs typeface="Cambria" pitchFamily="34" charset="-120"/>
              </a:rPr>
              <a:t>15 / 15 alerts on Bot flows</a:t>
            </a:r>
            <a:endParaRPr lang="en-US" sz="1700" dirty="0"/>
          </a:p>
        </p:txBody>
      </p:sp>
      <p:sp>
        <p:nvSpPr>
          <p:cNvPr id="22" name="Shape 17"/>
          <p:cNvSpPr/>
          <p:nvPr/>
        </p:nvSpPr>
        <p:spPr>
          <a:xfrm>
            <a:off x="6199632" y="3977640"/>
            <a:ext cx="5440680" cy="2103120"/>
          </a:xfrm>
          <a:prstGeom prst="roundRect">
            <a:avLst>
              <a:gd name="adj" fmla="val 3478"/>
            </a:avLst>
          </a:prstGeom>
          <a:solidFill>
            <a:srgbClr val="EEF3F8"/>
          </a:solidFill>
          <a:ln w="12700">
            <a:solidFill>
              <a:srgbClr val="EEF3F8"/>
            </a:solidFill>
            <a:prstDash val="solid"/>
          </a:ln>
        </p:spPr>
      </p:sp>
      <p:sp>
        <p:nvSpPr>
          <p:cNvPr id="23" name="Shape 18"/>
          <p:cNvSpPr/>
          <p:nvPr/>
        </p:nvSpPr>
        <p:spPr>
          <a:xfrm>
            <a:off x="6473952" y="4251960"/>
            <a:ext cx="548640" cy="548640"/>
          </a:xfrm>
          <a:prstGeom prst="ellipse">
            <a:avLst/>
          </a:prstGeom>
          <a:solidFill>
            <a:srgbClr val="D9822B"/>
          </a:solidFill>
          <a:ln w="12700">
            <a:solidFill>
              <a:srgbClr val="D9822B"/>
            </a:solidFill>
            <a:prstDash val="solid"/>
          </a:ln>
        </p:spPr>
      </p:sp>
      <p:pic>
        <p:nvPicPr>
          <p:cNvPr id="24" name="Image 3" descr="preencoded.png">    </p:cNvPr>
          <p:cNvPicPr>
            <a:picLocks noChangeAspect="1"/>
          </p:cNvPicPr>
          <p:nvPr/>
        </p:nvPicPr>
        <p:blipFill>
          <a:blip r:embed="rId4"/>
          <a:stretch>
            <a:fillRect/>
          </a:stretch>
        </p:blipFill>
        <p:spPr>
          <a:xfrm>
            <a:off x="6605626" y="4383634"/>
            <a:ext cx="285293" cy="285293"/>
          </a:xfrm>
          <a:prstGeom prst="rect">
            <a:avLst/>
          </a:prstGeom>
        </p:spPr>
      </p:pic>
      <p:sp>
        <p:nvSpPr>
          <p:cNvPr id="25" name="Text 19"/>
          <p:cNvSpPr txBox="1"/>
          <p:nvPr/>
        </p:nvSpPr>
        <p:spPr>
          <a:xfrm>
            <a:off x="7205472" y="4251960"/>
            <a:ext cx="4206240" cy="548640"/>
          </a:xfrm>
          <a:prstGeom prst="rect">
            <a:avLst/>
          </a:prstGeom>
          <a:noFill/>
          <a:ln/>
        </p:spPr>
        <p:txBody>
          <a:bodyPr wrap="square" lIns="0" tIns="0" rIns="0" bIns="0" rtlCol="0" anchor="ctr"/>
          <a:lstStyle/>
          <a:p>
            <a:pPr indent="0" marL="0">
              <a:buNone/>
            </a:pPr>
            <a:r>
              <a:rPr lang="en-US" sz="1900" b="1" dirty="0">
                <a:solidFill>
                  <a:srgbClr val="0F2533"/>
                </a:solidFill>
                <a:latin typeface="Cambria" pitchFamily="34" charset="0"/>
                <a:ea typeface="Cambria" pitchFamily="34" charset="-122"/>
                <a:cs typeface="Cambria" pitchFamily="34" charset="-120"/>
              </a:rPr>
              <a:t>SSH brute force</a:t>
            </a:r>
            <a:endParaRPr lang="en-US" sz="1900" dirty="0"/>
          </a:p>
        </p:txBody>
      </p:sp>
      <p:sp>
        <p:nvSpPr>
          <p:cNvPr id="26" name="Text 20"/>
          <p:cNvSpPr txBox="1"/>
          <p:nvPr/>
        </p:nvSpPr>
        <p:spPr>
          <a:xfrm>
            <a:off x="6473952" y="4892040"/>
            <a:ext cx="3291840" cy="1097280"/>
          </a:xfrm>
          <a:prstGeom prst="rect">
            <a:avLst/>
          </a:prstGeom>
          <a:noFill/>
          <a:ln/>
        </p:spPr>
        <p:txBody>
          <a:bodyPr wrap="square" lIns="0" tIns="0" rIns="0" bIns="0" rtlCol="0" anchor="t"/>
          <a:lstStyle/>
          <a:p>
            <a:pPr indent="0" marL="0">
              <a:buNone/>
            </a:pPr>
            <a:r>
              <a:rPr lang="en-US" sz="1350" dirty="0">
                <a:solidFill>
                  <a:srgbClr val="0F2533"/>
                </a:solidFill>
                <a:latin typeface="Calibri" pitchFamily="34" charset="0"/>
                <a:ea typeface="Calibri" pitchFamily="34" charset="-122"/>
                <a:cs typeface="Calibri" pitchFamily="34" charset="-120"/>
              </a:rPr>
              <a:t>A client-fingerprint rule for the Paramiko toolkit, with no false positives</a:t>
            </a:r>
            <a:endParaRPr lang="en-US" sz="1350" dirty="0"/>
          </a:p>
        </p:txBody>
      </p:sp>
      <p:sp>
        <p:nvSpPr>
          <p:cNvPr id="27" name="Text 21"/>
          <p:cNvSpPr txBox="1"/>
          <p:nvPr/>
        </p:nvSpPr>
        <p:spPr>
          <a:xfrm>
            <a:off x="9811512" y="4892040"/>
            <a:ext cx="1645920" cy="1005840"/>
          </a:xfrm>
          <a:prstGeom prst="rect">
            <a:avLst/>
          </a:prstGeom>
          <a:noFill/>
          <a:ln/>
        </p:spPr>
        <p:txBody>
          <a:bodyPr wrap="square" lIns="0" tIns="0" rIns="0" bIns="0" rtlCol="0" anchor="ctr"/>
          <a:lstStyle/>
          <a:p>
            <a:pPr algn="r" indent="0" marL="0">
              <a:buNone/>
            </a:pPr>
            <a:r>
              <a:rPr lang="en-US" sz="1700" b="1" dirty="0">
                <a:solidFill>
                  <a:srgbClr val="D9822B"/>
                </a:solidFill>
                <a:latin typeface="Cambria" pitchFamily="34" charset="0"/>
                <a:ea typeface="Cambria" pitchFamily="34" charset="-122"/>
                <a:cs typeface="Cambria" pitchFamily="34" charset="-120"/>
              </a:rPr>
              <a:t>1.0% → 28.4% of flows</a:t>
            </a:r>
            <a:endParaRPr lang="en-US" sz="1700" dirty="0"/>
          </a:p>
        </p:txBody>
      </p:sp>
      <p:sp>
        <p:nvSpPr>
          <p:cNvPr id="28" name="Text 22"/>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Irab  ·  results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Experiment 1: what context does the model need?</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Same captures (UNSW 1, 3, 10): full sensor context versus alert events only</a:t>
            </a:r>
            <a:endParaRPr lang="en-US" sz="1600" dirty="0"/>
          </a:p>
        </p:txBody>
      </p:sp>
      <p:pic>
        <p:nvPicPr>
          <p:cNvPr id="4" name="Image 0" descr="/home/bigyan/capstone-ids/docs/figures/fig5-6_experiment1.png">    </p:cNvPr>
          <p:cNvPicPr>
            <a:picLocks noChangeAspect="1"/>
          </p:cNvPicPr>
          <p:nvPr/>
        </p:nvPicPr>
        <p:blipFill>
          <a:blip r:embed="rId1"/>
          <a:srcRect l="0" r="0" t="0" b="0"/>
          <a:stretch/>
        </p:blipFill>
        <p:spPr>
          <a:xfrm>
            <a:off x="548640" y="1600200"/>
            <a:ext cx="7498080" cy="4206240"/>
          </a:xfrm>
          <a:prstGeom prst="rect">
            <a:avLst/>
          </a:prstGeom>
        </p:spPr>
      </p:pic>
      <p:sp>
        <p:nvSpPr>
          <p:cNvPr id="5" name="Shape 2"/>
          <p:cNvSpPr/>
          <p:nvPr/>
        </p:nvSpPr>
        <p:spPr>
          <a:xfrm>
            <a:off x="8321040" y="1691640"/>
            <a:ext cx="3319272" cy="2057400"/>
          </a:xfrm>
          <a:prstGeom prst="roundRect">
            <a:avLst>
              <a:gd name="adj" fmla="val 3556"/>
            </a:avLst>
          </a:prstGeom>
          <a:solidFill>
            <a:srgbClr val="EEF3F8"/>
          </a:solidFill>
          <a:ln w="12700">
            <a:solidFill>
              <a:srgbClr val="EEF3F8"/>
            </a:solidFill>
            <a:prstDash val="solid"/>
          </a:ln>
        </p:spPr>
      </p:sp>
      <p:sp>
        <p:nvSpPr>
          <p:cNvPr id="6" name="Text 3"/>
          <p:cNvSpPr txBox="1"/>
          <p:nvPr/>
        </p:nvSpPr>
        <p:spPr>
          <a:xfrm>
            <a:off x="8503920" y="1810512"/>
            <a:ext cx="3017520" cy="411480"/>
          </a:xfrm>
          <a:prstGeom prst="rect">
            <a:avLst/>
          </a:prstGeom>
          <a:noFill/>
          <a:ln/>
        </p:spPr>
        <p:txBody>
          <a:bodyPr wrap="square" lIns="0" tIns="0" rIns="0" bIns="0" rtlCol="0" anchor="t"/>
          <a:lstStyle/>
          <a:p>
            <a:pPr indent="0" marL="0">
              <a:buNone/>
            </a:pPr>
            <a:r>
              <a:rPr lang="en-US" sz="1600" b="1" dirty="0">
                <a:solidFill>
                  <a:srgbClr val="0F2533"/>
                </a:solidFill>
                <a:latin typeface="Cambria" pitchFamily="34" charset="0"/>
                <a:ea typeface="Cambria" pitchFamily="34" charset="-122"/>
                <a:cs typeface="Cambria" pitchFamily="34" charset="-120"/>
              </a:rPr>
              <a:t>Breadth without context</a:t>
            </a:r>
            <a:endParaRPr lang="en-US" sz="1600" dirty="0"/>
          </a:p>
        </p:txBody>
      </p:sp>
      <p:sp>
        <p:nvSpPr>
          <p:cNvPr id="7" name="Text 4"/>
          <p:cNvSpPr txBox="1"/>
          <p:nvPr/>
        </p:nvSpPr>
        <p:spPr>
          <a:xfrm>
            <a:off x="8503920" y="2240280"/>
            <a:ext cx="3017520" cy="1371600"/>
          </a:xfrm>
          <a:prstGeom prst="rect">
            <a:avLst/>
          </a:prstGeom>
          <a:noFill/>
          <a:ln/>
        </p:spPr>
        <p:txBody>
          <a:bodyPr wrap="square" lIns="0" tIns="0" rIns="0" bIns="0" rtlCol="0" anchor="t"/>
          <a:lstStyle/>
          <a:p>
            <a:pPr indent="0" marL="0">
              <a:buNone/>
            </a:pPr>
            <a:r>
              <a:rPr lang="en-US" sz="1350" dirty="0">
                <a:solidFill>
                  <a:srgbClr val="0F2533"/>
                </a:solidFill>
                <a:latin typeface="Calibri" pitchFamily="34" charset="0"/>
                <a:ea typeface="Calibri" pitchFamily="34" charset="-122"/>
                <a:cs typeface="Calibri" pitchFamily="34" charset="-120"/>
              </a:rPr>
              <a:t>Alerts alone were enough to spot the attacks — 7 categories vs 6.</a:t>
            </a:r>
            <a:endParaRPr lang="en-US" sz="1350" dirty="0"/>
          </a:p>
        </p:txBody>
      </p:sp>
      <p:sp>
        <p:nvSpPr>
          <p:cNvPr id="8" name="Shape 5"/>
          <p:cNvSpPr/>
          <p:nvPr/>
        </p:nvSpPr>
        <p:spPr>
          <a:xfrm>
            <a:off x="8321040" y="3931920"/>
            <a:ext cx="3319272" cy="2240280"/>
          </a:xfrm>
          <a:prstGeom prst="roundRect">
            <a:avLst>
              <a:gd name="adj" fmla="val 3265"/>
            </a:avLst>
          </a:prstGeom>
          <a:solidFill>
            <a:srgbClr val="0F2533"/>
          </a:solidFill>
          <a:ln w="12700">
            <a:solidFill>
              <a:srgbClr val="0F2533"/>
            </a:solidFill>
            <a:prstDash val="solid"/>
          </a:ln>
        </p:spPr>
      </p:sp>
      <p:sp>
        <p:nvSpPr>
          <p:cNvPr id="9" name="Text 6"/>
          <p:cNvSpPr txBox="1"/>
          <p:nvPr/>
        </p:nvSpPr>
        <p:spPr>
          <a:xfrm>
            <a:off x="8503920" y="4050792"/>
            <a:ext cx="3017520" cy="411480"/>
          </a:xfrm>
          <a:prstGeom prst="rect">
            <a:avLst/>
          </a:prstGeom>
          <a:noFill/>
          <a:ln/>
        </p:spPr>
        <p:txBody>
          <a:bodyPr wrap="square" lIns="0" tIns="0" rIns="0" bIns="0" rtlCol="0" anchor="t"/>
          <a:lstStyle/>
          <a:p>
            <a:pPr indent="0" marL="0">
              <a:buNone/>
            </a:pPr>
            <a:r>
              <a:rPr lang="en-US" sz="1600" b="1" dirty="0">
                <a:solidFill>
                  <a:srgbClr val="D9822B"/>
                </a:solidFill>
                <a:latin typeface="Cambria" pitchFamily="34" charset="0"/>
                <a:ea typeface="Cambria" pitchFamily="34" charset="-122"/>
                <a:cs typeface="Cambria" pitchFamily="34" charset="-120"/>
              </a:rPr>
              <a:t>Depth with it</a:t>
            </a:r>
            <a:endParaRPr lang="en-US" sz="1600" dirty="0"/>
          </a:p>
        </p:txBody>
      </p:sp>
      <p:sp>
        <p:nvSpPr>
          <p:cNvPr id="10" name="Text 7"/>
          <p:cNvSpPr txBox="1"/>
          <p:nvPr/>
        </p:nvSpPr>
        <p:spPr>
          <a:xfrm>
            <a:off x="8503920" y="4480560"/>
            <a:ext cx="3017520" cy="16002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Only full context showed whether attacks succeeded: 52 evidence-backed outcome statements vs 9.</a:t>
            </a:r>
            <a:endParaRPr lang="en-US" sz="1350" dirty="0"/>
          </a:p>
        </p:txBody>
      </p:sp>
      <p:sp>
        <p:nvSpPr>
          <p:cNvPr id="11" name="Text 8"/>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Shashwat  ·  Experiment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But its errors were confident</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Why the model cannot be left unsupervised — every error below was reported as a success</a:t>
            </a:r>
            <a:endParaRPr lang="en-US" sz="1600" dirty="0"/>
          </a:p>
        </p:txBody>
      </p:sp>
      <p:sp>
        <p:nvSpPr>
          <p:cNvPr id="4" name="Shape 2"/>
          <p:cNvSpPr/>
          <p:nvPr/>
        </p:nvSpPr>
        <p:spPr>
          <a:xfrm>
            <a:off x="548640" y="1737360"/>
            <a:ext cx="548640" cy="548640"/>
          </a:xfrm>
          <a:prstGeom prst="ellipse">
            <a:avLst/>
          </a:prstGeom>
          <a:solidFill>
            <a:srgbClr val="B03A2E"/>
          </a:solidFill>
          <a:ln w="12700">
            <a:solidFill>
              <a:srgbClr val="B03A2E"/>
            </a:solidFill>
            <a:prstDash val="solid"/>
          </a:ln>
        </p:spPr>
      </p:sp>
      <p:pic>
        <p:nvPicPr>
          <p:cNvPr id="5" name="Image 0" descr="preencoded.png">    </p:cNvPr>
          <p:cNvPicPr>
            <a:picLocks noChangeAspect="1"/>
          </p:cNvPicPr>
          <p:nvPr/>
        </p:nvPicPr>
        <p:blipFill>
          <a:blip r:embed="rId1"/>
          <a:stretch>
            <a:fillRect/>
          </a:stretch>
        </p:blipFill>
        <p:spPr>
          <a:xfrm>
            <a:off x="680314" y="1869034"/>
            <a:ext cx="285293" cy="285293"/>
          </a:xfrm>
          <a:prstGeom prst="rect">
            <a:avLst/>
          </a:prstGeom>
        </p:spPr>
      </p:pic>
      <p:sp>
        <p:nvSpPr>
          <p:cNvPr id="6" name="Text 3"/>
          <p:cNvSpPr txBox="1"/>
          <p:nvPr/>
        </p:nvSpPr>
        <p:spPr>
          <a:xfrm>
            <a:off x="1280160" y="1645920"/>
            <a:ext cx="3291840" cy="731520"/>
          </a:xfrm>
          <a:prstGeom prst="rect">
            <a:avLst/>
          </a:prstGeom>
          <a:noFill/>
          <a:ln/>
        </p:spPr>
        <p:txBody>
          <a:bodyPr wrap="square" lIns="0" tIns="0" rIns="0" bIns="0" rtlCol="0" anchor="ctr"/>
          <a:lstStyle/>
          <a:p>
            <a:pPr indent="0" marL="0">
              <a:buNone/>
            </a:pPr>
            <a:r>
              <a:rPr lang="en-US" sz="1700" b="1" dirty="0">
                <a:solidFill>
                  <a:srgbClr val="0F2533"/>
                </a:solidFill>
                <a:latin typeface="Cambria" pitchFamily="34" charset="0"/>
                <a:ea typeface="Cambria" pitchFamily="34" charset="-122"/>
                <a:cs typeface="Cambria" pitchFamily="34" charset="-120"/>
              </a:rPr>
              <a:t>Deleted two of its best rules</a:t>
            </a:r>
            <a:endParaRPr lang="en-US" sz="1700" dirty="0"/>
          </a:p>
        </p:txBody>
      </p:sp>
      <p:sp>
        <p:nvSpPr>
          <p:cNvPr id="7" name="Text 4"/>
          <p:cNvSpPr txBox="1"/>
          <p:nvPr/>
        </p:nvSpPr>
        <p:spPr>
          <a:xfrm>
            <a:off x="4572000" y="1645920"/>
            <a:ext cx="3291840" cy="731520"/>
          </a:xfrm>
          <a:prstGeom prst="rect">
            <a:avLst/>
          </a:prstGeom>
          <a:noFill/>
          <a:ln/>
        </p:spPr>
        <p:txBody>
          <a:bodyPr wrap="square" lIns="0" tIns="0" rIns="0" bIns="0" rtlCol="0" anchor="ctr"/>
          <a:lstStyle/>
          <a:p>
            <a:pPr indent="0" marL="0">
              <a:buNone/>
            </a:pPr>
            <a:r>
              <a:rPr lang="en-US" sz="1350" dirty="0">
                <a:solidFill>
                  <a:srgbClr val="5B6B7A"/>
                </a:solidFill>
                <a:latin typeface="Calibri" pitchFamily="34" charset="0"/>
                <a:ea typeface="Calibri" pitchFamily="34" charset="-122"/>
                <a:cs typeface="Calibri" pitchFamily="34" charset="-120"/>
              </a:rPr>
              <a:t>claiming they were stock ET rules — they were not (a hallucinated fact)</a:t>
            </a:r>
            <a:endParaRPr lang="en-US" sz="1350" dirty="0"/>
          </a:p>
        </p:txBody>
      </p:sp>
      <p:sp>
        <p:nvSpPr>
          <p:cNvPr id="8" name="Shape 5"/>
          <p:cNvSpPr/>
          <p:nvPr/>
        </p:nvSpPr>
        <p:spPr>
          <a:xfrm>
            <a:off x="548640" y="2651760"/>
            <a:ext cx="548640" cy="548640"/>
          </a:xfrm>
          <a:prstGeom prst="ellipse">
            <a:avLst/>
          </a:prstGeom>
          <a:solidFill>
            <a:srgbClr val="1F4E79"/>
          </a:solidFill>
          <a:ln w="12700">
            <a:solidFill>
              <a:srgbClr val="1F4E79"/>
            </a:solidFill>
            <a:prstDash val="solid"/>
          </a:ln>
        </p:spPr>
      </p:sp>
      <p:pic>
        <p:nvPicPr>
          <p:cNvPr id="9" name="Image 1" descr="preencoded.png">    </p:cNvPr>
          <p:cNvPicPr>
            <a:picLocks noChangeAspect="1"/>
          </p:cNvPicPr>
          <p:nvPr/>
        </p:nvPicPr>
        <p:blipFill>
          <a:blip r:embed="rId2"/>
          <a:stretch>
            <a:fillRect/>
          </a:stretch>
        </p:blipFill>
        <p:spPr>
          <a:xfrm>
            <a:off x="680314" y="2783434"/>
            <a:ext cx="285293" cy="285293"/>
          </a:xfrm>
          <a:prstGeom prst="rect">
            <a:avLst/>
          </a:prstGeom>
        </p:spPr>
      </p:pic>
      <p:sp>
        <p:nvSpPr>
          <p:cNvPr id="10" name="Text 6"/>
          <p:cNvSpPr txBox="1"/>
          <p:nvPr/>
        </p:nvSpPr>
        <p:spPr>
          <a:xfrm>
            <a:off x="1280160" y="2560320"/>
            <a:ext cx="3291840" cy="731520"/>
          </a:xfrm>
          <a:prstGeom prst="rect">
            <a:avLst/>
          </a:prstGeom>
          <a:noFill/>
          <a:ln/>
        </p:spPr>
        <p:txBody>
          <a:bodyPr wrap="square" lIns="0" tIns="0" rIns="0" bIns="0" rtlCol="0" anchor="ctr"/>
          <a:lstStyle/>
          <a:p>
            <a:pPr indent="0" marL="0">
              <a:buNone/>
            </a:pPr>
            <a:r>
              <a:rPr lang="en-US" sz="1700" b="1" dirty="0">
                <a:solidFill>
                  <a:srgbClr val="0F2533"/>
                </a:solidFill>
                <a:latin typeface="Cambria" pitchFamily="34" charset="0"/>
                <a:ea typeface="Cambria" pitchFamily="34" charset="-122"/>
                <a:cs typeface="Cambria" pitchFamily="34" charset="-120"/>
              </a:rPr>
              <a:t>Rules that never work</a:t>
            </a:r>
            <a:endParaRPr lang="en-US" sz="1700" dirty="0"/>
          </a:p>
        </p:txBody>
      </p:sp>
      <p:sp>
        <p:nvSpPr>
          <p:cNvPr id="11" name="Text 7"/>
          <p:cNvSpPr txBox="1"/>
          <p:nvPr/>
        </p:nvSpPr>
        <p:spPr>
          <a:xfrm>
            <a:off x="4572000" y="2560320"/>
            <a:ext cx="3291840" cy="731520"/>
          </a:xfrm>
          <a:prstGeom prst="rect">
            <a:avLst/>
          </a:prstGeom>
          <a:noFill/>
          <a:ln/>
        </p:spPr>
        <p:txBody>
          <a:bodyPr wrap="square" lIns="0" tIns="0" rIns="0" bIns="0" rtlCol="0" anchor="ctr"/>
          <a:lstStyle/>
          <a:p>
            <a:pPr indent="0" marL="0">
              <a:buNone/>
            </a:pPr>
            <a:r>
              <a:rPr lang="en-US" sz="1350" dirty="0">
                <a:solidFill>
                  <a:srgbClr val="5B6B7A"/>
                </a:solidFill>
                <a:latin typeface="Calibri" pitchFamily="34" charset="0"/>
                <a:ea typeface="Calibri" pitchFamily="34" charset="-122"/>
                <a:cs typeface="Calibri" pitchFamily="34" charset="-120"/>
              </a:rPr>
              <a:t>3 rules Suricata rejects, 1 that can never fire — reported as validated</a:t>
            </a:r>
            <a:endParaRPr lang="en-US" sz="1350" dirty="0"/>
          </a:p>
        </p:txBody>
      </p:sp>
      <p:sp>
        <p:nvSpPr>
          <p:cNvPr id="12" name="Shape 8"/>
          <p:cNvSpPr/>
          <p:nvPr/>
        </p:nvSpPr>
        <p:spPr>
          <a:xfrm>
            <a:off x="548640" y="3566160"/>
            <a:ext cx="548640" cy="548640"/>
          </a:xfrm>
          <a:prstGeom prst="ellipse">
            <a:avLst/>
          </a:prstGeom>
          <a:solidFill>
            <a:srgbClr val="1F4E79"/>
          </a:solidFill>
          <a:ln w="12700">
            <a:solidFill>
              <a:srgbClr val="1F4E79"/>
            </a:solidFill>
            <a:prstDash val="solid"/>
          </a:ln>
        </p:spPr>
      </p:sp>
      <p:pic>
        <p:nvPicPr>
          <p:cNvPr id="13" name="Image 2" descr="preencoded.png">    </p:cNvPr>
          <p:cNvPicPr>
            <a:picLocks noChangeAspect="1"/>
          </p:cNvPicPr>
          <p:nvPr/>
        </p:nvPicPr>
        <p:blipFill>
          <a:blip r:embed="rId3"/>
          <a:stretch>
            <a:fillRect/>
          </a:stretch>
        </p:blipFill>
        <p:spPr>
          <a:xfrm>
            <a:off x="680314" y="3697834"/>
            <a:ext cx="285293" cy="285293"/>
          </a:xfrm>
          <a:prstGeom prst="rect">
            <a:avLst/>
          </a:prstGeom>
        </p:spPr>
      </p:pic>
      <p:sp>
        <p:nvSpPr>
          <p:cNvPr id="14" name="Text 9"/>
          <p:cNvSpPr txBox="1"/>
          <p:nvPr/>
        </p:nvSpPr>
        <p:spPr>
          <a:xfrm>
            <a:off x="1280160" y="3474720"/>
            <a:ext cx="3291840" cy="731520"/>
          </a:xfrm>
          <a:prstGeom prst="rect">
            <a:avLst/>
          </a:prstGeom>
          <a:noFill/>
          <a:ln/>
        </p:spPr>
        <p:txBody>
          <a:bodyPr wrap="square" lIns="0" tIns="0" rIns="0" bIns="0" rtlCol="0" anchor="ctr"/>
          <a:lstStyle/>
          <a:p>
            <a:pPr indent="0" marL="0">
              <a:buNone/>
            </a:pPr>
            <a:r>
              <a:rPr lang="en-US" sz="1700" b="1" dirty="0">
                <a:solidFill>
                  <a:srgbClr val="0F2533"/>
                </a:solidFill>
                <a:latin typeface="Cambria" pitchFamily="34" charset="0"/>
                <a:ea typeface="Cambria" pitchFamily="34" charset="-122"/>
                <a:cs typeface="Cambria" pitchFamily="34" charset="-120"/>
              </a:rPr>
              <a:t>Misread normal traffic</a:t>
            </a:r>
            <a:endParaRPr lang="en-US" sz="1700" dirty="0"/>
          </a:p>
        </p:txBody>
      </p:sp>
      <p:sp>
        <p:nvSpPr>
          <p:cNvPr id="15" name="Text 10"/>
          <p:cNvSpPr txBox="1"/>
          <p:nvPr/>
        </p:nvSpPr>
        <p:spPr>
          <a:xfrm>
            <a:off x="4572000" y="3474720"/>
            <a:ext cx="3291840" cy="731520"/>
          </a:xfrm>
          <a:prstGeom prst="rect">
            <a:avLst/>
          </a:prstGeom>
          <a:noFill/>
          <a:ln/>
        </p:spPr>
        <p:txBody>
          <a:bodyPr wrap="square" lIns="0" tIns="0" rIns="0" bIns="0" rtlCol="0" anchor="ctr"/>
          <a:lstStyle/>
          <a:p>
            <a:pPr indent="0" marL="0">
              <a:buNone/>
            </a:pPr>
            <a:r>
              <a:rPr lang="en-US" sz="1350" dirty="0">
                <a:solidFill>
                  <a:srgbClr val="5B6B7A"/>
                </a:solidFill>
                <a:latin typeface="Calibri" pitchFamily="34" charset="0"/>
                <a:ea typeface="Calibri" pitchFamily="34" charset="-122"/>
                <a:cs typeface="Calibri" pitchFamily="34" charset="-120"/>
              </a:rPr>
              <a:t>routine FTP uploads from every workstation reported as data exfiltration</a:t>
            </a:r>
            <a:endParaRPr lang="en-US" sz="1350" dirty="0"/>
          </a:p>
        </p:txBody>
      </p:sp>
      <p:sp>
        <p:nvSpPr>
          <p:cNvPr id="16" name="Shape 11"/>
          <p:cNvSpPr/>
          <p:nvPr/>
        </p:nvSpPr>
        <p:spPr>
          <a:xfrm>
            <a:off x="548640" y="4480560"/>
            <a:ext cx="548640" cy="548640"/>
          </a:xfrm>
          <a:prstGeom prst="ellipse">
            <a:avLst/>
          </a:prstGeom>
          <a:solidFill>
            <a:srgbClr val="1F4E79"/>
          </a:solidFill>
          <a:ln w="12700">
            <a:solidFill>
              <a:srgbClr val="1F4E79"/>
            </a:solidFill>
            <a:prstDash val="solid"/>
          </a:ln>
        </p:spPr>
      </p:sp>
      <p:pic>
        <p:nvPicPr>
          <p:cNvPr id="17" name="Image 3" descr="preencoded.png">    </p:cNvPr>
          <p:cNvPicPr>
            <a:picLocks noChangeAspect="1"/>
          </p:cNvPicPr>
          <p:nvPr/>
        </p:nvPicPr>
        <p:blipFill>
          <a:blip r:embed="rId4"/>
          <a:stretch>
            <a:fillRect/>
          </a:stretch>
        </p:blipFill>
        <p:spPr>
          <a:xfrm>
            <a:off x="680314" y="4612234"/>
            <a:ext cx="285293" cy="285293"/>
          </a:xfrm>
          <a:prstGeom prst="rect">
            <a:avLst/>
          </a:prstGeom>
        </p:spPr>
      </p:pic>
      <p:sp>
        <p:nvSpPr>
          <p:cNvPr id="18" name="Text 12"/>
          <p:cNvSpPr txBox="1"/>
          <p:nvPr/>
        </p:nvSpPr>
        <p:spPr>
          <a:xfrm>
            <a:off x="1280160" y="4389120"/>
            <a:ext cx="3291840" cy="731520"/>
          </a:xfrm>
          <a:prstGeom prst="rect">
            <a:avLst/>
          </a:prstGeom>
          <a:noFill/>
          <a:ln/>
        </p:spPr>
        <p:txBody>
          <a:bodyPr wrap="square" lIns="0" tIns="0" rIns="0" bIns="0" rtlCol="0" anchor="ctr"/>
          <a:lstStyle/>
          <a:p>
            <a:pPr indent="0" marL="0">
              <a:buNone/>
            </a:pPr>
            <a:r>
              <a:rPr lang="en-US" sz="1700" b="1" dirty="0">
                <a:solidFill>
                  <a:srgbClr val="0F2533"/>
                </a:solidFill>
                <a:latin typeface="Cambria" pitchFamily="34" charset="0"/>
                <a:ea typeface="Cambria" pitchFamily="34" charset="-122"/>
                <a:cs typeface="Cambria" pitchFamily="34" charset="-120"/>
              </a:rPr>
              <a:t>Opposite verdicts</a:t>
            </a:r>
            <a:endParaRPr lang="en-US" sz="1700" dirty="0"/>
          </a:p>
        </p:txBody>
      </p:sp>
      <p:sp>
        <p:nvSpPr>
          <p:cNvPr id="19" name="Text 13"/>
          <p:cNvSpPr txBox="1"/>
          <p:nvPr/>
        </p:nvSpPr>
        <p:spPr>
          <a:xfrm>
            <a:off x="4572000" y="4389120"/>
            <a:ext cx="3291840" cy="731520"/>
          </a:xfrm>
          <a:prstGeom prst="rect">
            <a:avLst/>
          </a:prstGeom>
          <a:noFill/>
          <a:ln/>
        </p:spPr>
        <p:txBody>
          <a:bodyPr wrap="square" lIns="0" tIns="0" rIns="0" bIns="0" rtlCol="0" anchor="ctr"/>
          <a:lstStyle/>
          <a:p>
            <a:pPr indent="0" marL="0">
              <a:buNone/>
            </a:pPr>
            <a:r>
              <a:rPr lang="en-US" sz="1350" dirty="0">
                <a:solidFill>
                  <a:srgbClr val="5B6B7A"/>
                </a:solidFill>
                <a:latin typeface="Calibri" pitchFamily="34" charset="0"/>
                <a:ea typeface="Calibri" pitchFamily="34" charset="-122"/>
                <a:cs typeface="Calibri" pitchFamily="34" charset="-120"/>
              </a:rPr>
              <a:t>same evidence, different runs: 5 said true positive, 1 said suppress</a:t>
            </a:r>
            <a:endParaRPr lang="en-US" sz="1350" dirty="0"/>
          </a:p>
        </p:txBody>
      </p:sp>
      <p:sp>
        <p:nvSpPr>
          <p:cNvPr id="20" name="Shape 14"/>
          <p:cNvSpPr/>
          <p:nvPr/>
        </p:nvSpPr>
        <p:spPr>
          <a:xfrm>
            <a:off x="8138160" y="1645920"/>
            <a:ext cx="3502152" cy="3566160"/>
          </a:xfrm>
          <a:prstGeom prst="roundRect">
            <a:avLst>
              <a:gd name="adj" fmla="val 2089"/>
            </a:avLst>
          </a:prstGeom>
          <a:solidFill>
            <a:srgbClr val="EEF3F8"/>
          </a:solidFill>
          <a:ln w="12700">
            <a:solidFill>
              <a:srgbClr val="EEF3F8"/>
            </a:solidFill>
            <a:prstDash val="solid"/>
          </a:ln>
        </p:spPr>
      </p:sp>
      <p:sp>
        <p:nvSpPr>
          <p:cNvPr id="21" name="Text 15"/>
          <p:cNvSpPr txBox="1"/>
          <p:nvPr/>
        </p:nvSpPr>
        <p:spPr>
          <a:xfrm>
            <a:off x="8366760" y="1783080"/>
            <a:ext cx="3108960" cy="777240"/>
          </a:xfrm>
          <a:prstGeom prst="rect">
            <a:avLst/>
          </a:prstGeom>
          <a:noFill/>
          <a:ln/>
        </p:spPr>
        <p:txBody>
          <a:bodyPr wrap="square" lIns="0" tIns="0" rIns="0" bIns="0" rtlCol="0" anchor="b"/>
          <a:lstStyle/>
          <a:p>
            <a:pPr indent="0" marL="0">
              <a:buNone/>
            </a:pPr>
            <a:r>
              <a:rPr lang="en-US" sz="4000" b="1" dirty="0">
                <a:solidFill>
                  <a:srgbClr val="B03A2E"/>
                </a:solidFill>
                <a:latin typeface="Cambria" pitchFamily="34" charset="0"/>
                <a:ea typeface="Cambria" pitchFamily="34" charset="-122"/>
                <a:cs typeface="Cambria" pitchFamily="34" charset="-120"/>
              </a:rPr>
              <a:t>16 / 32</a:t>
            </a:r>
            <a:endParaRPr lang="en-US" sz="4000" dirty="0"/>
          </a:p>
        </p:txBody>
      </p:sp>
      <p:sp>
        <p:nvSpPr>
          <p:cNvPr id="22" name="Text 16"/>
          <p:cNvSpPr txBox="1"/>
          <p:nvPr/>
        </p:nvSpPr>
        <p:spPr>
          <a:xfrm>
            <a:off x="8366760" y="2560320"/>
            <a:ext cx="31089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CIC rules that actually fired on replay — the configuration loaded only 3 of 10 rule files</a:t>
            </a:r>
            <a:endParaRPr lang="en-US" sz="1300" dirty="0"/>
          </a:p>
        </p:txBody>
      </p:sp>
      <p:sp>
        <p:nvSpPr>
          <p:cNvPr id="23" name="Text 17"/>
          <p:cNvSpPr txBox="1"/>
          <p:nvPr/>
        </p:nvSpPr>
        <p:spPr>
          <a:xfrm>
            <a:off x="8366760" y="3429000"/>
            <a:ext cx="3108960" cy="777240"/>
          </a:xfrm>
          <a:prstGeom prst="rect">
            <a:avLst/>
          </a:prstGeom>
          <a:noFill/>
          <a:ln/>
        </p:spPr>
        <p:txBody>
          <a:bodyPr wrap="square" lIns="0" tIns="0" rIns="0" bIns="0" rtlCol="0" anchor="b"/>
          <a:lstStyle/>
          <a:p>
            <a:pPr indent="0" marL="0">
              <a:buNone/>
            </a:pPr>
            <a:r>
              <a:rPr lang="en-US" sz="4000" b="1" dirty="0">
                <a:solidFill>
                  <a:srgbClr val="1F4E79"/>
                </a:solidFill>
                <a:latin typeface="Cambria" pitchFamily="34" charset="0"/>
                <a:ea typeface="Cambria" pitchFamily="34" charset="-122"/>
                <a:cs typeface="Cambria" pitchFamily="34" charset="-120"/>
              </a:rPr>
              <a:t>18 / 18</a:t>
            </a:r>
            <a:endParaRPr lang="en-US" sz="4000" dirty="0"/>
          </a:p>
        </p:txBody>
      </p:sp>
      <p:sp>
        <p:nvSpPr>
          <p:cNvPr id="24" name="Text 18"/>
          <p:cNvSpPr txBox="1"/>
          <p:nvPr/>
        </p:nvSpPr>
        <p:spPr>
          <a:xfrm>
            <a:off x="8366760" y="4206240"/>
            <a:ext cx="310896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UNSW rules that fired, once the configuration loaded the model’s file</a:t>
            </a:r>
            <a:endParaRPr lang="en-US" sz="1300" dirty="0"/>
          </a:p>
        </p:txBody>
      </p:sp>
      <p:sp>
        <p:nvSpPr>
          <p:cNvPr id="25" name="Text 19"/>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600" i="1" dirty="0">
                <a:solidFill>
                  <a:srgbClr val="0F2533"/>
                </a:solidFill>
                <a:latin typeface="Calibri" pitchFamily="34" charset="0"/>
                <a:ea typeface="Calibri" pitchFamily="34" charset="-122"/>
                <a:cs typeface="Calibri" pitchFamily="34" charset="-120"/>
              </a:rPr>
              <a:t>An agent’s self-validation is only as good as its environment.</a:t>
            </a:r>
            <a:endParaRPr lang="en-US" sz="1600" dirty="0"/>
          </a:p>
        </p:txBody>
      </p:sp>
      <p:sp>
        <p:nvSpPr>
          <p:cNvPr id="26" name="Text 20"/>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Shashwat  ·  model errors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Against a strong baseline: what did the AI alone catch?</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UNSW baseline v2 (re-enabled rule families) detects ~25% — the bar the AI now has to clear</a:t>
            </a:r>
            <a:endParaRPr lang="en-US" sz="1600" dirty="0"/>
          </a:p>
        </p:txBody>
      </p:sp>
      <p:graphicFrame>
        <p:nvGraphicFramePr>
          <p:cNvPr id="4" name="Chart 0" descr=""/>
          <p:cNvGraphicFramePr/>
          <p:nvPr/>
        </p:nvGraphicFramePr>
        <p:xfrm>
          <a:off x="548640" y="16002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691640"/>
            <a:ext cx="3776472" cy="2148840"/>
          </a:xfrm>
          <a:prstGeom prst="roundRect">
            <a:avLst>
              <a:gd name="adj" fmla="val 3404"/>
            </a:avLst>
          </a:prstGeom>
          <a:solidFill>
            <a:srgbClr val="EEF3F8"/>
          </a:solidFill>
          <a:ln w="12700">
            <a:solidFill>
              <a:srgbClr val="EEF3F8"/>
            </a:solidFill>
            <a:prstDash val="solid"/>
          </a:ln>
        </p:spPr>
      </p:sp>
      <p:sp>
        <p:nvSpPr>
          <p:cNvPr id="6" name="Text 3"/>
          <p:cNvSpPr txBox="1"/>
          <p:nvPr/>
        </p:nvSpPr>
        <p:spPr>
          <a:xfrm>
            <a:off x="8092440" y="1810512"/>
            <a:ext cx="3383280" cy="365760"/>
          </a:xfrm>
          <a:prstGeom prst="rect">
            <a:avLst/>
          </a:prstGeom>
          <a:noFill/>
          <a:ln/>
        </p:spPr>
        <p:txBody>
          <a:bodyPr wrap="square" lIns="0" tIns="0" rIns="0" bIns="0" rtlCol="0" anchor="t"/>
          <a:lstStyle/>
          <a:p>
            <a:pPr indent="0" marL="0">
              <a:buNone/>
            </a:pPr>
            <a:r>
              <a:rPr lang="en-US" sz="1700" b="1" dirty="0">
                <a:solidFill>
                  <a:srgbClr val="0F2533"/>
                </a:solidFill>
                <a:latin typeface="Cambria" pitchFamily="34" charset="0"/>
                <a:ea typeface="Cambria" pitchFamily="34" charset="-122"/>
                <a:cs typeface="Cambria" pitchFamily="34" charset="-120"/>
              </a:rPr>
              <a:t>The topology trap</a:t>
            </a:r>
            <a:endParaRPr lang="en-US" sz="1700" dirty="0"/>
          </a:p>
        </p:txBody>
      </p:sp>
      <p:sp>
        <p:nvSpPr>
          <p:cNvPr id="7" name="Text 4"/>
          <p:cNvSpPr txBox="1"/>
          <p:nvPr/>
        </p:nvSpPr>
        <p:spPr>
          <a:xfrm>
            <a:off x="8092440" y="2212848"/>
            <a:ext cx="3383280" cy="1554480"/>
          </a:xfrm>
          <a:prstGeom prst="rect">
            <a:avLst/>
          </a:prstGeom>
          <a:noFill/>
          <a:ln/>
        </p:spPr>
        <p:txBody>
          <a:bodyPr wrap="square" lIns="0" tIns="0" rIns="0" bIns="0" rtlCol="0" anchor="t"/>
          <a:lstStyle/>
          <a:p>
            <a:pPr indent="0" marL="0">
              <a:buNone/>
            </a:pPr>
            <a:r>
              <a:rPr lang="en-US" sz="1350" dirty="0">
                <a:solidFill>
                  <a:srgbClr val="0F2533"/>
                </a:solidFill>
                <a:latin typeface="Calibri" pitchFamily="34" charset="0"/>
                <a:ea typeface="Calibri" pitchFamily="34" charset="-122"/>
                <a:cs typeface="Calibri" pitchFamily="34" charset="-120"/>
              </a:rPr>
              <a:t>“Outside host sends mail” fires on every attacker — only because in UNSW every external host is one. Not a real detection.</a:t>
            </a:r>
            <a:endParaRPr lang="en-US" sz="1350" dirty="0"/>
          </a:p>
        </p:txBody>
      </p:sp>
      <p:sp>
        <p:nvSpPr>
          <p:cNvPr id="8" name="Shape 5"/>
          <p:cNvSpPr/>
          <p:nvPr/>
        </p:nvSpPr>
        <p:spPr>
          <a:xfrm>
            <a:off x="7863840" y="4023360"/>
            <a:ext cx="3776472" cy="2148840"/>
          </a:xfrm>
          <a:prstGeom prst="roundRect">
            <a:avLst>
              <a:gd name="adj" fmla="val 3404"/>
            </a:avLst>
          </a:prstGeom>
          <a:solidFill>
            <a:srgbClr val="0F2533"/>
          </a:solidFill>
          <a:ln w="12700">
            <a:solidFill>
              <a:srgbClr val="0F2533"/>
            </a:solidFill>
            <a:prstDash val="solid"/>
          </a:ln>
        </p:spPr>
      </p:sp>
      <p:sp>
        <p:nvSpPr>
          <p:cNvPr id="9" name="Text 6"/>
          <p:cNvSpPr txBox="1"/>
          <p:nvPr/>
        </p:nvSpPr>
        <p:spPr>
          <a:xfrm>
            <a:off x="8092440" y="4142232"/>
            <a:ext cx="3383280" cy="457200"/>
          </a:xfrm>
          <a:prstGeom prst="rect">
            <a:avLst/>
          </a:prstGeom>
          <a:noFill/>
          <a:ln/>
        </p:spPr>
        <p:txBody>
          <a:bodyPr wrap="square" lIns="0" tIns="0" rIns="0" bIns="0" rtlCol="0" anchor="t"/>
          <a:lstStyle/>
          <a:p>
            <a:pPr indent="0" marL="0">
              <a:buNone/>
            </a:pPr>
            <a:r>
              <a:rPr lang="en-US" sz="1600" b="1" dirty="0">
                <a:solidFill>
                  <a:srgbClr val="D9822B"/>
                </a:solidFill>
                <a:latin typeface="Cambria" pitchFamily="34" charset="0"/>
                <a:ea typeface="Cambria" pitchFamily="34" charset="-122"/>
                <a:cs typeface="Cambria" pitchFamily="34" charset="-120"/>
              </a:rPr>
              <a:t>Hunt = a detection engineer’s workflow</a:t>
            </a:r>
            <a:endParaRPr lang="en-US" sz="1600" dirty="0"/>
          </a:p>
        </p:txBody>
      </p:sp>
      <p:sp>
        <p:nvSpPr>
          <p:cNvPr id="10" name="Text 7"/>
          <p:cNvSpPr txBox="1"/>
          <p:nvPr/>
        </p:nvSpPr>
        <p:spPr>
          <a:xfrm>
            <a:off x="8092440" y="4617720"/>
            <a:ext cx="3383280" cy="14630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Stack rare values → write a technique rule → must pass the anti-topology gate. 25 rules, 0 topology, 0 alerts on normal hosts.</a:t>
            </a:r>
            <a:endParaRPr lang="en-US" sz="1350" dirty="0"/>
          </a:p>
        </p:txBody>
      </p:sp>
      <p:sp>
        <p:nvSpPr>
          <p:cNvPr id="11" name="Text 8"/>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Shashwat  ·  analysis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We found a bug by watching the agent fail</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Hunt, capture 1, first attempt: rules passed the gate — and nothing was saved</a:t>
            </a:r>
            <a:endParaRPr lang="en-US" sz="1600" dirty="0"/>
          </a:p>
        </p:txBody>
      </p:sp>
      <p:sp>
        <p:nvSpPr>
          <p:cNvPr id="4" name="Shape 2"/>
          <p:cNvSpPr/>
          <p:nvPr/>
        </p:nvSpPr>
        <p:spPr>
          <a:xfrm>
            <a:off x="548640" y="1691640"/>
            <a:ext cx="3520440" cy="3291840"/>
          </a:xfrm>
          <a:prstGeom prst="roundRect">
            <a:avLst>
              <a:gd name="adj" fmla="val 2222"/>
            </a:avLst>
          </a:prstGeom>
          <a:solidFill>
            <a:srgbClr val="EEF3F8"/>
          </a:solidFill>
          <a:ln w="12700">
            <a:solidFill>
              <a:srgbClr val="EEF3F8"/>
            </a:solidFill>
            <a:prstDash val="solid"/>
          </a:ln>
        </p:spPr>
      </p:sp>
      <p:sp>
        <p:nvSpPr>
          <p:cNvPr id="5" name="Shape 3"/>
          <p:cNvSpPr/>
          <p:nvPr/>
        </p:nvSpPr>
        <p:spPr>
          <a:xfrm>
            <a:off x="822960" y="1920240"/>
            <a:ext cx="566928" cy="566928"/>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7" name="Text 4"/>
          <p:cNvSpPr txBox="1"/>
          <p:nvPr/>
        </p:nvSpPr>
        <p:spPr>
          <a:xfrm>
            <a:off x="1554480" y="1938528"/>
            <a:ext cx="2377440" cy="54864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Symptom</a:t>
            </a:r>
            <a:endParaRPr lang="en-US" sz="2000" dirty="0"/>
          </a:p>
        </p:txBody>
      </p:sp>
      <p:sp>
        <p:nvSpPr>
          <p:cNvPr id="8" name="Text 5"/>
          <p:cNvSpPr txBox="1"/>
          <p:nvPr/>
        </p:nvSpPr>
        <p:spPr>
          <a:xfrm>
            <a:off x="822960" y="2697480"/>
            <a:ext cx="3017520" cy="21945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100 turns, 8.4 M tokens. It re-tested rules that had already passed and never saved one. The UI showed tool calls but no reasoning.</a:t>
            </a:r>
            <a:endParaRPr lang="en-US" sz="1400" dirty="0"/>
          </a:p>
        </p:txBody>
      </p:sp>
      <p:sp>
        <p:nvSpPr>
          <p:cNvPr id="9" name="Shape 6"/>
          <p:cNvSpPr/>
          <p:nvPr/>
        </p:nvSpPr>
        <p:spPr>
          <a:xfrm>
            <a:off x="4069080" y="3337560"/>
            <a:ext cx="228600" cy="0"/>
          </a:xfrm>
          <a:prstGeom prst="line">
            <a:avLst/>
          </a:prstGeom>
          <a:noFill/>
          <a:ln w="25400">
            <a:solidFill>
              <a:srgbClr val="D9822B"/>
            </a:solidFill>
            <a:prstDash val="solid"/>
            <a:tailEnd type="triangle"/>
          </a:ln>
        </p:spPr>
      </p:sp>
      <p:sp>
        <p:nvSpPr>
          <p:cNvPr id="10" name="Shape 7"/>
          <p:cNvSpPr/>
          <p:nvPr/>
        </p:nvSpPr>
        <p:spPr>
          <a:xfrm>
            <a:off x="4297680" y="1691640"/>
            <a:ext cx="3520440" cy="3291840"/>
          </a:xfrm>
          <a:prstGeom prst="roundRect">
            <a:avLst>
              <a:gd name="adj" fmla="val 2222"/>
            </a:avLst>
          </a:prstGeom>
          <a:solidFill>
            <a:srgbClr val="EEF3F8"/>
          </a:solidFill>
          <a:ln w="12700">
            <a:solidFill>
              <a:srgbClr val="EEF3F8"/>
            </a:solidFill>
            <a:prstDash val="solid"/>
          </a:ln>
        </p:spPr>
      </p:sp>
      <p:sp>
        <p:nvSpPr>
          <p:cNvPr id="11" name="Shape 8"/>
          <p:cNvSpPr/>
          <p:nvPr/>
        </p:nvSpPr>
        <p:spPr>
          <a:xfrm>
            <a:off x="4572000" y="1920240"/>
            <a:ext cx="566928" cy="566928"/>
          </a:xfrm>
          <a:prstGeom prst="ellipse">
            <a:avLst/>
          </a:prstGeom>
          <a:solidFill>
            <a:srgbClr val="1F4E79"/>
          </a:solidFill>
          <a:ln w="12700">
            <a:solidFill>
              <a:srgbClr val="1F4E79"/>
            </a:solidFill>
            <a:prstDash val="solid"/>
          </a:ln>
        </p:spPr>
      </p:sp>
      <p:pic>
        <p:nvPicPr>
          <p:cNvPr id="12" name="Image 1" descr="preencoded.png">    </p:cNvPr>
          <p:cNvPicPr>
            <a:picLocks noChangeAspect="1"/>
          </p:cNvPicPr>
          <p:nvPr/>
        </p:nvPicPr>
        <p:blipFill>
          <a:blip r:embed="rId2"/>
          <a:stretch>
            <a:fillRect/>
          </a:stretch>
        </p:blipFill>
        <p:spPr>
          <a:xfrm>
            <a:off x="4708063" y="2056303"/>
            <a:ext cx="294803" cy="294803"/>
          </a:xfrm>
          <a:prstGeom prst="rect">
            <a:avLst/>
          </a:prstGeom>
        </p:spPr>
      </p:pic>
      <p:sp>
        <p:nvSpPr>
          <p:cNvPr id="13" name="Text 9"/>
          <p:cNvSpPr txBox="1"/>
          <p:nvPr/>
        </p:nvSpPr>
        <p:spPr>
          <a:xfrm>
            <a:off x="5303520" y="1938528"/>
            <a:ext cx="2377440" cy="54864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Diagnosis</a:t>
            </a:r>
            <a:endParaRPr lang="en-US" sz="2000" dirty="0"/>
          </a:p>
        </p:txBody>
      </p:sp>
      <p:sp>
        <p:nvSpPr>
          <p:cNvPr id="14" name="Text 10"/>
          <p:cNvSpPr txBox="1"/>
          <p:nvPr/>
        </p:nvSpPr>
        <p:spPr>
          <a:xfrm>
            <a:off x="4572000" y="2697480"/>
            <a:ext cx="3017520" cy="21945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Checked each layer — engine, server, browser, raw API. DeepSeek V4 Pro answered in thinking mode; its reasoning came back in a field our adapter ignored.</a:t>
            </a:r>
            <a:endParaRPr lang="en-US" sz="1400" dirty="0"/>
          </a:p>
        </p:txBody>
      </p:sp>
      <p:sp>
        <p:nvSpPr>
          <p:cNvPr id="15" name="Shape 11"/>
          <p:cNvSpPr/>
          <p:nvPr/>
        </p:nvSpPr>
        <p:spPr>
          <a:xfrm>
            <a:off x="7818120" y="3337560"/>
            <a:ext cx="228600" cy="0"/>
          </a:xfrm>
          <a:prstGeom prst="line">
            <a:avLst/>
          </a:prstGeom>
          <a:noFill/>
          <a:ln w="25400">
            <a:solidFill>
              <a:srgbClr val="D9822B"/>
            </a:solidFill>
            <a:prstDash val="solid"/>
            <a:tailEnd type="triangle"/>
          </a:ln>
        </p:spPr>
      </p:sp>
      <p:sp>
        <p:nvSpPr>
          <p:cNvPr id="16" name="Shape 12"/>
          <p:cNvSpPr/>
          <p:nvPr/>
        </p:nvSpPr>
        <p:spPr>
          <a:xfrm>
            <a:off x="8046720" y="1691640"/>
            <a:ext cx="3520440" cy="3291840"/>
          </a:xfrm>
          <a:prstGeom prst="roundRect">
            <a:avLst>
              <a:gd name="adj" fmla="val 2222"/>
            </a:avLst>
          </a:prstGeom>
          <a:solidFill>
            <a:srgbClr val="0F2533"/>
          </a:solidFill>
          <a:ln w="12700">
            <a:solidFill>
              <a:srgbClr val="0F2533"/>
            </a:solidFill>
            <a:prstDash val="solid"/>
          </a:ln>
        </p:spPr>
      </p:sp>
      <p:sp>
        <p:nvSpPr>
          <p:cNvPr id="17" name="Shape 13"/>
          <p:cNvSpPr/>
          <p:nvPr/>
        </p:nvSpPr>
        <p:spPr>
          <a:xfrm>
            <a:off x="8321040" y="1920240"/>
            <a:ext cx="566928" cy="566928"/>
          </a:xfrm>
          <a:prstGeom prst="ellipse">
            <a:avLst/>
          </a:prstGeom>
          <a:solidFill>
            <a:srgbClr val="D9822B"/>
          </a:solidFill>
          <a:ln w="12700">
            <a:solidFill>
              <a:srgbClr val="D9822B"/>
            </a:solidFill>
            <a:prstDash val="solid"/>
          </a:ln>
        </p:spPr>
      </p:sp>
      <p:pic>
        <p:nvPicPr>
          <p:cNvPr id="18" name="Image 2" descr="preencoded.png">    </p:cNvPr>
          <p:cNvPicPr>
            <a:picLocks noChangeAspect="1"/>
          </p:cNvPicPr>
          <p:nvPr/>
        </p:nvPicPr>
        <p:blipFill>
          <a:blip r:embed="rId3"/>
          <a:stretch>
            <a:fillRect/>
          </a:stretch>
        </p:blipFill>
        <p:spPr>
          <a:xfrm>
            <a:off x="8457103" y="2056303"/>
            <a:ext cx="294803" cy="294803"/>
          </a:xfrm>
          <a:prstGeom prst="rect">
            <a:avLst/>
          </a:prstGeom>
        </p:spPr>
      </p:pic>
      <p:sp>
        <p:nvSpPr>
          <p:cNvPr id="19" name="Text 14"/>
          <p:cNvSpPr txBox="1"/>
          <p:nvPr/>
        </p:nvSpPr>
        <p:spPr>
          <a:xfrm>
            <a:off x="9052560" y="1938528"/>
            <a:ext cx="2377440" cy="548640"/>
          </a:xfrm>
          <a:prstGeom prst="rect">
            <a:avLst/>
          </a:prstGeom>
          <a:noFill/>
          <a:ln/>
        </p:spPr>
        <p:txBody>
          <a:bodyPr wrap="square" lIns="0" tIns="0" rIns="0" bIns="0" rtlCol="0" anchor="ctr"/>
          <a:lstStyle/>
          <a:p>
            <a:pPr indent="0" marL="0">
              <a:buNone/>
            </a:pPr>
            <a:r>
              <a:rPr lang="en-US" sz="2000" b="1" dirty="0">
                <a:solidFill>
                  <a:srgbClr val="D9822B"/>
                </a:solidFill>
                <a:latin typeface="Cambria" pitchFamily="34" charset="0"/>
                <a:ea typeface="Cambria" pitchFamily="34" charset="-122"/>
                <a:cs typeface="Cambria" pitchFamily="34" charset="-120"/>
              </a:rPr>
              <a:t>Fix</a:t>
            </a:r>
            <a:endParaRPr lang="en-US" sz="2000" dirty="0"/>
          </a:p>
        </p:txBody>
      </p:sp>
      <p:sp>
        <p:nvSpPr>
          <p:cNvPr id="20" name="Text 15"/>
          <p:cNvSpPr txBox="1"/>
          <p:nvPr/>
        </p:nvSpPr>
        <p:spPr>
          <a:xfrm>
            <a:off x="8321040" y="2697480"/>
            <a:ext cx="3017520" cy="21945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Carry the reasoning back every turn. The model kept its own plan: capture 1 finished in 90 turns and saved 9 rules.</a:t>
            </a:r>
            <a:endParaRPr lang="en-US" sz="1400" dirty="0"/>
          </a:p>
        </p:txBody>
      </p:sp>
      <p:sp>
        <p:nvSpPr>
          <p:cNvPr id="21" name="Text 16"/>
          <p:cNvSpPr txBox="1"/>
          <p:nvPr/>
        </p:nvSpPr>
        <p:spPr>
          <a:xfrm>
            <a:off x="548640" y="5120640"/>
            <a:ext cx="6858000" cy="777240"/>
          </a:xfrm>
          <a:prstGeom prst="rect">
            <a:avLst/>
          </a:prstGeom>
          <a:noFill/>
          <a:ln/>
        </p:spPr>
        <p:txBody>
          <a:bodyPr wrap="square" lIns="0" tIns="0" rIns="0" bIns="0" rtlCol="0" anchor="b"/>
          <a:lstStyle/>
          <a:p>
            <a:pPr indent="0" marL="0">
              <a:buNone/>
            </a:pPr>
            <a:r>
              <a:rPr lang="en-US" sz="3400" b="1" dirty="0">
                <a:solidFill>
                  <a:srgbClr val="D9822B"/>
                </a:solidFill>
                <a:latin typeface="Cambria" pitchFamily="34" charset="0"/>
                <a:ea typeface="Cambria" pitchFamily="34" charset="-122"/>
                <a:cs typeface="Cambria" pitchFamily="34" charset="-120"/>
              </a:rPr>
              <a:t>6 → 175</a:t>
            </a:r>
            <a:endParaRPr lang="en-US" sz="3400" dirty="0"/>
          </a:p>
        </p:txBody>
      </p:sp>
      <p:sp>
        <p:nvSpPr>
          <p:cNvPr id="22" name="Text 17"/>
          <p:cNvSpPr txBox="1"/>
          <p:nvPr/>
        </p:nvSpPr>
        <p:spPr>
          <a:xfrm>
            <a:off x="548640" y="5897880"/>
            <a:ext cx="68580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attack events added by hunt rules written before vs after the fix — instance rules became technique rules</a:t>
            </a:r>
            <a:endParaRPr lang="en-US" sz="1300" dirty="0"/>
          </a:p>
        </p:txBody>
      </p:sp>
      <p:sp>
        <p:nvSpPr>
          <p:cNvPr id="23" name="Text 18"/>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Binay  ·  debugging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Hold-out: rules frozen, unseen traffic, scored once</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UNSW 22 Jan 2015 — a day nobody looked at while building or tuning</a:t>
            </a:r>
            <a:endParaRPr lang="en-US" sz="1600" dirty="0"/>
          </a:p>
        </p:txBody>
      </p:sp>
      <p:graphicFrame>
        <p:nvGraphicFramePr>
          <p:cNvPr id="4" name="Chart 0" descr=""/>
          <p:cNvGraphicFramePr/>
          <p:nvPr/>
        </p:nvGraphicFramePr>
        <p:xfrm>
          <a:off x="548640" y="16002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955280" y="1737360"/>
            <a:ext cx="365760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+1.53 pts</a:t>
            </a:r>
            <a:endParaRPr lang="en-US" sz="4400" dirty="0"/>
          </a:p>
        </p:txBody>
      </p:sp>
      <p:sp>
        <p:nvSpPr>
          <p:cNvPr id="6" name="Text 3"/>
          <p:cNvSpPr txBox="1"/>
          <p:nvPr/>
        </p:nvSpPr>
        <p:spPr>
          <a:xfrm>
            <a:off x="7955280" y="251460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hunt rules on unseen traffic — the gain held, and grew</a:t>
            </a:r>
            <a:endParaRPr lang="en-US" sz="1300" dirty="0"/>
          </a:p>
        </p:txBody>
      </p:sp>
      <p:sp>
        <p:nvSpPr>
          <p:cNvPr id="7" name="Text 4"/>
          <p:cNvSpPr txBox="1"/>
          <p:nvPr/>
        </p:nvSpPr>
        <p:spPr>
          <a:xfrm>
            <a:off x="7955280" y="3246120"/>
            <a:ext cx="365760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0</a:t>
            </a:r>
            <a:endParaRPr lang="en-US" sz="4400" dirty="0"/>
          </a:p>
        </p:txBody>
      </p:sp>
      <p:sp>
        <p:nvSpPr>
          <p:cNvPr id="8" name="Text 5"/>
          <p:cNvSpPr txBox="1"/>
          <p:nvPr/>
        </p:nvSpPr>
        <p:spPr>
          <a:xfrm>
            <a:off x="7955280" y="402336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AI-rule alerts on the benign-only hold-out captures, in every condition</a:t>
            </a:r>
            <a:endParaRPr lang="en-US" sz="1300" dirty="0"/>
          </a:p>
        </p:txBody>
      </p:sp>
      <p:sp>
        <p:nvSpPr>
          <p:cNvPr id="9" name="Text 6"/>
          <p:cNvSpPr txBox="1"/>
          <p:nvPr/>
        </p:nvSpPr>
        <p:spPr>
          <a:xfrm>
            <a:off x="7955280" y="4754880"/>
            <a:ext cx="3657600" cy="777240"/>
          </a:xfrm>
          <a:prstGeom prst="rect">
            <a:avLst/>
          </a:prstGeom>
          <a:noFill/>
          <a:ln/>
        </p:spPr>
        <p:txBody>
          <a:bodyPr wrap="square" lIns="0" tIns="0" rIns="0" bIns="0" rtlCol="0" anchor="b"/>
          <a:lstStyle/>
          <a:p>
            <a:pPr indent="0" marL="0">
              <a:buNone/>
            </a:pPr>
            <a:r>
              <a:rPr lang="en-US" sz="4400" b="1" dirty="0">
                <a:solidFill>
                  <a:srgbClr val="5B6B7A"/>
                </a:solidFill>
                <a:latin typeface="Cambria" pitchFamily="34" charset="0"/>
                <a:ea typeface="Cambria" pitchFamily="34" charset="-122"/>
                <a:cs typeface="Cambria" pitchFamily="34" charset="-120"/>
              </a:rPr>
              <a:t>29.5%</a:t>
            </a:r>
            <a:endParaRPr lang="en-US" sz="4400" dirty="0"/>
          </a:p>
        </p:txBody>
      </p:sp>
      <p:sp>
        <p:nvSpPr>
          <p:cNvPr id="10" name="Text 7"/>
          <p:cNvSpPr txBox="1"/>
          <p:nvPr/>
        </p:nvSpPr>
        <p:spPr>
          <a:xfrm>
            <a:off x="7955280" y="5532120"/>
            <a:ext cx="365760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caught by the frozen human baseline alone</a:t>
            </a:r>
            <a:endParaRPr lang="en-US" sz="1300" dirty="0"/>
          </a:p>
        </p:txBody>
      </p:sp>
      <p:sp>
        <p:nvSpPr>
          <p:cNvPr id="11" name="Text 8"/>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Irab  ·  validation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Answer: a split claim</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What we found, what we learned, what comes next</a:t>
            </a:r>
            <a:endParaRPr lang="en-US" sz="1600" dirty="0"/>
          </a:p>
        </p:txBody>
      </p:sp>
      <p:sp>
        <p:nvSpPr>
          <p:cNvPr id="4" name="Shape 2"/>
          <p:cNvSpPr/>
          <p:nvPr/>
        </p:nvSpPr>
        <p:spPr>
          <a:xfrm>
            <a:off x="548640" y="1600200"/>
            <a:ext cx="5440680" cy="1920240"/>
          </a:xfrm>
          <a:prstGeom prst="roundRect">
            <a:avLst>
              <a:gd name="adj" fmla="val 3810"/>
            </a:avLst>
          </a:prstGeom>
          <a:solidFill>
            <a:srgbClr val="1F4E79"/>
          </a:solidFill>
          <a:ln w="12700">
            <a:solidFill>
              <a:srgbClr val="1F4E79"/>
            </a:solidFill>
            <a:prstDash val="solid"/>
          </a:ln>
        </p:spPr>
      </p:sp>
      <p:sp>
        <p:nvSpPr>
          <p:cNvPr id="5" name="Text 3"/>
          <p:cNvSpPr txBox="1"/>
          <p:nvPr/>
        </p:nvSpPr>
        <p:spPr>
          <a:xfrm>
            <a:off x="822960" y="1737360"/>
            <a:ext cx="493776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Yes — for triage</a:t>
            </a:r>
            <a:endParaRPr lang="en-US" sz="2000" dirty="0"/>
          </a:p>
        </p:txBody>
      </p:sp>
      <p:sp>
        <p:nvSpPr>
          <p:cNvPr id="6" name="Text 4"/>
          <p:cNvSpPr txBox="1"/>
          <p:nvPr/>
        </p:nvSpPr>
        <p:spPr>
          <a:xfrm>
            <a:off x="822960" y="2240280"/>
            <a:ext cx="4937760" cy="11887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With sensor context the model investigates end to end: 13/14 and 8/9 attack categories identified, and it can tell whether an attack succeeded.</a:t>
            </a:r>
            <a:endParaRPr lang="en-US" sz="1450" dirty="0"/>
          </a:p>
        </p:txBody>
      </p:sp>
      <p:sp>
        <p:nvSpPr>
          <p:cNvPr id="7" name="Shape 5"/>
          <p:cNvSpPr/>
          <p:nvPr/>
        </p:nvSpPr>
        <p:spPr>
          <a:xfrm>
            <a:off x="6199632" y="1600200"/>
            <a:ext cx="5440680" cy="1920240"/>
          </a:xfrm>
          <a:prstGeom prst="roundRect">
            <a:avLst>
              <a:gd name="adj" fmla="val 3810"/>
            </a:avLst>
          </a:prstGeom>
          <a:solidFill>
            <a:srgbClr val="D9822B"/>
          </a:solidFill>
          <a:ln w="12700">
            <a:solidFill>
              <a:srgbClr val="D9822B"/>
            </a:solidFill>
            <a:prstDash val="solid"/>
          </a:ln>
        </p:spPr>
      </p:sp>
      <p:sp>
        <p:nvSpPr>
          <p:cNvPr id="8" name="Text 6"/>
          <p:cNvSpPr txBox="1"/>
          <p:nvPr/>
        </p:nvSpPr>
        <p:spPr>
          <a:xfrm>
            <a:off x="6473952" y="1737360"/>
            <a:ext cx="493776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Partly — for detection</a:t>
            </a:r>
            <a:endParaRPr lang="en-US" sz="2000" dirty="0"/>
          </a:p>
        </p:txBody>
      </p:sp>
      <p:sp>
        <p:nvSpPr>
          <p:cNvPr id="9" name="Text 7"/>
          <p:cNvSpPr txBox="1"/>
          <p:nvPr/>
        </p:nvSpPr>
        <p:spPr>
          <a:xfrm>
            <a:off x="6473952" y="2240280"/>
            <a:ext cx="4937760" cy="11887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Over a strong human baseline the engineer workflow adds +1.2 to +1.5 points with no false alarms — real, but modest.</a:t>
            </a:r>
            <a:endParaRPr lang="en-US" sz="1450" dirty="0"/>
          </a:p>
        </p:txBody>
      </p:sp>
      <p:sp>
        <p:nvSpPr>
          <p:cNvPr id="10" name="Text 8"/>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700" b="1" dirty="0">
                <a:solidFill>
                  <a:srgbClr val="0F2533"/>
                </a:solidFill>
                <a:latin typeface="Cambria" pitchFamily="34" charset="0"/>
                <a:ea typeface="Cambria" pitchFamily="34" charset="-122"/>
                <a:cs typeface="Cambria" pitchFamily="34" charset="-120"/>
              </a:rPr>
              <a:t>Lessons learned</a:t>
            </a:r>
            <a:endParaRPr lang="en-US" sz="1700" dirty="0"/>
          </a:p>
        </p:txBody>
      </p:sp>
      <p:sp>
        <p:nvSpPr>
          <p:cNvPr id="11" name="Text 9"/>
          <p:cNvSpPr txBox="1"/>
          <p:nvPr/>
        </p:nvSpPr>
        <p:spPr>
          <a:xfrm>
            <a:off x="548640" y="4160520"/>
            <a:ext cx="603504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Tools and procedure shape the agent more than the prompt</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Carry the model’s reasoning between turns — dropping it made the agent loop</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Measure what the AI alone caught: our early +11 points were mostly an artefact</a:t>
            </a:r>
            <a:endParaRPr lang="en-US" sz="1400" dirty="0"/>
          </a:p>
        </p:txBody>
      </p:sp>
      <p:sp>
        <p:nvSpPr>
          <p:cNvPr id="12" name="Text 10"/>
          <p:cNvSpPr txBox="1"/>
          <p:nvPr/>
        </p:nvSpPr>
        <p:spPr>
          <a:xfrm>
            <a:off x="6949440" y="3749040"/>
            <a:ext cx="4572000" cy="365760"/>
          </a:xfrm>
          <a:prstGeom prst="rect">
            <a:avLst/>
          </a:prstGeom>
          <a:noFill/>
          <a:ln/>
        </p:spPr>
        <p:txBody>
          <a:bodyPr wrap="square" lIns="0" tIns="0" rIns="0" bIns="0" rtlCol="0" anchor="t"/>
          <a:lstStyle/>
          <a:p>
            <a:pPr indent="0" marL="0">
              <a:buNone/>
            </a:pPr>
            <a:r>
              <a:rPr lang="en-US" sz="1700" b="1" dirty="0">
                <a:solidFill>
                  <a:srgbClr val="0F2533"/>
                </a:solidFill>
                <a:latin typeface="Cambria" pitchFamily="34" charset="0"/>
                <a:ea typeface="Cambria" pitchFamily="34" charset="-122"/>
                <a:cs typeface="Cambria" pitchFamily="34" charset="-120"/>
              </a:rPr>
              <a:t>Next steps</a:t>
            </a:r>
            <a:endParaRPr lang="en-US" sz="1700" dirty="0"/>
          </a:p>
        </p:txBody>
      </p:sp>
      <p:sp>
        <p:nvSpPr>
          <p:cNvPr id="13" name="Text 11"/>
          <p:cNvSpPr txBox="1"/>
          <p:nvPr/>
        </p:nvSpPr>
        <p:spPr>
          <a:xfrm>
            <a:off x="6949440" y="4160520"/>
            <a:ext cx="466344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Separate the hunt workflow from the reasoning fix</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Several runs per capture — runs find different attacks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Live network and host-based sensors</a:t>
            </a:r>
            <a:endParaRPr lang="en-US" sz="1400" dirty="0"/>
          </a:p>
        </p:txBody>
      </p:sp>
      <p:sp>
        <p:nvSpPr>
          <p:cNvPr id="14" name="Text 12"/>
          <p:cNvSpPr txBox="1"/>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9AA3AD"/>
                </a:solidFill>
                <a:latin typeface="Calibri" pitchFamily="34" charset="0"/>
                <a:ea typeface="Calibri" pitchFamily="34" charset="-122"/>
                <a:cs typeface="Calibri" pitchFamily="34" charset="-120"/>
              </a:rPr>
              <a:t>Bigyan  ·  conclusion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an LLM Replace the IDS Analyst? — Group 13</dc:title>
  <dc:subject>PptxGenJS Presentation</dc:subject>
  <dc:creator>PptxGenJS</dc:creator>
  <cp:lastModifiedBy>PptxGenJS</cp:lastModifiedBy>
  <cp:revision>1</cp:revision>
  <dcterms:created xsi:type="dcterms:W3CDTF">2026-10-10T03:53:12Z</dcterms:created>
  <dcterms:modified xsi:type="dcterms:W3CDTF">2026-10-10T03:53:12Z</dcterms:modified>
</cp:coreProperties>
</file>